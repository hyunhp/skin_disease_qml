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8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87" r:id="rId17"/>
    <p:sldId id="289" r:id="rId18"/>
    <p:sldId id="271" r:id="rId19"/>
    <p:sldId id="272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93" r:id="rId28"/>
    <p:sldId id="274" r:id="rId29"/>
    <p:sldId id="285" r:id="rId30"/>
    <p:sldId id="294" r:id="rId31"/>
    <p:sldId id="292" r:id="rId32"/>
  </p:sldIdLst>
  <p:sldSz cx="12192000" cy="6858000"/>
  <p:notesSz cx="6858000" cy="9144000"/>
  <p:embeddedFontLst>
    <p:embeddedFont>
      <p:font typeface="Noto Sans KR" panose="020B0200000000000000" pitchFamily="50" charset="-127"/>
      <p:regular r:id="rId34"/>
      <p:bold r:id="rId35"/>
    </p:embeddedFont>
    <p:embeddedFont>
      <p:font typeface="맑은 고딕" panose="020B0503020000020004" pitchFamily="50" charset="-127"/>
      <p:regular r:id="rId36"/>
      <p:bold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5" autoAdjust="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344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F6D3A-F88F-490B-83D1-37F70B175693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DAAB6-2F86-426D-9FEA-B1BE12070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155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A297-597D-44ED-9EBF-ACE95CC243B0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5D4D-6177-4BD2-9DEA-0956CEC3861A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1781-4EA3-4DBB-A500-A50F99E729F8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424D1-75C1-469B-93C7-852D88DC311D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6677-2983-4CAE-A208-4FDD9C6C50FA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4DC9-E7BC-40FD-960F-12CCB28A89AE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F2983-8522-4728-8061-907EF8B72DBE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029200" y="6356350"/>
            <a:ext cx="2133600" cy="3651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1DF5-3CC9-40C1-BFE3-F6B6DE4FF43E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6737-C57E-4B0A-B071-D17A59F2704A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74A9A-173B-4136-9940-F0192690F946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30DA-4160-4D78-AA84-1A511A8B0BAD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9948A-0BE1-434C-A2DD-FE19635DE6D3}" type="datetime1">
              <a:rPr lang="en-US" altLang="ko-KR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14255" y="777240"/>
            <a:ext cx="1371600" cy="137160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25735" y="1188720"/>
            <a:ext cx="548640" cy="54864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3134"/>
            <a:ext cx="91440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QML </a:t>
            </a:r>
            <a:r>
              <a:rPr lang="en-US" sz="1150" b="1" i="0" spc="10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Lecture</a:t>
            </a:r>
            <a:endParaRPr sz="1150" b="1" i="0" spc="100" dirty="0">
              <a:solidFill>
                <a:srgbClr val="CFC9B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043307"/>
            <a:ext cx="10332720" cy="57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양자 </a:t>
            </a:r>
            <a:r>
              <a:rPr lang="ko-KR" altLang="en-US" sz="38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머신러닝</a:t>
            </a:r>
            <a:endParaRPr sz="3800" b="1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729107"/>
            <a:ext cx="10332720" cy="57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의료</a:t>
            </a:r>
            <a:r>
              <a:rPr sz="3800" b="1" i="0" dirty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3800" b="1" dirty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이미지</a:t>
            </a:r>
            <a:r>
              <a:rPr sz="3800" b="1" i="0" dirty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 데이터 </a:t>
            </a:r>
            <a:r>
              <a:rPr lang="ko-KR" altLang="en-US" sz="3800" b="1" i="0" dirty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증강</a:t>
            </a:r>
            <a:endParaRPr sz="38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457200" cy="27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4ECD8AD-BD2F-4FE3-BB98-0D4FECF7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의료 데이터셋을 활용한 양자 머신러닝 실습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이론 → 데이터 EDA·전처리·회로 구성 → 실습 실행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1일차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이론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29970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소개 </a:t>
            </a: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+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QGAN·MediQ-GAN</a:t>
            </a: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lang="en-US"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아키텍처</a:t>
            </a: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68698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7298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2일차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74320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실습 - </a:t>
            </a:r>
            <a:r>
              <a:rPr sz="13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전처리</a:t>
            </a:r>
            <a:r>
              <a:rPr sz="13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+ QGAN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383280"/>
            <a:ext cx="29970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5000"/>
              </a:lnSpc>
            </a:pP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7316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5916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3일차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2822205"/>
            <a:ext cx="2997098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실습 - </a:t>
            </a:r>
            <a:r>
              <a:rPr sz="13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MediQ</a:t>
            </a:r>
            <a:r>
              <a:rPr sz="13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-GAN 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3383280"/>
            <a:ext cx="2997098" cy="205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5000"/>
              </a:lnSpc>
            </a:pP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023D392D-086D-4574-9F92-A18CBD12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INDEX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Oval 4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2218035"/>
            <a:ext cx="10180015" cy="227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</a:t>
            </a:r>
            <a:r>
              <a:rPr sz="13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EDA</a:t>
            </a:r>
            <a:endParaRPr sz="13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2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25880" y="283464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QGAN과 고전 GAN의 차이 - patch 방식 아키텍처 설명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3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325880" y="3772515"/>
            <a:ext cx="10180015" cy="227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3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 </a:t>
            </a:r>
            <a:r>
              <a:rPr lang="ko-KR" altLang="en-US" sz="13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'전체가 양자'(QGAN)</a:t>
            </a:r>
            <a:r>
              <a:rPr lang="ko-KR" altLang="en-US" sz="13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와 </a:t>
            </a:r>
            <a:r>
              <a:rPr lang="ko-KR" altLang="en-US" sz="13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'일부만 양자'(MediQ-GAN, dual-stream) </a:t>
            </a:r>
            <a:r>
              <a:rPr lang="ko-KR" altLang="en-US" sz="13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차이 구분</a:t>
            </a:r>
            <a:endParaRPr sz="13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FDDB7A9-1F13-4653-AA30-476F1A43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데이터셋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"Human Against Machine with 10000 training images" - 피부병변 진단 AI 연구의 대표 벤치마크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10,015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총 이미지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피부경검사(dermatoscopic) 촬영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7298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병변 클래스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98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akiec·bcc·bkl·df·mel·nv·vasc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5916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600×450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6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 해상도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RGB, 실제 임상 촬영 이미지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F2EFF22C-05F8-4EC6-88C2-F8403A15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27" name="TextBox 5"/>
          <p:cNvSpPr txBox="1"/>
          <p:nvPr/>
        </p:nvSpPr>
        <p:spPr>
          <a:xfrm>
            <a:off x="4597298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028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이미지·데이터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출처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: HAM10000 (</a:t>
            </a:r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Tschandl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 et al., Scientific Data 5, 180161, 2018)</a:t>
            </a:r>
          </a:p>
        </p:txBody>
      </p:sp>
      <p:pic>
        <p:nvPicPr>
          <p:cNvPr id="1029" name="ham_thumb_akiec" descr="aki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1133856" cy="850392"/>
          </a:xfrm>
          <a:prstGeom prst="rect">
            <a:avLst/>
          </a:prstGeom>
        </p:spPr>
      </p:pic>
      <p:sp>
        <p:nvSpPr>
          <p:cNvPr id="1030" name="ham_label_akiec"/>
          <p:cNvSpPr txBox="1"/>
          <p:nvPr/>
        </p:nvSpPr>
        <p:spPr>
          <a:xfrm>
            <a:off x="594360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akiec · 광선각화증</a:t>
            </a:r>
          </a:p>
        </p:txBody>
      </p:sp>
      <p:pic>
        <p:nvPicPr>
          <p:cNvPr id="1031" name="ham_thumb_bcc" descr="bc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4023360"/>
            <a:ext cx="1133856" cy="850392"/>
          </a:xfrm>
          <a:prstGeom prst="rect">
            <a:avLst/>
          </a:prstGeom>
        </p:spPr>
      </p:pic>
      <p:sp>
        <p:nvSpPr>
          <p:cNvPr id="1032" name="ham_label_bcc"/>
          <p:cNvSpPr txBox="1"/>
          <p:nvPr/>
        </p:nvSpPr>
        <p:spPr>
          <a:xfrm>
            <a:off x="1837944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bcc · 기저세포암</a:t>
            </a:r>
          </a:p>
        </p:txBody>
      </p:sp>
      <p:pic>
        <p:nvPicPr>
          <p:cNvPr id="1033" name="ham_thumb_bkl" descr="bk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4023360"/>
            <a:ext cx="1133856" cy="850392"/>
          </a:xfrm>
          <a:prstGeom prst="rect">
            <a:avLst/>
          </a:prstGeom>
        </p:spPr>
      </p:pic>
      <p:sp>
        <p:nvSpPr>
          <p:cNvPr id="1034" name="ham_label_bkl"/>
          <p:cNvSpPr txBox="1"/>
          <p:nvPr/>
        </p:nvSpPr>
        <p:spPr>
          <a:xfrm>
            <a:off x="3081528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bkl · 양성각화증</a:t>
            </a:r>
          </a:p>
        </p:txBody>
      </p:sp>
      <p:pic>
        <p:nvPicPr>
          <p:cNvPr id="1035" name="ham_thumb_df" descr="d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4023360"/>
            <a:ext cx="1133856" cy="850392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1036" name="ham_label_df"/>
          <p:cNvSpPr txBox="1"/>
          <p:nvPr/>
        </p:nvSpPr>
        <p:spPr>
          <a:xfrm>
            <a:off x="4325112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df · 피부섬유종</a:t>
            </a:r>
          </a:p>
        </p:txBody>
      </p:sp>
      <p:pic>
        <p:nvPicPr>
          <p:cNvPr id="1037" name="ham_thumb_mel" descr="me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5138928"/>
            <a:ext cx="1133856" cy="850392"/>
          </a:xfrm>
          <a:prstGeom prst="rect">
            <a:avLst/>
          </a:prstGeom>
        </p:spPr>
      </p:pic>
      <p:sp>
        <p:nvSpPr>
          <p:cNvPr id="1038" name="ham_label_mel"/>
          <p:cNvSpPr txBox="1"/>
          <p:nvPr/>
        </p:nvSpPr>
        <p:spPr>
          <a:xfrm>
            <a:off x="1216152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mel · 흑색종</a:t>
            </a:r>
          </a:p>
        </p:txBody>
      </p:sp>
      <p:pic>
        <p:nvPicPr>
          <p:cNvPr id="1039" name="ham_thumb_nv" descr="nv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456" y="5138928"/>
            <a:ext cx="1133856" cy="850392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1040" name="ham_label_nv"/>
          <p:cNvSpPr txBox="1"/>
          <p:nvPr/>
        </p:nvSpPr>
        <p:spPr>
          <a:xfrm>
            <a:off x="2459736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nv · 모반</a:t>
            </a:r>
          </a:p>
        </p:txBody>
      </p:sp>
      <p:pic>
        <p:nvPicPr>
          <p:cNvPr id="1041" name="ham_thumb_vasc" descr="vas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5138928"/>
            <a:ext cx="1133856" cy="850392"/>
          </a:xfrm>
          <a:prstGeom prst="rect">
            <a:avLst/>
          </a:prstGeom>
        </p:spPr>
      </p:pic>
      <p:sp>
        <p:nvSpPr>
          <p:cNvPr id="1042" name="ham_label_vasc"/>
          <p:cNvSpPr txBox="1"/>
          <p:nvPr/>
        </p:nvSpPr>
        <p:spPr>
          <a:xfrm>
            <a:off x="3703320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vasc · 혈관병변</a:t>
            </a:r>
          </a:p>
        </p:txBody>
      </p:sp>
      <p:graphicFrame>
        <p:nvGraphicFramePr>
          <p:cNvPr id="1043" name="ham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79832"/>
              </p:ext>
            </p:extLst>
          </p:nvPr>
        </p:nvGraphicFramePr>
        <p:xfrm>
          <a:off x="6053328" y="4023360"/>
          <a:ext cx="5495544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병변 유형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코드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수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비율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광선각화증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(Actinic keratoses)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akiec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기저세포암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(Basal cell carcinoma)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bcc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514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5.1%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양성각화증 (Benign keratosis-like lesions)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bkl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1,099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피부섬유종</a:t>
                      </a:r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(Dermatofibroma)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df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115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흑색종 (Melanoma)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11.1%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모반</a:t>
                      </a:r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(Melanocytic nevi)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nv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6,705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66.9%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혈관병변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(Vascular lesions)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vasc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데이터셋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EDA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분석 결과 </a:t>
            </a:r>
            <a:r>
              <a:rPr lang="en-US" altLang="ko-KR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 불균형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불균형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데이터 처리 방법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59436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214884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79" y="2139696"/>
            <a:ext cx="434340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2139696"/>
            <a:ext cx="3703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79"/>
            <a:ext cx="108813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910020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Under sampling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/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79" y="2910020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소수 클래스에 맞춰</a:t>
            </a:r>
            <a:r>
              <a:rPr lang="en-US" altLang="ko-KR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다수</a:t>
            </a:r>
            <a:r>
              <a:rPr lang="en-US"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클래스를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줄</a:t>
            </a:r>
            <a:r>
              <a:rPr lang="ko-KR" altLang="en-US"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임</a:t>
            </a:r>
            <a:endParaRPr sz="11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80" y="2724911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정보 손실 - NV 6,500장 넘게 버려야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39"/>
            <a:ext cx="10881360" cy="59436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04380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Over sampling</a:t>
            </a:r>
            <a:r>
              <a:rPr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/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79" y="3504380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소수 클래스를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복제해서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늘림</a:t>
            </a:r>
            <a:endParaRPr sz="11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26680" y="3319271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복제본이라 새로운 정보가 없음 - 과적합 위험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108813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98741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Augmentation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기하학적</a:t>
            </a:r>
            <a:r>
              <a:rPr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</a:t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54679" y="3913632"/>
            <a:ext cx="43434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회전·반전·크롭 등으로 변형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3913632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병변의 실제 형태·질감 다양성은 만들지 못함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10881360" cy="59436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21488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생성모델(GAN/QGAN)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4693101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학습된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분포에서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새로운</a:t>
            </a:r>
            <a:r>
              <a:rPr lang="en-US" altLang="ko-KR"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그럴듯한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샘플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4693101"/>
            <a:ext cx="3703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품질 검증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66944"/>
            <a:ext cx="10911535" cy="804672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14400" y="5307835"/>
            <a:ext cx="10362895" cy="7228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50" b="1" i="0" spc="6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초점</a:t>
            </a:r>
          </a:p>
          <a:p>
            <a:pPr algn="l">
              <a:lnSpc>
                <a:spcPct val="100000"/>
              </a:lnSpc>
            </a:pPr>
            <a:endParaRPr lang="ko-KR" altLang="en-US" sz="1050" b="1" spc="6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QGAN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 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보다 좋다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가 결론은 아님</a:t>
            </a:r>
          </a:p>
          <a:p>
            <a:pPr algn="l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QGAN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 실제 동작 방식과 조건을 논문 데이터로 확인</a:t>
            </a: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7A66266B-7C7C-4207-9BE1-0696C292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1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표 출처: HAM10000 메타데이터 (Tschandl et al., Scientific Data 5, 180161, 2018)</a:t>
            </a:r>
          </a:p>
        </p:txBody>
      </p:sp>
      <p:graphicFrame>
        <p:nvGraphicFramePr>
          <p:cNvPr id="32" name="ham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40870"/>
              </p:ext>
            </p:extLst>
          </p:nvPr>
        </p:nvGraphicFramePr>
        <p:xfrm>
          <a:off x="9189720" y="384048"/>
          <a:ext cx="2331720" cy="1499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클래스</a:t>
                      </a:r>
                      <a:endParaRPr sz="700" b="1" dirty="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36576" marR="36576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 수</a:t>
                      </a:r>
                    </a:p>
                  </a:txBody>
                  <a:tcPr marL="36576" marR="36576" marT="9144" marB="9144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광선각화증 (akiec)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기저세포암 (bcc)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514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양성각화증</a:t>
                      </a:r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</a:t>
                      </a:r>
                      <a:r>
                        <a:rPr sz="70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bkl</a:t>
                      </a:r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피부섬유종 (df)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115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흑색종 (mel)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모반 (nv)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6,705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혈관병변 (vasc)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0767"/>
            <a:ext cx="1091153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sz="30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① QGAN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232" y="160243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Quantum GAN 기반 피부병변 이미지 증강 - patch method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2800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제</a:t>
            </a:r>
            <a:r>
              <a:rPr lang="ko-KR" altLang="en-US" sz="1200" b="1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목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260742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Data Augmentation in Cancer Image Classification Problem with Quantum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9668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 dirty="0" err="1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기여점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347610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7+1큐빗 · 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sub-generator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16개 · patch 방식으로 </a:t>
            </a:r>
            <a:r>
              <a:rPr lang="ko-KR" alt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피부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생성해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소수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(DF)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증강</a:t>
            </a:r>
            <a:endParaRPr sz="1250" b="0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2291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83512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생성 이미지로 CNN 분류기를 학습시켜, 증강 전/후 AUC-ROC·정확도를 비교(고전 GAN과도 비교)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3404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핵심 내용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521346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lang="en-US" sz="125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Generator"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사례 - model-level hybrid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66FDF35-6200-4228-B916-826938ED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</a:t>
            </a:r>
            <a:r>
              <a:rPr sz="1150" b="1" i="0" spc="10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논문</a:t>
            </a:r>
            <a:endParaRPr sz="1150" b="1" i="0" spc="10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기본 개념 - 고전 GAN과 무엇이 다른가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생성자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(Generator)·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판별자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(Discriminator)가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경쟁하며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학습하는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구조는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동일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26060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678527" cy="1321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(예: CNN/MLP)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무작위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벡터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통과 →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파라미터 = 가중치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행렬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5227167" cy="2606040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2399184"/>
            <a:ext cx="4678527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QGAN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926080"/>
            <a:ext cx="4678527" cy="1321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변분 </a:t>
            </a:r>
            <a:r>
              <a:rPr sz="1200" b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2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(PQC)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무작위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각도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큐빗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회전으로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encoding → 측정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파라미터 =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게이트의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각도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그대로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비대칭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구조)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10911535" cy="685800"/>
          </a:xfrm>
          <a:prstGeom prst="roundRect">
            <a:avLst>
              <a:gd name="adj" fmla="val 9000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084064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36805"/>
            <a:ext cx="1036289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그대로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en-US"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만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교체</a:t>
            </a:r>
            <a:endParaRPr sz="115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AB96532-7B2B-4ACA-9BE6-F3D3FB88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ig10_1"/>
          <p:cNvSpPr/>
          <p:nvPr/>
        </p:nvSpPr>
        <p:spPr>
          <a:xfrm>
            <a:off x="2634112" y="2057400"/>
            <a:ext cx="6920727" cy="4025188"/>
          </a:xfrm>
          <a:prstGeom prst="roundRect">
            <a:avLst/>
          </a:prstGeom>
          <a:solidFill>
            <a:srgbClr val="FFFFFF"/>
          </a:solidFill>
          <a:ln w="13525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pic>
        <p:nvPicPr>
          <p:cNvPr id="62" name="ham_thumb_df" descr="df.jpg">
            <a:extLst>
              <a:ext uri="{FF2B5EF4-FFF2-40B4-BE49-F238E27FC236}">
                <a16:creationId xmlns:a16="http://schemas.microsoft.com/office/drawing/2014/main" id="{326EEC3C-778A-4109-8E79-37AC278C0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096" y="3414901"/>
            <a:ext cx="774439" cy="580830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0879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다이어그램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patch 기반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91612"/>
            <a:ext cx="10908792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구조를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도식으로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재구성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4CFB5336-F6CB-4886-8903-A1F85E90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4" name="fig10_2"/>
          <p:cNvSpPr/>
          <p:nvPr/>
        </p:nvSpPr>
        <p:spPr>
          <a:xfrm>
            <a:off x="5906200" y="2213213"/>
            <a:ext cx="3453871" cy="311627"/>
          </a:xfrm>
          <a:prstGeom prst="leftArrow">
            <a:avLst/>
          </a:prstGeom>
          <a:solidFill>
            <a:srgbClr val="E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학습 피드백: 판별 결과로 θ(회전각) 업데이트</a:t>
            </a:r>
          </a:p>
        </p:txBody>
      </p:sp>
      <p:sp>
        <p:nvSpPr>
          <p:cNvPr id="35" name="fig10_3"/>
          <p:cNvSpPr/>
          <p:nvPr/>
        </p:nvSpPr>
        <p:spPr>
          <a:xfrm>
            <a:off x="2789925" y="3096158"/>
            <a:ext cx="597286" cy="597286"/>
          </a:xfrm>
          <a:prstGeom prst="ellipse">
            <a:avLst/>
          </a:prstGeom>
          <a:solidFill>
            <a:srgbClr val="EDE7F5"/>
          </a:solidFill>
          <a:ln w="1352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5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z</a:t>
            </a:r>
          </a:p>
        </p:txBody>
      </p:sp>
      <p:sp>
        <p:nvSpPr>
          <p:cNvPr id="36" name="fig10_4"/>
          <p:cNvSpPr/>
          <p:nvPr/>
        </p:nvSpPr>
        <p:spPr>
          <a:xfrm>
            <a:off x="2634112" y="3745382"/>
            <a:ext cx="908913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잠재</a:t>
            </a:r>
          </a:p>
          <a:p>
            <a:pPr algn="ctr"/>
            <a:r>
              <a:rPr sz="10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노이즈</a:t>
            </a:r>
          </a:p>
        </p:txBody>
      </p:sp>
      <p:sp>
        <p:nvSpPr>
          <p:cNvPr id="37" name="fig10_5"/>
          <p:cNvSpPr/>
          <p:nvPr/>
        </p:nvSpPr>
        <p:spPr>
          <a:xfrm>
            <a:off x="3452134" y="3264956"/>
            <a:ext cx="259689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8" name="fig10_6"/>
          <p:cNvSpPr/>
          <p:nvPr/>
        </p:nvSpPr>
        <p:spPr>
          <a:xfrm>
            <a:off x="3763761" y="2654686"/>
            <a:ext cx="2077516" cy="2103485"/>
          </a:xfrm>
          <a:prstGeom prst="roundRect">
            <a:avLst/>
          </a:prstGeom>
          <a:solidFill>
            <a:srgbClr val="F6E3E6"/>
          </a:solidFill>
          <a:ln w="13525">
            <a:solidFill>
              <a:srgbClr val="D8A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9" name="fig10_7"/>
          <p:cNvSpPr/>
          <p:nvPr/>
        </p:nvSpPr>
        <p:spPr>
          <a:xfrm>
            <a:off x="3763761" y="2693639"/>
            <a:ext cx="2077516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 (patch 방식)</a:t>
            </a:r>
          </a:p>
        </p:txBody>
      </p:sp>
      <p:sp>
        <p:nvSpPr>
          <p:cNvPr id="40" name="fig10_8"/>
          <p:cNvSpPr/>
          <p:nvPr/>
        </p:nvSpPr>
        <p:spPr>
          <a:xfrm>
            <a:off x="3880622" y="3044220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G₁ (PQC)</a:t>
            </a:r>
          </a:p>
        </p:txBody>
      </p:sp>
      <p:sp>
        <p:nvSpPr>
          <p:cNvPr id="41" name="fig10_9"/>
          <p:cNvSpPr/>
          <p:nvPr/>
        </p:nvSpPr>
        <p:spPr>
          <a:xfrm>
            <a:off x="4945349" y="3148096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2" name="fig10_10"/>
          <p:cNvSpPr/>
          <p:nvPr/>
        </p:nvSpPr>
        <p:spPr>
          <a:xfrm>
            <a:off x="5179070" y="3122127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3" name="fig10_11"/>
          <p:cNvSpPr/>
          <p:nvPr/>
        </p:nvSpPr>
        <p:spPr>
          <a:xfrm>
            <a:off x="3880622" y="3498677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G₂ (PQC)</a:t>
            </a:r>
          </a:p>
        </p:txBody>
      </p:sp>
      <p:sp>
        <p:nvSpPr>
          <p:cNvPr id="44" name="fig10_12"/>
          <p:cNvSpPr/>
          <p:nvPr/>
        </p:nvSpPr>
        <p:spPr>
          <a:xfrm>
            <a:off x="4945349" y="3602553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5" name="fig10_13"/>
          <p:cNvSpPr/>
          <p:nvPr/>
        </p:nvSpPr>
        <p:spPr>
          <a:xfrm>
            <a:off x="5179070" y="3576584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6" name="fig10_14"/>
          <p:cNvSpPr/>
          <p:nvPr/>
        </p:nvSpPr>
        <p:spPr>
          <a:xfrm>
            <a:off x="3880622" y="4199839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G_N (PQC)</a:t>
            </a:r>
          </a:p>
        </p:txBody>
      </p:sp>
      <p:sp>
        <p:nvSpPr>
          <p:cNvPr id="47" name="fig10_15"/>
          <p:cNvSpPr/>
          <p:nvPr/>
        </p:nvSpPr>
        <p:spPr>
          <a:xfrm>
            <a:off x="4945349" y="4303715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8" name="fig10_16"/>
          <p:cNvSpPr/>
          <p:nvPr/>
        </p:nvSpPr>
        <p:spPr>
          <a:xfrm>
            <a:off x="5179070" y="4277746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9" name="fig10_17"/>
          <p:cNvSpPr/>
          <p:nvPr/>
        </p:nvSpPr>
        <p:spPr>
          <a:xfrm>
            <a:off x="3880622" y="3875227"/>
            <a:ext cx="1012789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30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⋮</a:t>
            </a:r>
          </a:p>
        </p:txBody>
      </p:sp>
      <p:sp>
        <p:nvSpPr>
          <p:cNvPr id="50" name="fig10_18"/>
          <p:cNvSpPr/>
          <p:nvPr/>
        </p:nvSpPr>
        <p:spPr>
          <a:xfrm>
            <a:off x="5101163" y="3875227"/>
            <a:ext cx="714146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patch</a:t>
            </a:r>
          </a:p>
        </p:txBody>
      </p:sp>
      <p:sp>
        <p:nvSpPr>
          <p:cNvPr id="51" name="fig10_19"/>
          <p:cNvSpPr/>
          <p:nvPr/>
        </p:nvSpPr>
        <p:spPr>
          <a:xfrm>
            <a:off x="5906200" y="3589568"/>
            <a:ext cx="285658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4" name="fig10_22"/>
          <p:cNvSpPr/>
          <p:nvPr/>
        </p:nvSpPr>
        <p:spPr>
          <a:xfrm>
            <a:off x="6113952" y="4147901"/>
            <a:ext cx="1064727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 </a:t>
            </a:r>
            <a:r>
              <a:rPr sz="1000" b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000" b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ctr"/>
            <a:r>
              <a:rPr sz="1000" b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(patch 결합)</a:t>
            </a:r>
          </a:p>
        </p:txBody>
      </p:sp>
      <p:sp>
        <p:nvSpPr>
          <p:cNvPr id="55" name="fig10_23"/>
          <p:cNvSpPr/>
          <p:nvPr/>
        </p:nvSpPr>
        <p:spPr>
          <a:xfrm>
            <a:off x="7087788" y="3589568"/>
            <a:ext cx="259689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6" name="fig10_24"/>
          <p:cNvSpPr/>
          <p:nvPr/>
        </p:nvSpPr>
        <p:spPr>
          <a:xfrm>
            <a:off x="7399416" y="3174065"/>
            <a:ext cx="1233525" cy="1090696"/>
          </a:xfrm>
          <a:prstGeom prst="roundRect">
            <a:avLst/>
          </a:prstGeom>
          <a:solidFill>
            <a:srgbClr val="FFFFFF"/>
          </a:solidFill>
          <a:ln w="22542">
            <a:solidFill>
              <a:srgbClr val="1E3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Discriminator</a:t>
            </a:r>
          </a:p>
          <a:p>
            <a:pPr algn="ctr"/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(고전 FC</a:t>
            </a:r>
            <a:r>
              <a:rPr lang="en-US"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57" name="fig10_25"/>
          <p:cNvSpPr/>
          <p:nvPr/>
        </p:nvSpPr>
        <p:spPr>
          <a:xfrm>
            <a:off x="8671895" y="3589568"/>
            <a:ext cx="207751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8" name="fig10_26"/>
          <p:cNvSpPr/>
          <p:nvPr/>
        </p:nvSpPr>
        <p:spPr>
          <a:xfrm>
            <a:off x="8905615" y="3355848"/>
            <a:ext cx="571317" cy="727130"/>
          </a:xfrm>
          <a:prstGeom prst="ellipse">
            <a:avLst/>
          </a:prstGeom>
          <a:solidFill>
            <a:srgbClr val="FFFFFF"/>
          </a:solidFill>
          <a:ln w="13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진짜</a:t>
            </a:r>
          </a:p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/가짜</a:t>
            </a:r>
          </a:p>
        </p:txBody>
      </p:sp>
      <p:sp>
        <p:nvSpPr>
          <p:cNvPr id="59" name="fig10_27"/>
          <p:cNvSpPr/>
          <p:nvPr/>
        </p:nvSpPr>
        <p:spPr>
          <a:xfrm>
            <a:off x="3763761" y="5121737"/>
            <a:ext cx="4869180" cy="519379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이미지 (HAM10000 DF, segmentation 후)</a:t>
            </a:r>
          </a:p>
        </p:txBody>
      </p:sp>
      <p:sp>
        <p:nvSpPr>
          <p:cNvPr id="60" name="fig10_28"/>
          <p:cNvSpPr/>
          <p:nvPr/>
        </p:nvSpPr>
        <p:spPr>
          <a:xfrm>
            <a:off x="7866857" y="4342668"/>
            <a:ext cx="259689" cy="727130"/>
          </a:xfrm>
          <a:prstGeom prst="up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61" name="fig10_29"/>
          <p:cNvSpPr/>
          <p:nvPr/>
        </p:nvSpPr>
        <p:spPr>
          <a:xfrm>
            <a:off x="8152516" y="4498482"/>
            <a:ext cx="1233525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real 샘플</a:t>
            </a:r>
          </a:p>
        </p:txBody>
      </p:sp>
      <p:sp>
        <p:nvSpPr>
          <p:cNvPr id="32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원 논문 Fig. 10 구조를 도식으로 재구성: Andra et al., Quantum Machine Intelligence 7, 90 (2025)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E3F5E0D-7DCD-4F3F-A1CD-49AFA6C2FE7F}"/>
              </a:ext>
            </a:extLst>
          </p:cNvPr>
          <p:cNvGrpSpPr/>
          <p:nvPr/>
        </p:nvGrpSpPr>
        <p:grpSpPr>
          <a:xfrm>
            <a:off x="6251885" y="3543666"/>
            <a:ext cx="796614" cy="323301"/>
            <a:chOff x="6251885" y="3589568"/>
            <a:chExt cx="796614" cy="323301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A0B051A-0BFC-464E-AFE4-7B2DC3A7C4E4}"/>
                </a:ext>
              </a:extLst>
            </p:cNvPr>
            <p:cNvCxnSpPr>
              <a:cxnSpLocks/>
            </p:cNvCxnSpPr>
            <p:nvPr/>
          </p:nvCxnSpPr>
          <p:spPr>
            <a:xfrm>
              <a:off x="6251885" y="3589568"/>
              <a:ext cx="796614" cy="0"/>
            </a:xfrm>
            <a:prstGeom prst="line">
              <a:avLst/>
            </a:prstGeom>
            <a:ln w="28575">
              <a:solidFill>
                <a:srgbClr val="00754A">
                  <a:alpha val="59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4E92712F-BE00-4108-8AE4-1DBA65380A78}"/>
                </a:ext>
              </a:extLst>
            </p:cNvPr>
            <p:cNvCxnSpPr>
              <a:cxnSpLocks/>
            </p:cNvCxnSpPr>
            <p:nvPr/>
          </p:nvCxnSpPr>
          <p:spPr>
            <a:xfrm>
              <a:off x="6251885" y="3751218"/>
              <a:ext cx="796614" cy="0"/>
            </a:xfrm>
            <a:prstGeom prst="line">
              <a:avLst/>
            </a:prstGeom>
            <a:ln w="28575">
              <a:solidFill>
                <a:srgbClr val="00754A">
                  <a:alpha val="59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CF57FEEA-5447-4C9B-A6C5-36AB498FFB8E}"/>
                </a:ext>
              </a:extLst>
            </p:cNvPr>
            <p:cNvCxnSpPr>
              <a:cxnSpLocks/>
            </p:cNvCxnSpPr>
            <p:nvPr/>
          </p:nvCxnSpPr>
          <p:spPr>
            <a:xfrm>
              <a:off x="6251885" y="3912869"/>
              <a:ext cx="796614" cy="0"/>
            </a:xfrm>
            <a:prstGeom prst="line">
              <a:avLst/>
            </a:prstGeom>
            <a:ln w="28575">
              <a:solidFill>
                <a:srgbClr val="00754A">
                  <a:alpha val="59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925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Patch 방식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큐빗 한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세트로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전체를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만들기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어려워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여러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개의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작은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회로</a:t>
            </a:r>
            <a:r>
              <a:rPr lang="en-US" altLang="ko-KR"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조각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(patch)을 나눠 생성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1A3A8C5-EAAF-43F9-800A-74B04054AD61}"/>
              </a:ext>
            </a:extLst>
          </p:cNvPr>
          <p:cNvGrpSpPr/>
          <p:nvPr/>
        </p:nvGrpSpPr>
        <p:grpSpPr>
          <a:xfrm>
            <a:off x="684180" y="2445419"/>
            <a:ext cx="5411820" cy="2995261"/>
            <a:chOff x="476016" y="2445419"/>
            <a:chExt cx="5411820" cy="2995261"/>
          </a:xfrm>
        </p:grpSpPr>
        <p:sp>
          <p:nvSpPr>
            <p:cNvPr id="17" name="TextBox 16"/>
            <p:cNvSpPr txBox="1"/>
            <p:nvPr/>
          </p:nvSpPr>
          <p:spPr>
            <a:xfrm>
              <a:off x="1875859" y="3576808"/>
              <a:ext cx="2612135" cy="16158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 </a:t>
              </a:r>
              <a:r>
                <a:rPr lang="ko-KR" altLang="en-US"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논문</a:t>
              </a: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: 16개 </a:t>
              </a:r>
              <a:r>
                <a:rPr lang="en-US"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sub-generator</a:t>
              </a: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)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3111541" y="4023360"/>
              <a:ext cx="140770" cy="457200"/>
            </a:xfrm>
            <a:prstGeom prst="downArrow">
              <a:avLst/>
            </a:prstGeom>
            <a:solidFill>
              <a:srgbClr val="0075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F4E721B-C043-4E9C-879A-3E7219FC951F}"/>
                </a:ext>
              </a:extLst>
            </p:cNvPr>
            <p:cNvGrpSpPr/>
            <p:nvPr/>
          </p:nvGrpSpPr>
          <p:grpSpPr>
            <a:xfrm>
              <a:off x="476016" y="2445419"/>
              <a:ext cx="5411820" cy="687003"/>
              <a:chOff x="476016" y="2445419"/>
              <a:chExt cx="5411820" cy="687003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F3DCD61B-383A-4F43-99BB-0C4311D0840B}"/>
                  </a:ext>
                </a:extLst>
              </p:cNvPr>
              <p:cNvGrpSpPr/>
              <p:nvPr/>
            </p:nvGrpSpPr>
            <p:grpSpPr>
              <a:xfrm>
                <a:off x="476016" y="2445419"/>
                <a:ext cx="1133554" cy="687003"/>
                <a:chOff x="690869" y="2286000"/>
                <a:chExt cx="703848" cy="1005840"/>
              </a:xfrm>
            </p:grpSpPr>
            <p:sp>
              <p:nvSpPr>
                <p:cNvPr id="5" name="Rounded Rectangle 4"/>
                <p:cNvSpPr/>
                <p:nvPr/>
              </p:nvSpPr>
              <p:spPr>
                <a:xfrm>
                  <a:off x="690869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690869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sub-generator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1</a:t>
                  </a: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690869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1337B174-2BC0-4494-B4BF-01A94E991301}"/>
                  </a:ext>
                </a:extLst>
              </p:cNvPr>
              <p:cNvGrpSpPr/>
              <p:nvPr/>
            </p:nvGrpSpPr>
            <p:grpSpPr>
              <a:xfrm>
                <a:off x="1902105" y="2445419"/>
                <a:ext cx="1133554" cy="687003"/>
                <a:chOff x="2322701" y="2286000"/>
                <a:chExt cx="703848" cy="1005840"/>
              </a:xfrm>
            </p:grpSpPr>
            <p:sp>
              <p:nvSpPr>
                <p:cNvPr id="8" name="Rounded Rectangle 7"/>
                <p:cNvSpPr/>
                <p:nvPr/>
              </p:nvSpPr>
              <p:spPr>
                <a:xfrm>
                  <a:off x="2322701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2322701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sub-generator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2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2322701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81D06E62-9878-4829-937E-08EE7E0D5040}"/>
                  </a:ext>
                </a:extLst>
              </p:cNvPr>
              <p:cNvGrpSpPr/>
              <p:nvPr/>
            </p:nvGrpSpPr>
            <p:grpSpPr>
              <a:xfrm>
                <a:off x="3328194" y="2445419"/>
                <a:ext cx="1133554" cy="687003"/>
                <a:chOff x="3954532" y="2286000"/>
                <a:chExt cx="703848" cy="1005840"/>
              </a:xfrm>
            </p:grpSpPr>
            <p:sp>
              <p:nvSpPr>
                <p:cNvPr id="11" name="Rounded Rectangle 10"/>
                <p:cNvSpPr/>
                <p:nvPr/>
              </p:nvSpPr>
              <p:spPr>
                <a:xfrm>
                  <a:off x="3954532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3954532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sub-generator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3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3954532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E5460ED6-F941-42FF-B6EF-B8FB219ECF27}"/>
                  </a:ext>
                </a:extLst>
              </p:cNvPr>
              <p:cNvGrpSpPr/>
              <p:nvPr/>
            </p:nvGrpSpPr>
            <p:grpSpPr>
              <a:xfrm>
                <a:off x="4754282" y="2445419"/>
                <a:ext cx="1133554" cy="687003"/>
                <a:chOff x="5586364" y="2286000"/>
                <a:chExt cx="703848" cy="1005840"/>
              </a:xfrm>
            </p:grpSpPr>
            <p:sp>
              <p:nvSpPr>
                <p:cNvPr id="14" name="Rounded Rectangle 13"/>
                <p:cNvSpPr/>
                <p:nvPr/>
              </p:nvSpPr>
              <p:spPr>
                <a:xfrm>
                  <a:off x="5586364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586364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sub-generator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</a:t>
                  </a: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N</a:t>
                  </a:r>
                  <a:endParaRPr sz="1000" b="1" i="0" dirty="0">
                    <a:solidFill>
                      <a:srgbClr val="00754A"/>
                    </a:solidFill>
                    <a:latin typeface="Noto Sans KR"/>
                    <a:ea typeface="Noto Sans KR"/>
                    <a:cs typeface="Noto Sans KR"/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5586364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1A8F0057-8333-42F5-B02A-A50109BF110F}"/>
                </a:ext>
              </a:extLst>
            </p:cNvPr>
            <p:cNvGrpSpPr/>
            <p:nvPr/>
          </p:nvGrpSpPr>
          <p:grpSpPr>
            <a:xfrm>
              <a:off x="1555334" y="4617720"/>
              <a:ext cx="3253184" cy="822960"/>
              <a:chOff x="1863949" y="4617720"/>
              <a:chExt cx="3253184" cy="822960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1863949" y="4617720"/>
                <a:ext cx="3253184" cy="822960"/>
              </a:xfrm>
              <a:prstGeom prst="roundRect">
                <a:avLst>
                  <a:gd name="adj" fmla="val 9000"/>
                </a:avLst>
              </a:prstGeom>
              <a:solidFill>
                <a:srgbClr val="1E39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480556" y="4887355"/>
                <a:ext cx="2019971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patch 1  +  patch 2  +  patch 3  +  </a:t>
                </a:r>
                <a:r>
                  <a:rPr lang="en-US" altLang="ko-KR" sz="11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Wingdings" panose="05000000000000000000" pitchFamily="2" charset="2"/>
                  </a:rPr>
                  <a:t> + </a:t>
                </a:r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patch N  </a:t>
                </a:r>
              </a:p>
              <a:p>
                <a:pPr algn="ctr"/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→  </a:t>
                </a:r>
                <a:r>
                  <a:rPr lang="ko-KR" altLang="en-US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이어 붙여 최종 이미지 벡터</a:t>
                </a:r>
              </a:p>
            </p:txBody>
          </p:sp>
        </p:grpSp>
      </p:grp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08AA32A2-85ED-4EDE-92D2-2106D048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Diagram of patch quantum GAN mechanism as adapted from [36]">
            <a:extLst>
              <a:ext uri="{FF2B5EF4-FFF2-40B4-BE49-F238E27FC236}">
                <a16:creationId xmlns:a16="http://schemas.microsoft.com/office/drawing/2014/main" id="{6E68FCF0-3070-482F-A75E-C9E099E38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586" y="2749409"/>
            <a:ext cx="4927023" cy="2476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E9C97FE-4D8C-428D-9582-CA1E5F137B74}"/>
              </a:ext>
            </a:extLst>
          </p:cNvPr>
          <p:cNvSpPr/>
          <p:nvPr/>
        </p:nvSpPr>
        <p:spPr>
          <a:xfrm>
            <a:off x="7366000" y="3018971"/>
            <a:ext cx="863600" cy="1211943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2" descr="Diagram of patch quantum GAN mechanism as adapted from [36]">
            <a:extLst>
              <a:ext uri="{FF2B5EF4-FFF2-40B4-BE49-F238E27FC236}">
                <a16:creationId xmlns:a16="http://schemas.microsoft.com/office/drawing/2014/main" id="{035A69EB-F357-4BF8-8E7E-6591D0D95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6" t="12450" r="52884" b="39156"/>
          <a:stretch/>
        </p:blipFill>
        <p:spPr bwMode="auto">
          <a:xfrm>
            <a:off x="7162800" y="616445"/>
            <a:ext cx="2495174" cy="18215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4C9236-4EF4-4673-B226-353E8FC7DC6D}"/>
              </a:ext>
            </a:extLst>
          </p:cNvPr>
          <p:cNvSpPr/>
          <p:nvPr/>
        </p:nvSpPr>
        <p:spPr>
          <a:xfrm>
            <a:off x="7797800" y="768517"/>
            <a:ext cx="642257" cy="1575540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D5E00A0-61F0-4834-A589-D4221522EBFF}"/>
              </a:ext>
            </a:extLst>
          </p:cNvPr>
          <p:cNvCxnSpPr>
            <a:stCxn id="32" idx="0"/>
            <a:endCxn id="34" idx="2"/>
          </p:cNvCxnSpPr>
          <p:nvPr/>
        </p:nvCxnSpPr>
        <p:spPr>
          <a:xfrm rot="5400000" flipH="1" flipV="1">
            <a:off x="7620907" y="2520950"/>
            <a:ext cx="674914" cy="321129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sub-generator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회로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상세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각 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sub-generator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= 3단계로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이루어진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하나의 변분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(PQC)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73152" cy="77724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① 노이즈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무작위 각도를 RY 게이트로 각 큐빗에 회전시켜 입력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73152" cy="777240"/>
          </a:xfrm>
          <a:prstGeom prst="rect">
            <a:avLst/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② 변분 layer (반복)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5235"/>
            <a:ext cx="5212080" cy="20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 가능한 RY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회전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+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인접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큐빗 CZ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얽힘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-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각도가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학습되는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가중치</a:t>
            </a:r>
            <a:r>
              <a:rPr lang="en-US" altLang="ko-KR"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endParaRPr sz="12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73152" cy="777240"/>
          </a:xfrm>
          <a:prstGeom prst="rect">
            <a:avLst/>
          </a:prstGeom>
          <a:solidFill>
            <a:srgbClr val="9C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③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ancilla qubit까지 전체 측정 후, ancilla qubit=0인 항목만 patch로 사용(post-selection)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83480"/>
            <a:ext cx="10881360" cy="256032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034552"/>
            <a:ext cx="2514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0056"/>
            <a:ext cx="7909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39512"/>
            <a:ext cx="108813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26694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큐빗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266944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 7 + ancilla 1 = 총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95544"/>
            <a:ext cx="10881360" cy="256032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50463"/>
            <a:ext cx="25146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sub-generator</a:t>
            </a: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522976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16개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51576"/>
            <a:ext cx="108813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77240" y="577900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</a:t>
            </a:r>
            <a:r>
              <a:rPr sz="9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깊이</a:t>
            </a: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(PQC depth)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007608"/>
            <a:ext cx="10881360" cy="256032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학습률 / epoch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6035040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0.1 / 2,000</a:t>
            </a: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14F97062-AC7F-4D91-8952-496A0A3D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B3F5BD-7B5E-46FA-84E2-735037CE8760}"/>
              </a:ext>
            </a:extLst>
          </p:cNvPr>
          <p:cNvSpPr txBox="1"/>
          <p:nvPr/>
        </p:nvSpPr>
        <p:spPr>
          <a:xfrm>
            <a:off x="3520440" y="5779008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</a:t>
            </a:r>
            <a:r>
              <a:rPr lang="en-US"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</a:t>
            </a:r>
            <a:endParaRPr sz="95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54496" y="1371600"/>
            <a:ext cx="5248656" cy="3236976"/>
          </a:xfrm>
          <a:prstGeom prst="roundRect">
            <a:avLst>
              <a:gd name="adj" fmla="val 4000"/>
            </a:avLst>
          </a:prstGeom>
          <a:solidFill>
            <a:srgbClr val="FAF9F7"/>
          </a:solidFill>
          <a:ln w="12700">
            <a:solidFill>
              <a:srgbClr val="D9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144475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sub-generator 1개 회로 (논문 Table 3 기준, 8큐빗)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1810512"/>
            <a:ext cx="2212848" cy="1883664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 w="9525">
            <a:solidFill>
              <a:srgbClr val="006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59" y="1938528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76288" y="2029968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931152" y="1929384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4112" y="192938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48672" y="192938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2231136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76288" y="2322576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931152" y="2221992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54112" y="2221992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48672" y="2221992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2523744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76288" y="2615184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931152" y="2514600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54112" y="2514600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8672" y="2514600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3035808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q₆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876288" y="3127248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931152" y="3026664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54112" y="302666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48672" y="302666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3401568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aux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876288" y="3493008"/>
            <a:ext cx="4050792" cy="0"/>
          </a:xfrm>
          <a:prstGeom prst="line">
            <a:avLst/>
          </a:prstGeom>
          <a:ln w="1270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931152" y="3392424"/>
            <a:ext cx="438912" cy="201168"/>
          </a:xfrm>
          <a:prstGeom prst="roundRect">
            <a:avLst>
              <a:gd name="adj" fmla="val 22000"/>
            </a:avLst>
          </a:prstGeom>
          <a:solidFill>
            <a:srgbClr val="00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RY(z)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54112" y="339242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RY(θ)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8672" y="3392424"/>
            <a:ext cx="420624" cy="201168"/>
          </a:xfrm>
          <a:prstGeom prst="roundRect">
            <a:avLst>
              <a:gd name="adj" fmla="val 22000"/>
            </a:avLst>
          </a:prstGeom>
          <a:solidFill>
            <a:srgbClr val="9C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59" y="2798064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41664" y="279806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⋮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430768" y="2029968"/>
            <a:ext cx="0" cy="292608"/>
          </a:xfrm>
          <a:prstGeom prst="line">
            <a:avLst/>
          </a:prstGeom>
          <a:ln w="15875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8394192" y="1993392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Oval 63"/>
          <p:cNvSpPr/>
          <p:nvPr/>
        </p:nvSpPr>
        <p:spPr>
          <a:xfrm>
            <a:off x="8394192" y="2286000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8641080" y="2322576"/>
            <a:ext cx="0" cy="292608"/>
          </a:xfrm>
          <a:prstGeom prst="line">
            <a:avLst/>
          </a:prstGeom>
          <a:ln w="15875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604504" y="2286000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Oval 66"/>
          <p:cNvSpPr/>
          <p:nvPr/>
        </p:nvSpPr>
        <p:spPr>
          <a:xfrm>
            <a:off x="8604504" y="2578608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68" name="Connector 67"/>
          <p:cNvCxnSpPr/>
          <p:nvPr/>
        </p:nvCxnSpPr>
        <p:spPr>
          <a:xfrm>
            <a:off x="9015984" y="3127248"/>
            <a:ext cx="0" cy="365760"/>
          </a:xfrm>
          <a:prstGeom prst="line">
            <a:avLst/>
          </a:prstGeom>
          <a:ln w="15875">
            <a:solidFill>
              <a:srgbClr val="0062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979408" y="3090672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Oval 69"/>
          <p:cNvSpPr/>
          <p:nvPr/>
        </p:nvSpPr>
        <p:spPr>
          <a:xfrm>
            <a:off x="8979408" y="3456432"/>
            <a:ext cx="73152" cy="73152"/>
          </a:xfrm>
          <a:prstGeom prst="ellipse">
            <a:avLst/>
          </a:prstGeom>
          <a:solidFill>
            <a:srgbClr val="00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57616" y="3712463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CZ 체인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3712463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× depth 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12280" y="3712463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① encoding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2368" y="3712463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③ 측정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82512" y="3986784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측정 결과 2⁸ = 256개 확률 중 ancilla qubit = 0 인 128개만 선택(post-selection) → patch 1장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82512" y="4297680"/>
            <a:ext cx="49926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sub-generator 16개의 patch를 이어붙여 이미지 1장을 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구조 + 평가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프로토콜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"QGAN이 잘 만들었는지"는 생성 이미지 직접 확인 대신 별도 CNN 분류기 성능으로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32918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06878"/>
            <a:ext cx="467852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(Table 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5227167" cy="32918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2406878"/>
            <a:ext cx="467852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평가용</a:t>
            </a:r>
            <a:r>
              <a:rPr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CNN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1729CC7-4D84-44D1-BE95-7F066969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4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표 내용 출처: Andra et al., Quantum Machine Intelligence 7, 90 (2025), Table 1·2·4</a:t>
            </a:r>
          </a:p>
        </p:txBody>
      </p:sp>
      <p:graphicFrame>
        <p:nvGraphicFramePr>
          <p:cNvPr id="25" name="andra_table"/>
          <p:cNvGraphicFramePr>
            <a:graphicFrameLocks noGrp="1"/>
          </p:cNvGraphicFramePr>
          <p:nvPr/>
        </p:nvGraphicFramePr>
        <p:xfrm>
          <a:off x="914400" y="2788920"/>
          <a:ext cx="468172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4 · Discriminator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Layer 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(완전연결)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활성화 함수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ReLU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출력층 활성화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Sigmoid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PQC 깊이 (생성자)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5×10⁻³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Epoch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2,000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손실 함수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Binary Cross Entropy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andra_table"/>
          <p:cNvGraphicFramePr>
            <a:graphicFrameLocks noGrp="1"/>
          </p:cNvGraphicFramePr>
          <p:nvPr/>
        </p:nvGraphicFramePr>
        <p:xfrm>
          <a:off x="6601968" y="2724912"/>
          <a:ext cx="4681728" cy="13121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1 · CNN 학습 설정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15×10⁻⁴ (=1.5×10⁻³)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손실 함수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Binary Cross Entropy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Optimizer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ADAM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정규화 layer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Normalization 2D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출력 활성화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Sigmoid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파라미터 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460k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7" name="andra_table"/>
          <p:cNvGraphicFramePr>
            <a:graphicFrameLocks noGrp="1"/>
          </p:cNvGraphicFramePr>
          <p:nvPr/>
        </p:nvGraphicFramePr>
        <p:xfrm>
          <a:off x="6601968" y="4142232"/>
          <a:ext cx="4681728" cy="1124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2 · Conv layer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Kernel 크기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Stride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활성화 함수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ReLU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정규화 layer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Normalization 2D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Max Pooling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2×2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① - DF vs NV 분류 성능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Table 6: QGAN 증강 후 AUC-ROC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566694"/>
            <a:ext cx="3657600" cy="2279626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224665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0.953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92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증강 전(원본만)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526030"/>
            <a:ext cx="3657600" cy="232029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20599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0.970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892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증강 후(QGAN 추가)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A532C628-1203-47D2-8E5B-1C6B5ABB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7" name="Note"/>
          <p:cNvSpPr txBox="1"/>
          <p:nvPr/>
        </p:nvSpPr>
        <p:spPr>
          <a:xfrm>
            <a:off x="640080" y="548640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막대 높이는 0부터 비례. 증가폭은 +0.017이며, 이 저장소의 8×8 재현 실험에서는 AUC +0.004, 정확도는 오히려 하락해 개선으로 단정하지 않음 (README 참고)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② -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조건부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효과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segmentation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전처리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이미지에서만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증강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효과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있음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31136"/>
            <a:ext cx="5257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 전처리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31136"/>
            <a:ext cx="5166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QGAN 증강 효과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39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862071"/>
            <a:ext cx="5257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원본/리사이즈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62071"/>
            <a:ext cx="516636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2014"/>
                </a:solidFill>
                <a:latin typeface="Noto Sans KR"/>
                <a:ea typeface="Noto Sans KR"/>
                <a:cs typeface="Noto Sans KR"/>
              </a:rPr>
              <a:t>증강 효과 없음 - 오히려 성능 저하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10881360" cy="64008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02151"/>
            <a:ext cx="5257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segmentation(K-means+FCM) 전처리 이미지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02151"/>
            <a:ext cx="516636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증강 효과 있음 - 성능 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120640" cy="1188720"/>
          </a:xfrm>
          <a:prstGeom prst="roundRect">
            <a:avLst>
              <a:gd name="adj" fmla="val 9000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58114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왜 중요한가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60792"/>
            <a:ext cx="4663440" cy="4568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실제로는 배경 노이즈를 제거한(segmentation)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입력에서만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생성 품질이 분류 성능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개선으로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이어짐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6F001B1-6FCE-4887-A9DC-A30AC565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0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원 논문 pipeline을 도식으로 재구성: Andra et al., Quantum Machine Intelligence 7, 90 (2025)</a:t>
            </a:r>
          </a:p>
        </p:txBody>
      </p:sp>
      <p:sp>
        <p:nvSpPr>
          <p:cNvPr id="21" name="pipe13_1"/>
          <p:cNvSpPr/>
          <p:nvPr/>
        </p:nvSpPr>
        <p:spPr>
          <a:xfrm>
            <a:off x="6112764" y="4389120"/>
            <a:ext cx="112928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 이미지(raw)</a:t>
            </a:r>
          </a:p>
        </p:txBody>
      </p:sp>
      <p:sp>
        <p:nvSpPr>
          <p:cNvPr id="22" name="pipe13_2"/>
          <p:cNvSpPr/>
          <p:nvPr/>
        </p:nvSpPr>
        <p:spPr>
          <a:xfrm>
            <a:off x="6231636" y="4662525"/>
            <a:ext cx="891540" cy="594360"/>
          </a:xfrm>
          <a:prstGeom prst="roundRect">
            <a:avLst/>
          </a:prstGeom>
          <a:solidFill>
            <a:srgbClr val="F1D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3" name="pipe13_3"/>
          <p:cNvSpPr/>
          <p:nvPr/>
        </p:nvSpPr>
        <p:spPr>
          <a:xfrm>
            <a:off x="6528816" y="4805172"/>
            <a:ext cx="309067" cy="285292"/>
          </a:xfrm>
          <a:prstGeom prst="ellipse">
            <a:avLst/>
          </a:prstGeom>
          <a:solidFill>
            <a:srgbClr val="8C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4" name="pipe13_4"/>
          <p:cNvSpPr/>
          <p:nvPr/>
        </p:nvSpPr>
        <p:spPr>
          <a:xfrm>
            <a:off x="7194499" y="4888382"/>
            <a:ext cx="1283817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5" name="pipe13_5"/>
          <p:cNvSpPr/>
          <p:nvPr/>
        </p:nvSpPr>
        <p:spPr>
          <a:xfrm>
            <a:off x="7242048" y="4650638"/>
            <a:ext cx="1212494" cy="2139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8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원본 그대로</a:t>
            </a:r>
          </a:p>
        </p:txBody>
      </p:sp>
      <p:sp>
        <p:nvSpPr>
          <p:cNvPr id="26" name="pipe13_6"/>
          <p:cNvSpPr/>
          <p:nvPr/>
        </p:nvSpPr>
        <p:spPr>
          <a:xfrm>
            <a:off x="8549640" y="4579315"/>
            <a:ext cx="1188720" cy="855878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Quantum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GAN</a:t>
            </a:r>
          </a:p>
        </p:txBody>
      </p:sp>
      <p:sp>
        <p:nvSpPr>
          <p:cNvPr id="27" name="pipe13_7"/>
          <p:cNvSpPr/>
          <p:nvPr/>
        </p:nvSpPr>
        <p:spPr>
          <a:xfrm>
            <a:off x="9785908" y="4686300"/>
            <a:ext cx="285292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8" name="pipe13_8"/>
          <p:cNvSpPr/>
          <p:nvPr/>
        </p:nvSpPr>
        <p:spPr>
          <a:xfrm>
            <a:off x="9785908" y="5185562"/>
            <a:ext cx="285292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9" name="pipe13_9"/>
          <p:cNvSpPr/>
          <p:nvPr/>
        </p:nvSpPr>
        <p:spPr>
          <a:xfrm>
            <a:off x="10118750" y="4579315"/>
            <a:ext cx="1402689" cy="38039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합성 이미지</a:t>
            </a:r>
          </a:p>
        </p:txBody>
      </p:sp>
      <p:sp>
        <p:nvSpPr>
          <p:cNvPr id="30" name="pipe13_10"/>
          <p:cNvSpPr/>
          <p:nvPr/>
        </p:nvSpPr>
        <p:spPr>
          <a:xfrm>
            <a:off x="10118750" y="5078577"/>
            <a:ext cx="1402689" cy="38039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합성 segmentation</a:t>
            </a:r>
          </a:p>
        </p:txBody>
      </p:sp>
      <p:sp>
        <p:nvSpPr>
          <p:cNvPr id="31" name="pipe13_11"/>
          <p:cNvSpPr/>
          <p:nvPr/>
        </p:nvSpPr>
        <p:spPr>
          <a:xfrm>
            <a:off x="6576364" y="5304434"/>
            <a:ext cx="213969" cy="380390"/>
          </a:xfrm>
          <a:prstGeom prst="down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2" name="pipe13_12"/>
          <p:cNvSpPr/>
          <p:nvPr/>
        </p:nvSpPr>
        <p:spPr>
          <a:xfrm>
            <a:off x="6112764" y="5732373"/>
            <a:ext cx="1723644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9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K-means + Fuzzy C-Means</a:t>
            </a:r>
          </a:p>
          <a:p>
            <a:pPr algn="ctr"/>
            <a:r>
              <a:rPr sz="9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clustering</a:t>
            </a:r>
          </a:p>
        </p:txBody>
      </p:sp>
      <p:sp>
        <p:nvSpPr>
          <p:cNvPr id="33" name="pipe13_13"/>
          <p:cNvSpPr/>
          <p:nvPr/>
        </p:nvSpPr>
        <p:spPr>
          <a:xfrm>
            <a:off x="7895844" y="5886907"/>
            <a:ext cx="475488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4" name="pipe13_14"/>
          <p:cNvSpPr/>
          <p:nvPr/>
        </p:nvSpPr>
        <p:spPr>
          <a:xfrm>
            <a:off x="8573414" y="5756148"/>
            <a:ext cx="427939" cy="4279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5" name="pipe13_15"/>
          <p:cNvSpPr/>
          <p:nvPr/>
        </p:nvSpPr>
        <p:spPr>
          <a:xfrm>
            <a:off x="8710117" y="5815584"/>
            <a:ext cx="154533" cy="30906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6" name="pipe13_16"/>
          <p:cNvSpPr/>
          <p:nvPr/>
        </p:nvSpPr>
        <p:spPr>
          <a:xfrm>
            <a:off x="9048902" y="5756148"/>
            <a:ext cx="427939" cy="4279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7" name="pipe13_17"/>
          <p:cNvSpPr/>
          <p:nvPr/>
        </p:nvSpPr>
        <p:spPr>
          <a:xfrm>
            <a:off x="9144000" y="5863132"/>
            <a:ext cx="237744" cy="21396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8" name="pipe13_18"/>
          <p:cNvSpPr/>
          <p:nvPr/>
        </p:nvSpPr>
        <p:spPr>
          <a:xfrm>
            <a:off x="9560052" y="5851245"/>
            <a:ext cx="106984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/>
            <a:r>
              <a:rPr sz="9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segmentation 마스크</a:t>
            </a:r>
          </a:p>
        </p:txBody>
      </p:sp>
      <p:sp>
        <p:nvSpPr>
          <p:cNvPr id="39" name="pipe13_19"/>
          <p:cNvSpPr/>
          <p:nvPr/>
        </p:nvSpPr>
        <p:spPr>
          <a:xfrm>
            <a:off x="9025128" y="5470855"/>
            <a:ext cx="213969" cy="261518"/>
          </a:xfrm>
          <a:prstGeom prst="up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③ - 고전 GAN과의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Table 11: 조건에 따라 승자 교체 - "양자가 항상 이긴다"는 아님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31136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40" y="2231136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정확도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231136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62071"/>
            <a:ext cx="2971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원본(raw) 이미지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066192"/>
            <a:ext cx="40690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GAN (</a:t>
            </a:r>
            <a:r>
              <a:rPr sz="11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정확도</a:t>
            </a:r>
            <a:r>
              <a:rPr sz="11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0.98 vs 0.89)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862071"/>
            <a:ext cx="315468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열세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10881360" cy="64008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02151"/>
            <a:ext cx="2971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segmentation</a:t>
            </a: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150" b="1" i="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77640" y="3706272"/>
            <a:ext cx="40690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QGAN (</a:t>
            </a: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정확도</a:t>
            </a: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0.96 vs 0.95)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02151"/>
            <a:ext cx="315468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AUC는 0.97로 동률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08328"/>
            <a:ext cx="10362895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50" b="1" i="0" spc="6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1050" b="1" i="0" spc="6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595032"/>
            <a:ext cx="10362895" cy="4568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"고전 대비 무조건적 속도·성능 우위"가 성공 기준이 아니라,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(1) 문제→양자 pipeline의 실제 성립 여부, (2) 어떤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조건에서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고전과</a:t>
            </a:r>
            <a:r>
              <a: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동등·우위인지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(crossover 조건) 평가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569153E-3FA8-4A4A-81BF-B654814C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논문 ② MediQ-GAN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21078"/>
            <a:ext cx="1091153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dual-stream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구조로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모델 아키텍처 </a:t>
            </a:r>
            <a:r>
              <a:rPr lang="en-US" altLang="ko-KR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일부만</a:t>
            </a:r>
            <a:r>
              <a:rPr lang="en-US" altLang="ko-KR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양자화한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생성</a:t>
            </a:r>
            <a:r>
              <a:rPr lang="en-US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77440"/>
            <a:ext cx="8351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MediQ-GAN (arXiv:2506.21015)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핵심 기여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56754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stream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+ 양자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stream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둘로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나눠 병렬 처리 후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융합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(skip-connection) -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의료영상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3종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56910"/>
            <a:ext cx="8351215" cy="47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DCGAN·WGAN-GP·StyleGAN2-ADA 등 고전 SOTA 및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MosaiQ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(양자)와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클래스별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FID·LPIPS로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비교, </a:t>
            </a:r>
            <a:endParaRPr lang="en-US" sz="1250" b="0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lang="en-US" sz="125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I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BM 하드웨어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실행까지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이 강의에서의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39634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일부만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양자"인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아키텍처의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대표 사례 - layer-level hybrid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CBD2A32B-6676-494B-B5E3-9E10F6DB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0879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MediQ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-GAN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다이어그램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dual-stream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고전 stream과 양자 stream을 함께 학습해 합치는 구조를 도식으로 재구성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868680" cy="196596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331720"/>
            <a:ext cx="813815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z(노이즈)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⊕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프로토타입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벡터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08760" y="2583179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1508760" y="368046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65960" y="2331720"/>
            <a:ext cx="214884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0824" y="2331720"/>
            <a:ext cx="203911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stream</a:t>
            </a:r>
          </a:p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(CNN / MLP)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3429000"/>
            <a:ext cx="2148840" cy="868680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20824" y="3429000"/>
            <a:ext cx="203911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양자 stream</a:t>
            </a:r>
          </a:p>
          <a:p>
            <a:pPr algn="ctr"/>
            <a:r>
              <a:rPr sz="10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(VQC, 5×16큐빗)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06240" y="2583179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206240" y="368046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63440" y="2331720"/>
            <a:ext cx="1600200" cy="1965960"/>
          </a:xfrm>
          <a:prstGeom prst="roundRect">
            <a:avLst/>
          </a:prstGeom>
          <a:solidFill>
            <a:srgbClr val="F2F0EB"/>
          </a:solidFill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59" y="2331720"/>
            <a:ext cx="1508760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채널 결합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(concat)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16+16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=32채널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5507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12279" y="2880360"/>
            <a:ext cx="123444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8855" y="2880360"/>
            <a:ext cx="116128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decoder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3815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95359" y="2880360"/>
            <a:ext cx="141732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31935" y="2880360"/>
            <a:ext cx="134416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생성 이미지</a:t>
            </a:r>
          </a:p>
          <a:p>
            <a:pPr algn="ctr"/>
            <a:r>
              <a:rPr sz="1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(64×64 RGB)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10411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61319" y="2880360"/>
            <a:ext cx="1234440" cy="868680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97895" y="3233908"/>
            <a:ext cx="116128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5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Discriminator</a:t>
            </a:r>
            <a:endParaRPr sz="105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561319" y="4160520"/>
            <a:ext cx="1234440" cy="651509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88751" y="4160520"/>
            <a:ext cx="1179576" cy="6515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이미지</a:t>
            </a:r>
          </a:p>
        </p:txBody>
      </p:sp>
      <p:sp>
        <p:nvSpPr>
          <p:cNvPr id="28" name="Up Arrow 27"/>
          <p:cNvSpPr/>
          <p:nvPr/>
        </p:nvSpPr>
        <p:spPr>
          <a:xfrm>
            <a:off x="10995660" y="3776472"/>
            <a:ext cx="365760" cy="347472"/>
          </a:xfrm>
          <a:prstGeom prst="up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9245187E-7FB8-4A16-BC70-D0A839C7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22960"/>
            <a:ext cx="11091672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sub-generator</a:t>
            </a:r>
            <a:r>
              <a:rPr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상세</a:t>
            </a:r>
            <a:r>
              <a:rPr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- 16 site 중 5개만 실제 양자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나머지 11칸은 classical 1×1 conv의 편향값만 받음 (공식 GitHub 코드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2456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2456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2224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92224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61487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62456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2456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92224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92224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62456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62456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2224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92224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62456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62456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92224" y="3621024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92224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2075687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입력 4×4 (16 site)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286000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688336" y="2331720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34056" y="2353039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site0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sub-generator 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688336" y="2675534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34056" y="2696853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site4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sub-generator 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2(16큐빗,L=8)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688336" y="3019348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34056" y="3040667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site8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sub-generator 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3(16큐빗,L=8)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688336" y="3363163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34056" y="3384482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site11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sub-generator 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4(16큐빗,L=8)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688336" y="3706977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34056" y="3728296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site15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sub-generator 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5(16큐빗,L=8)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5129784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532120" y="2331720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32120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1888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61888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91656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91656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21424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21424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32120" y="2761487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532120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1888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61888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91656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91656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21424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821424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32120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532120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1888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61888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91656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91656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21424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21424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32120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61888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61888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91656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91656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21424" y="3621024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21424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32120" y="2075687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출력 4×4 (5칸만 값 존재)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7315200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7717536" y="2331720"/>
            <a:ext cx="1920240" cy="1673352"/>
          </a:xfrm>
          <a:prstGeom prst="roundRect">
            <a:avLst/>
          </a:prstGeom>
          <a:solidFill>
            <a:srgbClr val="F2F0EB"/>
          </a:solidFill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90688" y="2949105"/>
            <a:ext cx="1773936" cy="438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1×1 conv</a:t>
            </a:r>
          </a:p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(완전 classical,</a:t>
            </a:r>
            <a:r>
              <a:rPr lang="en-US"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학습됨</a:t>
            </a:r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)</a:t>
            </a:r>
          </a:p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5채널→16채널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9747503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0149839" y="2331720"/>
            <a:ext cx="1493520" cy="1673352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222991" y="3083757"/>
            <a:ext cx="134721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F</a:t>
            </a:r>
            <a:r>
              <a:rPr sz="1100" b="1" i="0" baseline="-2500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q</a:t>
            </a:r>
            <a:r>
              <a:rPr lang="en-US" sz="1100" b="1" i="0" baseline="-2500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∈</a:t>
            </a:r>
            <a:r>
              <a:rPr lang="en-US"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R^</a:t>
            </a:r>
            <a:r>
              <a:rPr sz="1100" b="1" i="0" baseline="3000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(16×4×4)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4462272"/>
            <a:ext cx="11091672" cy="914400"/>
          </a:xfrm>
          <a:prstGeom prst="round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2960" y="4765584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site 선택: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linspace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(0,15,5)round → [0, 4, 8, 11, 15] (row×4+col).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나머지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11칸은 그 </a:t>
            </a:r>
            <a:r>
              <a:rPr lang="en-US"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sub-</a:t>
            </a:r>
            <a:r>
              <a:rPr lang="en-US"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4×4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맵에서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0으로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남음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/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1×1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conv는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칸별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독립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처리(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이웃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안 봄) -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값이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있는 5칸만 진짜 양자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스칼라를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16채널로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투영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나머지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11칸은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학습된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편향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(bias)뿐.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8×8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업샘플에서만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보간으로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살짝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섞임</a:t>
            </a:r>
            <a:r>
              <a:rPr sz="10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91" name="슬라이드 번호 개체 틀 33">
            <a:extLst>
              <a:ext uri="{FF2B5EF4-FFF2-40B4-BE49-F238E27FC236}">
                <a16:creationId xmlns:a16="http://schemas.microsoft.com/office/drawing/2014/main" id="{9245187E-7FB8-4A16-BC70-D0A839C7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D549B7-3B93-4BE3-A5B9-0223C69F49CD}"/>
              </a:ext>
            </a:extLst>
          </p:cNvPr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C4CE80AE-E4EF-46C1-9177-3F38DECAF262}"/>
              </a:ext>
            </a:extLst>
          </p:cNvPr>
          <p:cNvGrpSpPr/>
          <p:nvPr/>
        </p:nvGrpSpPr>
        <p:grpSpPr>
          <a:xfrm>
            <a:off x="3574048" y="4434840"/>
            <a:ext cx="5043600" cy="1874520"/>
            <a:chOff x="3215192" y="4210843"/>
            <a:chExt cx="5761309" cy="214126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B77E0A6-834D-41EE-8765-CA5213CFE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5192" y="4210843"/>
              <a:ext cx="5761309" cy="214126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6412CBD-73F9-47DB-BE83-3ACF0336E3B4}"/>
                </a:ext>
              </a:extLst>
            </p:cNvPr>
            <p:cNvSpPr/>
            <p:nvPr/>
          </p:nvSpPr>
          <p:spPr>
            <a:xfrm>
              <a:off x="6602984" y="4381718"/>
              <a:ext cx="1501251" cy="1743753"/>
            </a:xfrm>
            <a:prstGeom prst="rect">
              <a:avLst/>
            </a:prstGeom>
            <a:noFill/>
            <a:ln w="19050">
              <a:solidFill>
                <a:srgbClr val="5B3E8C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02 · MEDIQ-GAN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Hybrid 분류체계 - "어디까지가 양자인가"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같은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생성모델</a:t>
            </a:r>
            <a:r>
              <a:rPr lang="en-US" altLang="ko-KR"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이라도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전체/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일부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양자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여부로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구분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됨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2251166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model-level hybrid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467852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예: HAM10000 QGAN, MosaiQ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99051"/>
            <a:ext cx="4678527" cy="924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처음부터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끝까지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만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PCA 등 고전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전처리가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있어도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5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양자</a:t>
            </a: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구성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4447" y="2103120"/>
            <a:ext cx="5227167" cy="2251166"/>
          </a:xfrm>
          <a:prstGeom prst="roundRect">
            <a:avLst>
              <a:gd name="adj" fmla="val 9000"/>
            </a:avLst>
          </a:prstGeom>
          <a:solidFill>
            <a:srgbClr val="EDE7F5"/>
          </a:solidFill>
          <a:ln w="1905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8767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layer-level hybrid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24912"/>
            <a:ext cx="467852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예: MediQ-GAN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199051"/>
            <a:ext cx="4678527" cy="924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내부가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stream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+ 양자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stream으로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병렬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분기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stream을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skip-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connection으로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concat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디코딩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layer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하나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안에서도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양자·고전이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공존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6BA614E7-110E-451F-B726-D0EEFB1C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8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4652EE7D-8DBD-45BD-B418-C4CF59602F52}"/>
              </a:ext>
            </a:extLst>
          </p:cNvPr>
          <p:cNvCxnSpPr>
            <a:stCxn id="9" idx="2"/>
            <a:endCxn id="13" idx="0"/>
          </p:cNvCxnSpPr>
          <p:nvPr/>
        </p:nvCxnSpPr>
        <p:spPr>
          <a:xfrm rot="5400000">
            <a:off x="7952408" y="3598805"/>
            <a:ext cx="230142" cy="1741105"/>
          </a:xfrm>
          <a:prstGeom prst="bentConnector3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02 · MEDIQ-GAN </a:t>
            </a:r>
            <a:r>
              <a:rPr sz="1150" b="1" i="0" spc="10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논문</a:t>
            </a:r>
            <a:endParaRPr sz="1150" b="1" i="0" spc="10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dual-stream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입력을 절반씩 나눠 고전 인코더와 양자회로(VQC)가 병렬 처리 후 하나로 합침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4998567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499856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classical encoder / conv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047" y="2377440"/>
            <a:ext cx="4998567" cy="914400"/>
          </a:xfrm>
          <a:prstGeom prst="roundRect">
            <a:avLst>
              <a:gd name="adj" fmla="val 9000"/>
            </a:avLst>
          </a:prstGeom>
          <a:solidFill>
            <a:srgbClr val="EDE7F5"/>
          </a:solidFill>
          <a:ln w="1524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3047" y="2514600"/>
            <a:ext cx="499856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양자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852928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5 × 16큐빗 VQC (8층 깊이)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02203" y="3429000"/>
            <a:ext cx="274320" cy="36576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8915171" y="3429000"/>
            <a:ext cx="274320" cy="365760"/>
          </a:xfrm>
          <a:prstGeom prst="downArrow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10911535" cy="685800"/>
          </a:xfrm>
          <a:prstGeom prst="roundRect">
            <a:avLst>
              <a:gd name="adj" fmla="val 9000"/>
            </a:avLst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59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skip-connection 융합 (concat)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754880"/>
            <a:ext cx="274320" cy="365760"/>
          </a:xfrm>
          <a:prstGeom prst="downArrow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5257800"/>
            <a:ext cx="6339535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5330952"/>
            <a:ext cx="63395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고전 decoder → 생성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encoding: angle encoding(Rx→Ry) · 학습 layer: Ry+CNOT 반복 · 측정: X-basis readout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F0B3A9D5-3519-4377-9DB2-35A3E706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2223941-1ED2-40BB-A9BD-AF2C292EB5DD}"/>
              </a:ext>
            </a:extLst>
          </p:cNvPr>
          <p:cNvGrpSpPr/>
          <p:nvPr/>
        </p:nvGrpSpPr>
        <p:grpSpPr>
          <a:xfrm>
            <a:off x="6433553" y="189053"/>
            <a:ext cx="5237554" cy="1946605"/>
            <a:chOff x="3215192" y="4210843"/>
            <a:chExt cx="5761309" cy="2141266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F18A8B7-CA8E-43D5-A2A4-59EBA8FEB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5192" y="4210843"/>
              <a:ext cx="5761309" cy="2141266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958993D-932D-4CAD-9733-44D12A713670}"/>
                </a:ext>
              </a:extLst>
            </p:cNvPr>
            <p:cNvSpPr/>
            <p:nvPr/>
          </p:nvSpPr>
          <p:spPr>
            <a:xfrm>
              <a:off x="6602984" y="4381718"/>
              <a:ext cx="597119" cy="17437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5269EF8-018B-4397-9A03-586D39EBE807}"/>
                </a:ext>
              </a:extLst>
            </p:cNvPr>
            <p:cNvSpPr/>
            <p:nvPr/>
          </p:nvSpPr>
          <p:spPr>
            <a:xfrm>
              <a:off x="7352503" y="4381718"/>
              <a:ext cx="760983" cy="17437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VQC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VQA·QAOA와의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같은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파라미터화된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회로 + 고전 최적화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구조 공유, encoding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대상과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목적은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상이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2B41455-1BDF-4C31-AA4B-A1A1E5E3C001}"/>
              </a:ext>
            </a:extLst>
          </p:cNvPr>
          <p:cNvGrpSpPr/>
          <p:nvPr/>
        </p:nvGrpSpPr>
        <p:grpSpPr>
          <a:xfrm>
            <a:off x="640080" y="5247805"/>
            <a:ext cx="10911535" cy="1050000"/>
            <a:chOff x="640080" y="5733120"/>
            <a:chExt cx="10911535" cy="1050000"/>
          </a:xfrm>
        </p:grpSpPr>
        <p:sp>
          <p:nvSpPr>
            <p:cNvPr id="17" name="Rounded Rectangle 16"/>
            <p:cNvSpPr/>
            <p:nvPr/>
          </p:nvSpPr>
          <p:spPr>
            <a:xfrm>
              <a:off x="640080" y="5733120"/>
              <a:ext cx="10911535" cy="1050000"/>
            </a:xfrm>
            <a:prstGeom prst="roundRect">
              <a:avLst/>
            </a:prstGeom>
            <a:solidFill>
              <a:srgbClr val="EDE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5870280"/>
              <a:ext cx="10362895" cy="274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1" i="0">
                  <a:solidFill>
                    <a:srgbClr val="5B3E8C"/>
                  </a:solidFill>
                  <a:latin typeface="Noto Sans KR"/>
                  <a:ea typeface="Noto Sans KR"/>
                  <a:cs typeface="Noto Sans KR"/>
                </a:rPr>
                <a:t>공통점 vs 차이점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4400" y="6164447"/>
              <a:ext cx="10362895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공통점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: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파라미터화된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회로 → 측정 → 고전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optimizer가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파라미터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업데이트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(hybrid loop)</a:t>
              </a:r>
              <a:endPara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pPr marL="171450" indent="-171450" algn="l">
                <a:buFontTx/>
                <a:buChar char="-"/>
              </a:pP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차이점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: encoding 대상(데이터 vs 문제)과 학습 목표</a:t>
              </a:r>
            </a:p>
          </p:txBody>
        </p:sp>
      </p:grp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B7369B8-CDF0-433E-AF9E-F57FD482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4C08528-3A1E-4D58-8DFF-39B30F290BC0}"/>
              </a:ext>
            </a:extLst>
          </p:cNvPr>
          <p:cNvGrpSpPr/>
          <p:nvPr/>
        </p:nvGrpSpPr>
        <p:grpSpPr>
          <a:xfrm>
            <a:off x="640080" y="1939062"/>
            <a:ext cx="10881360" cy="3250199"/>
            <a:chOff x="640080" y="2103120"/>
            <a:chExt cx="10881360" cy="3575219"/>
          </a:xfrm>
        </p:grpSpPr>
        <p:sp>
          <p:nvSpPr>
            <p:cNvPr id="5" name="Rectangle 4"/>
            <p:cNvSpPr/>
            <p:nvPr/>
          </p:nvSpPr>
          <p:spPr>
            <a:xfrm>
              <a:off x="640080" y="2103120"/>
              <a:ext cx="10881360" cy="530000"/>
            </a:xfrm>
            <a:prstGeom prst="rect">
              <a:avLst/>
            </a:prstGeom>
            <a:solidFill>
              <a:srgbClr val="1E39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2130551"/>
              <a:ext cx="2240280" cy="47513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개념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91840" y="2130551"/>
              <a:ext cx="7635240" cy="47513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정의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0080" y="2633120"/>
              <a:ext cx="10881360" cy="90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7240" y="2867676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VQA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(Variational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Quantum Algorithm)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91840" y="2952315"/>
              <a:ext cx="7635240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파라미터화된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양자회로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+ 고전 최적화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루프를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사용하는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알고리즘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상위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범주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533120"/>
              <a:ext cx="10881360" cy="1000000"/>
            </a:xfrm>
            <a:prstGeom prst="rect">
              <a:avLst/>
            </a:prstGeom>
            <a:solidFill>
              <a:srgbClr val="EDEB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3817676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VQC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(Variational Quantum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Classifier/Circuit)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91840" y="3902315"/>
              <a:ext cx="7635240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분류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등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지도학습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목적의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구체적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구현 - 데이터 encoding + 학습 가능한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ansatz로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구성 (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MediQ-GAN의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양자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아키텍처 방식</a:t>
              </a:r>
              <a:r>
                <a:rPr lang="en-US" altLang="ko-KR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)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0080" y="4533120"/>
              <a:ext cx="10881360" cy="100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7240" y="4817675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QAOA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(Quantum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Approximate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Optimization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Algorithm)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91840" y="4796131"/>
              <a:ext cx="7635240" cy="4739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조합최적화 문제(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MaxCut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등)</a:t>
              </a:r>
              <a:r>
                <a:rPr 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등 목적</a:t>
              </a:r>
              <a:endParaRPr lang="en-US" altLang="ko-KR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- cost layer(γ)와 mixer layer(β)를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번갈아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적용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sp>
        <p:nvSpPr>
          <p:cNvPr id="23" name="qaoa_1"/>
          <p:cNvSpPr/>
          <p:nvPr/>
        </p:nvSpPr>
        <p:spPr>
          <a:xfrm>
            <a:off x="7360920" y="4334256"/>
            <a:ext cx="2651760" cy="713232"/>
          </a:xfrm>
          <a:prstGeom prst="roundRect">
            <a:avLst/>
          </a:prstGeom>
          <a:solidFill>
            <a:srgbClr val="E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qaoa_2"/>
          <p:cNvSpPr/>
          <p:nvPr/>
        </p:nvSpPr>
        <p:spPr>
          <a:xfrm>
            <a:off x="10049256" y="4626864"/>
            <a:ext cx="329184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80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× p</a:t>
            </a:r>
          </a:p>
        </p:txBody>
      </p:sp>
      <p:sp>
        <p:nvSpPr>
          <p:cNvPr id="25" name="qaoa_3"/>
          <p:cNvSpPr/>
          <p:nvPr/>
        </p:nvSpPr>
        <p:spPr>
          <a:xfrm>
            <a:off x="6629400" y="4361688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q0</a:t>
            </a:r>
          </a:p>
        </p:txBody>
      </p:sp>
      <p:sp>
        <p:nvSpPr>
          <p:cNvPr id="26" name="qaoa_4"/>
          <p:cNvSpPr/>
          <p:nvPr/>
        </p:nvSpPr>
        <p:spPr>
          <a:xfrm>
            <a:off x="6903720" y="4420210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qaoa_5"/>
          <p:cNvSpPr/>
          <p:nvPr/>
        </p:nvSpPr>
        <p:spPr>
          <a:xfrm>
            <a:off x="6629400" y="4535424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q1</a:t>
            </a:r>
          </a:p>
        </p:txBody>
      </p:sp>
      <p:sp>
        <p:nvSpPr>
          <p:cNvPr id="28" name="qaoa_6"/>
          <p:cNvSpPr/>
          <p:nvPr/>
        </p:nvSpPr>
        <p:spPr>
          <a:xfrm>
            <a:off x="6903720" y="4593946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qaoa_7"/>
          <p:cNvSpPr/>
          <p:nvPr/>
        </p:nvSpPr>
        <p:spPr>
          <a:xfrm>
            <a:off x="6629400" y="4709160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q2</a:t>
            </a:r>
          </a:p>
        </p:txBody>
      </p:sp>
      <p:sp>
        <p:nvSpPr>
          <p:cNvPr id="30" name="qaoa_8"/>
          <p:cNvSpPr/>
          <p:nvPr/>
        </p:nvSpPr>
        <p:spPr>
          <a:xfrm>
            <a:off x="6903720" y="4767682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qaoa_9"/>
          <p:cNvSpPr/>
          <p:nvPr/>
        </p:nvSpPr>
        <p:spPr>
          <a:xfrm>
            <a:off x="6629400" y="4882896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q3</a:t>
            </a:r>
          </a:p>
        </p:txBody>
      </p:sp>
      <p:sp>
        <p:nvSpPr>
          <p:cNvPr id="32" name="qaoa_10"/>
          <p:cNvSpPr/>
          <p:nvPr/>
        </p:nvSpPr>
        <p:spPr>
          <a:xfrm>
            <a:off x="6903720" y="4941418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qaoa_11"/>
          <p:cNvSpPr/>
          <p:nvPr/>
        </p:nvSpPr>
        <p:spPr>
          <a:xfrm>
            <a:off x="6903720" y="4206240"/>
            <a:ext cx="41148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초기화</a:t>
            </a:r>
          </a:p>
        </p:txBody>
      </p:sp>
      <p:sp>
        <p:nvSpPr>
          <p:cNvPr id="34" name="qaoa_12"/>
          <p:cNvSpPr/>
          <p:nvPr/>
        </p:nvSpPr>
        <p:spPr>
          <a:xfrm>
            <a:off x="7406640" y="4206240"/>
            <a:ext cx="173736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비용 층(γ) - 간선마다 ZZ 상호작용</a:t>
            </a:r>
          </a:p>
        </p:txBody>
      </p:sp>
      <p:sp>
        <p:nvSpPr>
          <p:cNvPr id="35" name="qaoa_13"/>
          <p:cNvSpPr/>
          <p:nvPr/>
        </p:nvSpPr>
        <p:spPr>
          <a:xfrm>
            <a:off x="9052560" y="4206240"/>
            <a:ext cx="566928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믹서 층(β)</a:t>
            </a:r>
          </a:p>
        </p:txBody>
      </p:sp>
      <p:sp>
        <p:nvSpPr>
          <p:cNvPr id="36" name="qaoa_14"/>
          <p:cNvSpPr/>
          <p:nvPr/>
        </p:nvSpPr>
        <p:spPr>
          <a:xfrm>
            <a:off x="10378440" y="4206240"/>
            <a:ext cx="50292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측정</a:t>
            </a:r>
          </a:p>
        </p:txBody>
      </p:sp>
      <p:sp>
        <p:nvSpPr>
          <p:cNvPr id="37" name="qaoa_15"/>
          <p:cNvSpPr/>
          <p:nvPr/>
        </p:nvSpPr>
        <p:spPr>
          <a:xfrm>
            <a:off x="7004304" y="4357116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38" name="qaoa_16"/>
          <p:cNvSpPr/>
          <p:nvPr/>
        </p:nvSpPr>
        <p:spPr>
          <a:xfrm>
            <a:off x="7004304" y="4530852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39" name="qaoa_17"/>
          <p:cNvSpPr/>
          <p:nvPr/>
        </p:nvSpPr>
        <p:spPr>
          <a:xfrm>
            <a:off x="7004304" y="4704588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0" name="qaoa_18"/>
          <p:cNvSpPr/>
          <p:nvPr/>
        </p:nvSpPr>
        <p:spPr>
          <a:xfrm>
            <a:off x="7004304" y="4878324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1" name="qaoa_19"/>
          <p:cNvSpPr/>
          <p:nvPr/>
        </p:nvSpPr>
        <p:spPr>
          <a:xfrm>
            <a:off x="7629754" y="4425696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qaoa_20"/>
          <p:cNvSpPr/>
          <p:nvPr/>
        </p:nvSpPr>
        <p:spPr>
          <a:xfrm>
            <a:off x="7600950" y="4391406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qaoa_21"/>
          <p:cNvSpPr/>
          <p:nvPr/>
        </p:nvSpPr>
        <p:spPr>
          <a:xfrm>
            <a:off x="7600950" y="4565142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qaoa_22"/>
          <p:cNvSpPr/>
          <p:nvPr/>
        </p:nvSpPr>
        <p:spPr>
          <a:xfrm>
            <a:off x="7680960" y="4457700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45" name="qaoa_23"/>
          <p:cNvSpPr/>
          <p:nvPr/>
        </p:nvSpPr>
        <p:spPr>
          <a:xfrm>
            <a:off x="7629754" y="4773168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qaoa_24"/>
          <p:cNvSpPr/>
          <p:nvPr/>
        </p:nvSpPr>
        <p:spPr>
          <a:xfrm>
            <a:off x="7600950" y="4738878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qaoa_25"/>
          <p:cNvSpPr/>
          <p:nvPr/>
        </p:nvSpPr>
        <p:spPr>
          <a:xfrm>
            <a:off x="7600950" y="4912614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qaoa_26"/>
          <p:cNvSpPr/>
          <p:nvPr/>
        </p:nvSpPr>
        <p:spPr>
          <a:xfrm>
            <a:off x="7680960" y="4805172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49" name="qaoa_27"/>
          <p:cNvSpPr/>
          <p:nvPr/>
        </p:nvSpPr>
        <p:spPr>
          <a:xfrm>
            <a:off x="8178394" y="4599432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qaoa_28"/>
          <p:cNvSpPr/>
          <p:nvPr/>
        </p:nvSpPr>
        <p:spPr>
          <a:xfrm>
            <a:off x="8149590" y="4565142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qaoa_29"/>
          <p:cNvSpPr/>
          <p:nvPr/>
        </p:nvSpPr>
        <p:spPr>
          <a:xfrm>
            <a:off x="8149590" y="4738878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qaoa_30"/>
          <p:cNvSpPr/>
          <p:nvPr/>
        </p:nvSpPr>
        <p:spPr>
          <a:xfrm>
            <a:off x="8229600" y="4631436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53" name="qaoa_31"/>
          <p:cNvSpPr/>
          <p:nvPr/>
        </p:nvSpPr>
        <p:spPr>
          <a:xfrm>
            <a:off x="8727034" y="4425696"/>
            <a:ext cx="10973" cy="521208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qaoa_32"/>
          <p:cNvSpPr/>
          <p:nvPr/>
        </p:nvSpPr>
        <p:spPr>
          <a:xfrm>
            <a:off x="8698230" y="4391406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qaoa_33"/>
          <p:cNvSpPr/>
          <p:nvPr/>
        </p:nvSpPr>
        <p:spPr>
          <a:xfrm>
            <a:off x="8698230" y="4912614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qaoa_34"/>
          <p:cNvSpPr/>
          <p:nvPr/>
        </p:nvSpPr>
        <p:spPr>
          <a:xfrm>
            <a:off x="8778240" y="4631436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57" name="qaoa_35"/>
          <p:cNvSpPr/>
          <p:nvPr/>
        </p:nvSpPr>
        <p:spPr>
          <a:xfrm>
            <a:off x="9235440" y="4357116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58" name="qaoa_36"/>
          <p:cNvSpPr/>
          <p:nvPr/>
        </p:nvSpPr>
        <p:spPr>
          <a:xfrm>
            <a:off x="9235440" y="4530852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59" name="qaoa_37"/>
          <p:cNvSpPr/>
          <p:nvPr/>
        </p:nvSpPr>
        <p:spPr>
          <a:xfrm>
            <a:off x="9235440" y="4704588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60" name="qaoa_38"/>
          <p:cNvSpPr/>
          <p:nvPr/>
        </p:nvSpPr>
        <p:spPr>
          <a:xfrm>
            <a:off x="9235440" y="4878324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61" name="qaoa_39"/>
          <p:cNvSpPr/>
          <p:nvPr/>
        </p:nvSpPr>
        <p:spPr>
          <a:xfrm>
            <a:off x="10469880" y="4357116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2" name="qaoa_40"/>
          <p:cNvSpPr/>
          <p:nvPr/>
        </p:nvSpPr>
        <p:spPr>
          <a:xfrm>
            <a:off x="10469880" y="4530852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3" name="qaoa_41"/>
          <p:cNvSpPr/>
          <p:nvPr/>
        </p:nvSpPr>
        <p:spPr>
          <a:xfrm>
            <a:off x="10469880" y="4704588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4" name="qaoa_42"/>
          <p:cNvSpPr/>
          <p:nvPr/>
        </p:nvSpPr>
        <p:spPr>
          <a:xfrm>
            <a:off x="10469880" y="4878324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r>
              <a:rPr dirty="0"/>
              <a:t>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안의 두 종류 파라미터 - encoding vs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데이터를 넣는 게이트와 학습으로 값이 바뀌는 게이트, 역할 차이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69EA3F1-AE92-46D7-A153-76A5EAF7F09C}"/>
              </a:ext>
            </a:extLst>
          </p:cNvPr>
          <p:cNvGrpSpPr/>
          <p:nvPr/>
        </p:nvGrpSpPr>
        <p:grpSpPr>
          <a:xfrm>
            <a:off x="640081" y="2103120"/>
            <a:ext cx="5455920" cy="2594296"/>
            <a:chOff x="640080" y="2103120"/>
            <a:chExt cx="6769463" cy="2594296"/>
          </a:xfrm>
        </p:grpSpPr>
        <p:sp>
          <p:nvSpPr>
            <p:cNvPr id="5" name="Rectangle 4"/>
            <p:cNvSpPr/>
            <p:nvPr/>
          </p:nvSpPr>
          <p:spPr>
            <a:xfrm>
              <a:off x="640080" y="2103120"/>
              <a:ext cx="6750743" cy="479405"/>
            </a:xfrm>
            <a:prstGeom prst="rect">
              <a:avLst/>
            </a:prstGeom>
            <a:solidFill>
              <a:srgbClr val="1E39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25173" y="2127932"/>
              <a:ext cx="1389859" cy="4297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구분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85219" y="2127932"/>
              <a:ext cx="4736866" cy="4297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위치 / 값의 성격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0080" y="2582525"/>
              <a:ext cx="6750743" cy="678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5173" y="2607337"/>
              <a:ext cx="1389859" cy="62877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encoding 파라미터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85219" y="2706282"/>
              <a:ext cx="4736866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회로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앞단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데이터 encoding 게이트 -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입력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데이터 x </a:t>
              </a:r>
              <a:endPara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(대부분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고정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학습 대상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아님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260928"/>
              <a:ext cx="6750743" cy="814084"/>
            </a:xfrm>
            <a:prstGeom prst="rect">
              <a:avLst/>
            </a:prstGeom>
            <a:solidFill>
              <a:srgbClr val="EDEB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25173" y="3285740"/>
              <a:ext cx="1389859" cy="7644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학습 파라미터 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5219" y="3452525"/>
              <a:ext cx="4736866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encoding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이후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variational ansatz -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회전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게이트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각도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CNO</a:t>
              </a:r>
              <a:r>
                <a:rPr 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T, 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entangling 게이트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사이사이에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위치,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학습으로</a:t>
              </a:r>
              <a:r>
                <a:rPr lang="en-US" sz="110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업데이트됨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0080" y="4266529"/>
              <a:ext cx="6769463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layer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=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회전게이트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(θ, 파라미터 O) + CNOT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체인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(파라미터 X,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얽힘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담당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) </a:t>
              </a:r>
              <a:endParaRPr lang="en-US"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endParaRPr>
            </a:p>
            <a:p>
              <a:pPr algn="l"/>
              <a:r>
                <a:rPr lang="en-US"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16</a:t>
              </a:r>
              <a:r>
                <a:rPr lang="ko-KR" altLang="en-US"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큐빗 ×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8층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→ sub-generator당 파라미터 128개 (5개 합계 640개)</a:t>
              </a:r>
            </a:p>
          </p:txBody>
        </p:sp>
      </p:grp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96B42643-6771-4676-92E6-FD4DECFB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F1440AA-2CE1-463F-AE4C-498786800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495" y="2103120"/>
            <a:ext cx="5626679" cy="2991770"/>
          </a:xfrm>
          <a:prstGeom prst="rect">
            <a:avLst/>
          </a:prstGeom>
        </p:spPr>
      </p:pic>
      <p:sp>
        <p:nvSpPr>
          <p:cNvPr id="21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  <p:sp>
        <p:nvSpPr>
          <p:cNvPr id="14" name="code_note"/>
          <p:cNvSpPr txBox="1"/>
          <p:nvPr/>
        </p:nvSpPr>
        <p:spPr>
          <a:xfrm>
            <a:off x="640080" y="6428232"/>
            <a:ext cx="50292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※ 그림은 논문 기준(Rx→Ry·CNOT), 공식 코드는 RY→RX·CZ - 3일차 데모는 코드 기준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VQC의 출력값 - bitstring이 아니라 연속값(기댓값)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단일 측정은 0/1, 모델이 실제로 쓰는 값은 여러 번 측정을 평균낸 기댓값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8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35759"/>
            <a:ext cx="10911535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m(z; Θ) = (⟨X₁⟩, ..., ⟨X</a:t>
            </a:r>
            <a:r>
              <a:rPr sz="1900" b="1" baseline="-2500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N</a:t>
            </a:r>
            <a:r>
              <a:rPr sz="19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⟩)  ∈  [-1, 1]</a:t>
            </a:r>
            <a:r>
              <a:rPr sz="1900" b="1" baseline="3000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3120"/>
            <a:ext cx="10881360" cy="53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180551"/>
            <a:ext cx="2240280" cy="47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180551"/>
            <a:ext cx="7635240" cy="47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83120"/>
            <a:ext cx="10881360" cy="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710551"/>
            <a:ext cx="224028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단일 shot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10551"/>
            <a:ext cx="763524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이산적 0/1 bitstring - 확률적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33120"/>
            <a:ext cx="10881360" cy="9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60551"/>
            <a:ext cx="224028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모델 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60551"/>
            <a:ext cx="763524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⟨Xᵢ⟩ 연속값(continuous) - classical decoder에 바로 투입 가능, gradient 계산도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33120"/>
            <a:ext cx="10881360" cy="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26055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수치 안정화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260551"/>
            <a:ext cx="763524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h(m) = σ(LeakyReLU(LayerNorm(m))) 적용 후 classical stream과 fusion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C7277908-B472-4E01-BC96-DECF0C8E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채택 방식 - Exact State Vector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공식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코드(mediq-gan.py)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911535" cy="135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454335" cy="1075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dev = qml.device("lightning.qubit", wires=args.n_qubits)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@qml.qnode(dev, interface="torch", diff_method="adjoint")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def circuit(...):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    ...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    return [qml.expval(qml.PauliX(i)) for i in range(args.n_qubits)]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00000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627431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627431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00000"/>
            <a:ext cx="10881360" cy="5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127431"/>
            <a:ext cx="2240280" cy="4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shots 미지정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127431"/>
            <a:ext cx="7635240" cy="4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PennyLane 기본값 shots=None → 분석적(exact) 기댓값 계산, 반복 측정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50000"/>
            <a:ext cx="10881360" cy="75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67743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diff_method="adjoint"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809556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state vector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접근이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있어야만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가능한 gradient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계산법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데모도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공식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레포와</a:t>
            </a:r>
            <a:r>
              <a:rPr 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동일하게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adjoint 사용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00000"/>
            <a:ext cx="10881360" cy="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42743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state vector 규모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559556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n큐빗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2ⁿ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차원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복소벡터로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완전 표현(16qubit→65,536차원,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노트북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처리 가능)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게이트 적용=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유니터리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행렬곱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(확률적 요소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없음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3F6DD49-49FB-47CA-8754-08136482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Hardware-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agnostic</a:t>
            </a:r>
            <a:r>
              <a:rPr lang="en-US" altLang="ko-KR"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 원문 그대로 인용 시 오해하기 쉬운 표현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87008"/>
            <a:ext cx="10911535" cy="950000"/>
          </a:xfrm>
          <a:prstGeom prst="round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24168"/>
            <a:ext cx="103628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 원문 인용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68336"/>
            <a:ext cx="103628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“Our approach is quantum-inspired and </a:t>
            </a:r>
            <a:r>
              <a:rPr sz="12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hardware-agnostic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: the correctness does not depend on quantum execution, and</a:t>
            </a:r>
          </a:p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quantum devices serve only to accelerate computation.”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37008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1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64439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37008"/>
            <a:ext cx="10881360" cy="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6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오해 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664439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하드웨어를 아예 안 썼다는 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37008"/>
            <a:ext cx="10881360" cy="7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64439"/>
            <a:ext cx="224028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 뜻 (O)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164439"/>
            <a:ext cx="763524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모델의 타당성이 특정 실행 환경(시뮬레이터 vs 실제 큐빗)에 좌우되지 않도록 설계했다는 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37008"/>
            <a:ext cx="10881360" cy="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8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학습(training)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956203"/>
            <a:ext cx="7635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state vector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시뮬레이터로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진행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37008"/>
            <a:ext cx="10881360" cy="7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56203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NISQ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556203"/>
            <a:ext cx="7635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완료된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IBM Marrakesh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실기에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올려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inference만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검증 (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성능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소폭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저하되었으나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비교 가능한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수준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77D998D5-B17D-4375-8779-0FCE5712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shot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기반으로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학습한다면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Parameter-shift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Exact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statevector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방식이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아니라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gradient를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구할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때 쓰는 규칙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80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11535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∂⟨Xᵢ⟩/∂θⱼ = [⟨Xᵢ⟩(θⱼ+π/2) − ⟨Xᵢ⟩(θⱼ−π/2)]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2494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99925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99925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2494"/>
            <a:ext cx="1088136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99925"/>
            <a:ext cx="224028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07050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내부를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역전파로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거슬러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올라가는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게 아니라,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θⱼ를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shift한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처음부터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끝까지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2번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새로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실행해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얻은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결과값의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단순 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뺄셈</a:t>
            </a:r>
            <a:endParaRPr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4372494"/>
            <a:ext cx="10881360" cy="75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99925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순전파(forward) 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99925"/>
            <a:ext cx="763524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shift된 회로는 전혀 실행되지 않음 - 원래 θ값으로 1번만 실행, 그 출력이 다음 classical layer로 전달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22494"/>
            <a:ext cx="10881360" cy="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149925"/>
            <a:ext cx="224028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역전파(backward) 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149925"/>
            <a:ext cx="763524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+π/2, −π/2 두 회로가 파라미터 하나마다 개별적으로 실행됨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29751"/>
            <a:ext cx="1091153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전체 chain rule: 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dLoss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dθ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ⱼ =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dLoss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d⟨X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ᵢ⟩ (classical backprop)  × 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d⟨X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ᵢ⟩/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dθ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ⱼ (parameter-shift,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뺄셈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기반)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933DCC47-9CF9-4E2E-8757-04A97479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 비용 </a:t>
            </a: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–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현재 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 어려움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파라미터 수만큼 회로를 반복 실행해야 하는 구조적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6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66537"/>
            <a:ext cx="10911535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총 회로 실행 </a:t>
            </a:r>
            <a:r>
              <a:rPr sz="1500" b="1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= C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500" b="1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순전파 회로 수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) + 2P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(파라미터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별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+shift, −shift)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03120"/>
            <a:ext cx="10881360" cy="48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3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파라미터 수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3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회로 실행 횟수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120"/>
            <a:ext cx="10881360" cy="4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92315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640 (회로 5개 × 16큐빗 × 8층)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41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5 + 1,280 = 1,285회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63120"/>
            <a:ext cx="10881360" cy="48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9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89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 + 20,000 = 20,001회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43119"/>
            <a:ext cx="10911535" cy="1269851"/>
          </a:xfrm>
          <a:prstGeom prst="roundRect">
            <a:avLst/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43995"/>
            <a:ext cx="103628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 dirty="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측정 </a:t>
            </a:r>
            <a:r>
              <a:rPr sz="1050" b="1" i="0" dirty="0" err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횟수까지</a:t>
            </a:r>
            <a:r>
              <a:rPr sz="1050" b="1" i="0" dirty="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곱하면</a:t>
            </a:r>
            <a:endParaRPr sz="1050" b="1" i="0" dirty="0">
              <a:solidFill>
                <a:srgbClr val="9C5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957144"/>
            <a:ext cx="1036289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총 측정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회로 실행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× shots.  </a:t>
            </a:r>
            <a:endParaRPr lang="en-US" sz="120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marL="171450" indent="-171450" algn="l">
              <a:buFontTx/>
              <a:buChar char="-"/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P=10,000, shots=1,024 → 20,001×1,024 ≈ 약 2,048만 회.  </a:t>
            </a:r>
            <a:endParaRPr lang="en-US" sz="120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marL="171450" indent="-171450" algn="l">
              <a:buFontTx/>
              <a:buChar char="-"/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batch 32·학습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step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10,000까지</a:t>
            </a:r>
            <a:r>
              <a: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포함하면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20,001×1,024×32×10,000 ≈ 6.5×10¹²(약 6.5조 회)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CC8FB0C-EAA3-4BFB-8D9E-25A23A24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11614"/>
            <a:ext cx="91440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100" normalizeH="0" baseline="0" noProof="0" dirty="0">
                <a:ln>
                  <a:noFill/>
                </a:ln>
                <a:solidFill>
                  <a:srgbClr val="CFC9B8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CHAPTER </a:t>
            </a:r>
            <a:r>
              <a:rPr kumimoji="0" lang="en-US" sz="1150" b="1" i="0" u="none" strike="noStrike" kern="1200" cap="none" spc="100" normalizeH="0" baseline="0" noProof="0" dirty="0">
                <a:ln>
                  <a:noFill/>
                </a:ln>
                <a:solidFill>
                  <a:srgbClr val="CFC9B8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3</a:t>
            </a:r>
            <a:endParaRPr kumimoji="0" sz="1150" b="1" i="0" u="none" strike="noStrike" kern="1200" cap="none" spc="100" normalizeH="0" baseline="0" noProof="0" dirty="0">
              <a:ln>
                <a:noFill/>
              </a:ln>
              <a:solidFill>
                <a:srgbClr val="CFC9B8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40767"/>
            <a:ext cx="1091153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내용 정리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66FDF35-6200-4228-B916-826938ED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056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lang="en-US" altLang="ko-KR" dirty="0"/>
              <a:t>03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/>
              <a:t>내용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비교 요약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및 정리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QGAN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lang="en-US" altLang="ko-KR" sz="130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MediQ</a:t>
            </a:r>
            <a:r>
              <a:rPr lang="en-US" altLang="ko-KR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-GAN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정리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799" y="2288954"/>
            <a:ext cx="42519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139696"/>
            <a:ext cx="39776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MediQ-GAN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79191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Hybrid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845287"/>
            <a:ext cx="42519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model-level</a:t>
            </a:r>
            <a:r>
              <a:rPr sz="105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/>
            </a: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(</a:t>
            </a:r>
            <a:r>
              <a:rPr lang="en-US"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전체 양자)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845287"/>
            <a:ext cx="3977639" cy="16158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>layer-level</a:t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/>
            </a: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/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> (</a:t>
            </a: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>dual-stream</a:t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큐빗 규모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3393928"/>
            <a:ext cx="42519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7+1큐빗 × </a:t>
            </a:r>
            <a:r>
              <a:rPr 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sub-generator</a:t>
            </a: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16개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5 × 16큐빗 VQC(</a:t>
            </a:r>
            <a:r>
              <a:rPr sz="10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stream</a:t>
            </a: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하나)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77647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3776472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(피부병변, 2클래스 집중)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77647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ISIC2019 · ODIR-5k · RetinaMNIST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97679"/>
            <a:ext cx="10881360" cy="54864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799" y="4325112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 전/후 CNN 분류 성능(AUC-ROC)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2511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클래스별 FID·LPIPS + 실기(IBM) 검증</a:t>
            </a: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FA7D5DAA-0239-4D91-AFD9-A4F5A77E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· </a:t>
            </a:r>
            <a:r>
              <a:rPr lang="ko-KR" altLang="en-US" dirty="0"/>
              <a:t>내용 정리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현재 단계에서의 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QML 연구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방향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QML 연구에서는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연산 비용을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줄이는 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방향이 논의되고 있음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48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판단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13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83120"/>
            <a:ext cx="10881360" cy="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802314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parameter-shift</a:t>
            </a:r>
            <a:r>
              <a:rPr lang="en-US"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구현</a:t>
            </a:r>
            <a:endParaRPr sz="1100" b="1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0" y="2610551"/>
            <a:ext cx="763524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비현실적 - 계산상 명확함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83120"/>
            <a:ext cx="10881360" cy="48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1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QML 연구 전체의 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31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유효함 - 아래 방향의 연구가 활발히 진행 중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594607C-7846-40A1-8988-C723FAC6C330}"/>
              </a:ext>
            </a:extLst>
          </p:cNvPr>
          <p:cNvGrpSpPr/>
          <p:nvPr/>
        </p:nvGrpSpPr>
        <p:grpSpPr>
          <a:xfrm>
            <a:off x="640080" y="4196691"/>
            <a:ext cx="11213784" cy="1355144"/>
            <a:chOff x="640080" y="3942976"/>
            <a:chExt cx="11213784" cy="1355144"/>
          </a:xfrm>
        </p:grpSpPr>
        <p:sp>
          <p:nvSpPr>
            <p:cNvPr id="14" name="Rectangle 13"/>
            <p:cNvSpPr/>
            <p:nvPr/>
          </p:nvSpPr>
          <p:spPr>
            <a:xfrm>
              <a:off x="640080" y="3983120"/>
              <a:ext cx="73152" cy="560000"/>
            </a:xfrm>
            <a:prstGeom prst="rect">
              <a:avLst/>
            </a:prstGeom>
            <a:solidFill>
              <a:srgbClr val="0075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3964832"/>
              <a:ext cx="10637215" cy="30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200" b="1" i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SPSA (Simultaneous Perturbation Stochastic Approximation)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4248120"/>
              <a:ext cx="10637215" cy="35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0" i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파라미터 개수와 무관하게 매 step 회로 2번만 실행해 gradient 근사(정확도는 다소 하락)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0080" y="4683120"/>
              <a:ext cx="73152" cy="560000"/>
            </a:xfrm>
            <a:prstGeom prst="rect">
              <a:avLst/>
            </a:prstGeom>
            <a:solidFill>
              <a:srgbClr val="0062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4664832"/>
              <a:ext cx="10637215" cy="30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200" b="1" i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Classical shadow tomography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4400" y="4948120"/>
              <a:ext cx="10637215" cy="35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0" i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적은 측정 횟수로 여러 관측량을 동시 추정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D3C27CDA-6CA3-4DB3-B857-4619CFDA1191}"/>
                </a:ext>
              </a:extLst>
            </p:cNvPr>
            <p:cNvGrpSpPr/>
            <p:nvPr/>
          </p:nvGrpSpPr>
          <p:grpSpPr>
            <a:xfrm>
              <a:off x="5954093" y="3942976"/>
              <a:ext cx="5899771" cy="1273746"/>
              <a:chOff x="640080" y="5376332"/>
              <a:chExt cx="5899771" cy="127374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40080" y="5383120"/>
                <a:ext cx="73152" cy="560000"/>
              </a:xfrm>
              <a:prstGeom prst="rect">
                <a:avLst/>
              </a:prstGeom>
              <a:solidFill>
                <a:srgbClr val="9C5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914401" y="5376332"/>
                <a:ext cx="562545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200" b="1" i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Quantum Natural Gradient (QNG)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14401" y="5696162"/>
                <a:ext cx="5625450" cy="25391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050" b="0" i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더 적은 step으로 수렴시켜 전체 실행 횟수 절감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640080" y="6083120"/>
                <a:ext cx="73152" cy="560000"/>
              </a:xfrm>
              <a:prstGeom prst="rect">
                <a:avLst/>
              </a:prstGeom>
              <a:solidFill>
                <a:srgbClr val="5B3E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14401" y="6076332"/>
                <a:ext cx="562545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DLA</a:t>
                </a:r>
                <a:r>
                  <a:rPr lang="en-US"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 </a:t>
                </a:r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(</a:t>
                </a:r>
                <a:r>
                  <a:rPr lang="en-US"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Dynamical Lie Algebra</a:t>
                </a:r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) 기반 회로 설계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14401" y="6396162"/>
                <a:ext cx="5625450" cy="25391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barren 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plateau를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피하며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필요한 파라미터/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깊이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최소화</a:t>
                </a:r>
              </a:p>
            </p:txBody>
          </p:sp>
        </p:grpSp>
      </p:grpSp>
      <p:sp>
        <p:nvSpPr>
          <p:cNvPr id="28" name="슬라이드 번호 개체 틀 27">
            <a:extLst>
              <a:ext uri="{FF2B5EF4-FFF2-40B4-BE49-F238E27FC236}">
                <a16:creationId xmlns:a16="http://schemas.microsoft.com/office/drawing/2014/main" id="{7EAA0E34-7F54-486A-9937-45725BC9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· </a:t>
            </a:r>
            <a:r>
              <a:rPr lang="ko-KR" altLang="en-US" dirty="0"/>
              <a:t>내용 정리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이미지 생성 분야에서 양자 알고리즘 유의점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 생성 모델은 </a:t>
            </a:r>
            <a:r>
              <a:rPr lang="ko-KR" altLang="en-US" sz="1300" b="1" i="0" dirty="0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양자 데이터</a:t>
            </a:r>
            <a:r>
              <a:rPr lang="en-US" altLang="ko-KR" sz="1300" b="1" i="0" dirty="0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i="0" dirty="0" err="1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해밀토니안</a:t>
            </a:r>
            <a:r>
              <a:rPr lang="ko-KR" altLang="en-US" sz="1300" b="1" i="0" dirty="0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 상태 등을 만드는 데 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특화되어 있기에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기존 데이터가 많은 영역</a:t>
            </a:r>
            <a:r>
              <a:rPr lang="en-US" altLang="ko-KR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모델</a:t>
            </a:r>
            <a:r>
              <a:rPr lang="en-US" altLang="ko-KR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컴퓨팅이 잘하는 영역에 대한 성과는 검증 단계</a:t>
            </a:r>
            <a:endParaRPr sz="1300" b="1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BB9815EA-499D-4AE2-91F2-704EAEFF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26" name="Picture 2" descr="Reduction of the molecular hamiltonian matrix using quantum community  detection | Scientific Reports">
            <a:extLst>
              <a:ext uri="{FF2B5EF4-FFF2-40B4-BE49-F238E27FC236}">
                <a16:creationId xmlns:a16="http://schemas.microsoft.com/office/drawing/2014/main" id="{F945C4F6-44D8-4E8F-AA29-25F99DCC2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985" y="2281600"/>
            <a:ext cx="9160030" cy="383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src_caption">
            <a:extLst>
              <a:ext uri="{FF2B5EF4-FFF2-40B4-BE49-F238E27FC236}">
                <a16:creationId xmlns:a16="http://schemas.microsoft.com/office/drawing/2014/main" id="{3525B380-FC1A-4A2D-B6E1-C4DB88F01388}"/>
              </a:ext>
            </a:extLst>
          </p:cNvPr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출처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en-US"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https://www.nature.com/articles/s41598-021-83561-x 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(CC BY 4.0)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C55BF7-CF6D-4103-A9B9-0AC3856EF32E}"/>
              </a:ext>
            </a:extLst>
          </p:cNvPr>
          <p:cNvSpPr/>
          <p:nvPr/>
        </p:nvSpPr>
        <p:spPr>
          <a:xfrm>
            <a:off x="3091543" y="2706914"/>
            <a:ext cx="1117600" cy="11321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340C648D-C5DD-409C-9C54-2506D54C20A3}"/>
              </a:ext>
            </a:extLst>
          </p:cNvPr>
          <p:cNvCxnSpPr>
            <a:endCxn id="20" idx="0"/>
          </p:cNvCxnSpPr>
          <p:nvPr/>
        </p:nvCxnSpPr>
        <p:spPr>
          <a:xfrm rot="16200000" flipH="1">
            <a:off x="2951052" y="2007623"/>
            <a:ext cx="897838" cy="500743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524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14255" y="777240"/>
            <a:ext cx="1371600" cy="137160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225735" y="1188720"/>
            <a:ext cx="548640" cy="54864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729107"/>
            <a:ext cx="10332720" cy="57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800" b="1" i="0" u="none" strike="noStrike" kern="1200" cap="none" spc="0" normalizeH="0" baseline="0" noProof="0">
                <a:ln>
                  <a:noFill/>
                </a:ln>
                <a:solidFill>
                  <a:srgbClr val="DFC49D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감사합니다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DFC49D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.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DFC49D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457200" cy="27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4ECD8AD-BD2F-4FE3-BB98-0D4FECF7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9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1792</TotalTime>
  <Words>3242</Words>
  <Application>Microsoft Office PowerPoint</Application>
  <PresentationFormat>와이드스크린</PresentationFormat>
  <Paragraphs>628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Calibri</vt:lpstr>
      <vt:lpstr>Noto Sans KR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MZC01-HYUNHOPART</cp:lastModifiedBy>
  <cp:revision>204</cp:revision>
  <dcterms:created xsi:type="dcterms:W3CDTF">2013-01-27T09:14:16Z</dcterms:created>
  <dcterms:modified xsi:type="dcterms:W3CDTF">2026-10-12T02:37:04Z</dcterms:modified>
  <cp:category/>
</cp:coreProperties>
</file>