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d5c4c36-045e-b7aa-53bb-963120f26e8d}">
          <p14:sldIdLst>
            <p14:sldId id="256"/>
          </p14:sldIdLst>
        </p14:section>
        <p14:section name="진행" id="{d524f46f-2eee-0519-3a6e-016562a37612}">
          <p14:sldIdLst>
            <p14:sldId id="257"/>
          </p14:sldIdLst>
        </p14:section>
        <p14:section name="PART 0 · 1일차 복습" id="{debcc58b-4367-91a2-9fb2-909e2c9d52c2}">
          <p14:sldIdLst>
            <p14:sldId id="258"/>
            <p14:sldId id="259"/>
            <p14:sldId id="260"/>
          </p14:sldIdLst>
        </p14:section>
        <p14:section name="PART 1 · 데이터와 전처리" id="{604d1238-d2f1-2e19-a318-6f5b2f2a66e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ART 2 · 양자 회로" id="{b065f83c-abc7-662b-06d4-b39283cb5665}">
          <p14:sldIdLst>
            <p14:sldId id="267"/>
            <p14:sldId id="268"/>
            <p14:sldId id="269"/>
            <p14:sldId id="270"/>
            <p14:sldId id="271"/>
          </p14:sldIdLst>
        </p14:section>
        <p14:section name="PART 3 · QGAN 학습" id="{d44eadde-f92d-b014-59be-13124924e457}">
          <p14:sldIdLst>
            <p14:sldId id="272"/>
            <p14:sldId id="273"/>
            <p14:sldId id="274"/>
            <p14:sldId id="275"/>
            <p14:sldId id="276"/>
          </p14:sldIdLst>
        </p14:section>
        <p14:section name="PART 4 · 생성과 평가" id="{31916119-8166-fa8a-9307-e3f8b938581f}">
          <p14:sldIdLst>
            <p14:sldId id="277"/>
            <p14:sldId id="278"/>
            <p14:sldId id="279"/>
            <p14:sldId id="280"/>
          </p14:sldIdLst>
        </p14:section>
        <p14:section name="정리" id="{24ec98bf-fca5-59ca-f074-84d1a14fb381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1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12121"/>
                </a:solidFill>
                <a:latin typeface="+mn-lt"/>
              </a:rPr>
              <a:t>Colab 실측 로그 (400 step 중 step 20 ~ 180)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loss_d</c:v>
                </c:pt>
              </c:strCache>
            </c:strRef>
          </c:tx>
          <c:spPr>
            <a:solidFill>
              <a:srgbClr val="5B3E8C"/>
            </a:solidFill>
            <a:ln w="25400" cap="flat">
              <a:solidFill>
                <a:srgbClr val="5B3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3E8C"/>
              </a:solidFill>
              <a:ln w="9525" cap="flat">
                <a:solidFill>
                  <a:srgbClr val="5B3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160</c:v>
                  </c:pt>
                  <c:pt idx="8">
                    <c:v>180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1.4052</c:v>
                </c:pt>
                <c:pt idx="1">
                  <c:v>1.399</c:v>
                </c:pt>
                <c:pt idx="2">
                  <c:v>1.3929</c:v>
                </c:pt>
                <c:pt idx="3">
                  <c:v>1.3842</c:v>
                </c:pt>
                <c:pt idx="4">
                  <c:v>1.3775</c:v>
                </c:pt>
                <c:pt idx="5">
                  <c:v>1.3764</c:v>
                </c:pt>
                <c:pt idx="6">
                  <c:v>1.3996</c:v>
                </c:pt>
                <c:pt idx="7">
                  <c:v>1.288</c:v>
                </c:pt>
                <c:pt idx="8">
                  <c:v>1.3529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ln 2 = 1.386</c:v>
                </c:pt>
              </c:strCache>
            </c:strRef>
          </c:tx>
          <c:spPr>
            <a:solidFill>
              <a:srgbClr val="B9B3D6"/>
            </a:solidFill>
            <a:ln w="25400" cap="flat">
              <a:solidFill>
                <a:srgbClr val="B9B3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B3D6"/>
              </a:solidFill>
              <a:ln w="9525" cap="flat">
                <a:solidFill>
                  <a:srgbClr val="B9B3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160</c:v>
                  </c:pt>
                  <c:pt idx="8">
                    <c:v>180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1.386</c:v>
                </c:pt>
                <c:pt idx="1">
                  <c:v>1.386</c:v>
                </c:pt>
                <c:pt idx="2">
                  <c:v>1.386</c:v>
                </c:pt>
                <c:pt idx="3">
                  <c:v>1.386</c:v>
                </c:pt>
                <c:pt idx="4">
                  <c:v>1.386</c:v>
                </c:pt>
                <c:pt idx="5">
                  <c:v>1.386</c:v>
                </c:pt>
                <c:pt idx="6">
                  <c:v>1.386</c:v>
                </c:pt>
                <c:pt idx="7">
                  <c:v>1.386</c:v>
                </c:pt>
                <c:pt idx="8">
                  <c:v>1.386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loss_g</c:v>
                </c:pt>
              </c:strCache>
            </c:strRef>
          </c:tx>
          <c:spPr>
            <a:solidFill>
              <a:srgbClr val="00754A"/>
            </a:solidFill>
            <a:ln w="25400" cap="flat">
              <a:solidFill>
                <a:srgbClr val="0075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54A"/>
              </a:solidFill>
              <a:ln w="9525" cap="flat">
                <a:solidFill>
                  <a:srgbClr val="0075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160</c:v>
                  </c:pt>
                  <c:pt idx="8">
                    <c:v>180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0.5651</c:v>
                </c:pt>
                <c:pt idx="1">
                  <c:v>0.5864</c:v>
                </c:pt>
                <c:pt idx="2">
                  <c:v>0.6169</c:v>
                </c:pt>
                <c:pt idx="3">
                  <c:v>0.6624</c:v>
                </c:pt>
                <c:pt idx="4">
                  <c:v>0.7102</c:v>
                </c:pt>
                <c:pt idx="5">
                  <c:v>0.7095</c:v>
                </c:pt>
                <c:pt idx="6">
                  <c:v>0.7226</c:v>
                </c:pt>
                <c:pt idx="7">
                  <c:v>0.8258</c:v>
                </c:pt>
                <c:pt idx="8">
                  <c:v>0.8515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ln 2 = 0.693</c:v>
                </c:pt>
              </c:strCache>
            </c:strRef>
          </c:tx>
          <c:spPr>
            <a:solidFill>
              <a:srgbClr val="9FCFB8"/>
            </a:solidFill>
            <a:ln w="25400" cap="flat">
              <a:solidFill>
                <a:srgbClr val="9FCF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CFB8"/>
              </a:solidFill>
              <a:ln w="9525" cap="flat">
                <a:solidFill>
                  <a:srgbClr val="9FCF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160</c:v>
                  </c:pt>
                  <c:pt idx="8">
                    <c:v>180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0.693</c:v>
                </c:pt>
                <c:pt idx="1">
                  <c:v>0.693</c:v>
                </c:pt>
                <c:pt idx="2">
                  <c:v>0.693</c:v>
                </c:pt>
                <c:pt idx="3">
                  <c:v>0.693</c:v>
                </c:pt>
                <c:pt idx="4">
                  <c:v>0.693</c:v>
                </c:pt>
                <c:pt idx="5">
                  <c:v>0.693</c:v>
                </c:pt>
                <c:pt idx="6">
                  <c:v>0.693</c:v>
                </c:pt>
                <c:pt idx="7">
                  <c:v>0.693</c:v>
                </c:pt>
                <c:pt idx="8">
                  <c:v>0.693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B6B"/>
                    </a:solidFill>
                    <a:latin typeface="Arial"/>
                  </a:rPr>
                  <a:t>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.4"/>
        </c:scaling>
        <c:delete val="0"/>
        <c:axPos val="l"/>
        <c:majorGridlines>
          <c:spPr>
            <a:ln w="6350" cap="flat">
              <a:solidFill>
                <a:srgbClr val="E5E2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121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1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12121"/>
                </a:solidFill>
                <a:latin typeface="+mn-lt"/>
              </a:rPr>
              <a:t>② 클래스 평균 상관계수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상관계수</c:v>
                </c:pt>
              </c:strCache>
            </c:strRef>
          </c:tx>
          <c:spPr>
            <a:solidFill>
              <a:srgbClr val="0075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1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5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6B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DF 평균 대비</c:v>
                  </c:pt>
                  <c:pt idx="1">
                    <c:v>NV 평균 대비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0.297</c:v>
                </c:pt>
                <c:pt idx="1">
                  <c:v>0.284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121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5E2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2일차 노트북(practice/day2_practice.ipynb)을 진행하면서 실습 블록 사이에 띄우는 설명 자료.
- 코드 중심으로 구성함. 각 파트 첫 장에 노트북의 어느 섹션 직전에 쓰는지 표시함.
- PART 0은 1일차 내용 복습이므로 시작 직후 10분 정도로 진행함.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일정 운영 기준.
- 학습 셀(§5)은 Colab 무료 CPU에서 400 step 약 35분 걸림(실측). 셀을 먼저 실행해 두고 PART 3을 설명하면 대기 시간이 설명 시간이 됨.
- §3 segmentation은 1장당 수 초라 5장만 직접 처리하고, 학습은 저장소의 전처리 자산(DF 115장)으로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1일차에서 다룬 QGAN 논문(Andra et al.)의 구조를 코드 관점에서 다시 정리함.
- 오늘은 1일차 그림을 PennyLane·PyTorch 코드로 옮기는 날이라는 점을 먼저 짚음.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 슬라이드 7~10 복습.
- 생성자 = 변분 양자회로(PQC) 여러 개, 판별자 = 고전 신경망(논문 Table 4)인 비대칭 구조.
- 학습 대상은 회전 게이트 각도 θ. 판별 결과의 손실을 θ까지 역전파해 갱신함.
- 오늘 코드에서는 PatchQuantumGenerator 클래스가 왼쪽 상자 전체에 해당함.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'원 논문과 다른 점' 표와 같은 내용.
- sub-generator 수는 처음에 논문과 큐빗 수가 가까운 2개로 정했다가, 2·4·8·16개를 같은 조건(600 step, depth 10)으로 실측해 품질이 가장 좋은 4개로 바꿈(README 실험 표).
- 16개(논문 설정)는 판별자가 이겨 loss_d가 0.003까지 떨어짐.
- 실습은 exact 상태벡터 시뮬레이션이라 shot noise와 하드웨어 오류가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§2(EDA)를 마친 뒤, §3 segmentation 셀을 실행하기 전에 진행함.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DF 115장 대 NV 6,705장, 약 1:58 불균형.
- 증강 대상은 DF. NV는 3일차까지 '클래스 평균 상관계수' 지표에서 비교용으로만 씀(345장 사용).
- 코드의 value_counts()는 진단명(dx)별 이미지 수를 많은 순으로 반환함.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- 64×64로 먼저 줄이는 이유: 600×450 원본(27만 픽셀)으로 FCM을 돌리면 1장에 수십 초가 걸림. 64×64(4,096픽셀)면 수 초.
- 가장 어두운 cluster를 병변으로 봄: 피부경 이미지에서 병변이 주변 피부보다 어둡다는 가정. 털·그림자가 많은 이미지에서는 틀릴 수 있음(한계).
- 마지막 /255로 0 ~ 1 척도가 됨. 이 척도가 '전처리 데이터 = unit 척도'의 기준임.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① 위치 정보 없이 밝기만으로 clustering함. pixels 모양은 (픽셀 수, 1).
- ② sklearn KMeans 기본 초기화는 k-means++. n_init=4는 초기화를 4번 바꿔 inertia가 가장 낮은 결과를 씀.
- ③ K-means 중심까지 거리의 역제곱으로 FCM 초기 소속도를 만듦(m=2일 때 FCM 소속도 공식과 같은 형태). 무작위 시작보다 빨리 수렴하고 결과가 매번 같음.
- ④ FCM 결과 소속도가 가장 큰 cluster로 hard 라벨을 정한 뒤, 중심 밝기가 가장 낮은 cluster를 병변으로 봄.
- ⑤ bitwise_and(gray, gray, mask)는 x &amp; x = x라 연산 효과는 없고 mask 효과만 남음.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경계 픽셀(병변 가장자리)은 어느 한쪽으로 딱 나누기 어려움. FCM은 '병변 60%, 피부 40%'처럼 표현해 경계가 덜 거칠어짐.
- 이 코드는 마지막에 argmax로 hard 라벨을 다시 만들기 때문에, FCM의 이점은 '경계 픽셀의 배정이 더 안정적'이라는 데 있음.
- fpc는 분할 선명도(1에 가까울수록 명확). 이미지별 품질 점검에 쓸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측정 결과(basis state) 2^n개가 픽셀 n개에 대응하므로 patch 픽셀 수의 log2가 데이터 큐빗 수가 됨.
- 생성자 출력 256개는 patch 순서대로 이어붙이므로, 16×16으로 reshape하면 patch 하나가 가로 16 × 세로 4 띠가 됨.
- INTER_AREA: 출력 픽셀이 덮는 원본 영역의 평균. 크게 줄일 때 정보가 고르게 반영됨. LINEAR는 주변 2×2만 참조해 축소 폭이 크면 작은 병변이 사라지거나 앨리어싱이 생김.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§4 회로 셀을 실행하기 전에 진행함. §4는 학습 없이 회로 출력만 확인하는 섹션임.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노이즈 encoding: 샘플마다 0 ~ π 난수 각도. 같은 가중치에서 다른 이미지가 나오는 원천.
- RY는 상태 진폭을 실수로 유지한 채 회전시켜 측정 확률을 직접 바꿈. 확률 = 픽셀 밝기이므로 RY만으로 충분함.
- CZ는 인접 큐빗을 얽어 픽셀 사이 상관을 만듦. CZ가 없으면 각 큐빗이 독립이라 확률 분포가 곱 형태로 제한됨.
- qml.probs는 2^7 = 128개 basis state의 확률을 반환함.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PennyLane은 wire 0을 최상위 비트, 마지막 wire를 최하위 비트로 둠. 마지막 wire가 ancilla이므로 인덱스가 짝수일 때 ancilla = 0.
- 데이터 큐빗만 측정하면 64개 확률의 합은 항상 1. 배경이 대부분인 patch(합이 0에 가까워야 함)를 표현할 수 없음.
- ancilla = 0인 항목만 쓰면 합이 0 ~ 1 사이에서 자유로워지고, 이 '밝기 총합'도 학습 대상이 됨.
- 3일차 노트북 §6 ①: 이 측정 방식으로 바꾸자 생성 이미지 평균과 실제 평균의 상관계수가 0.00에서 0.49로 올랐음(8×8 단계 사전 실험).
- 일반적인 ancilla 용도(오류 정정 신드롬 측정 등)와는 목적이 다름.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§4의 회로와 같지만 device가 default.qubit, diff_method가 backprop임. PyTorch 자동미분으로 회전각까지 기울기를 계산하기 위함(lightning.qubit은 backprop 미지원).
- forward의 이중 루프가 비용의 핵심: sub-generator 4 × batch 8 = 회로 32번 실행.
- torch.cat(dim=1)로 이어붙이면 (batch, 256). 이미지로 볼 때 reshape(16,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생성자 파라미터 = sub-generator 4 × depth 10 × 큐빗 7 = 280. noise encoding의 RY는 학습 대상이 아님.
- 판별자는 256→64→32→16→8→1 완전연결. 첫 층 하나가 16,448개로 대부분을 차지함.
- 판별자가 훨씬 크고 빨리 배우므로, 생성자 학습률을 크게(0.05), 판별자는 작게(0.001) 둬 균형을 맞춤.
- 3일차 MediQ-GAN은 Adam betas (0.5, 0.999), lr 2e-4라는 GAN 관례값을 씀. 두 모델의 학습 설정이 다르다는 점도 비교 대상임.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§5 학습 셀을 실행한 직후 시작함. 진행 로그는 20 step마다 나오므로 설명 중간에 로그를 함께 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판별자 step: 실제 batch는 1, 생성 이미지는 0으로 맞히도록 학습. gen(BATCH).detach()로 생성자 쪽 계산 그래프를 끊어 판별자만 갱신함.
- 생성자 step: 생성 이미지에 정답 라벨 1을 붙여 손실을 계산함(non-saturating loss). 판별자를 속이는 방향으로 회전각이 갱신됨.
- 실제 이미지는 복원추출로 8장씩 뽑음. 115장이라 1 epoch ≈ 14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loss_d = −[log D(x) + log(1 − D(G(z)))]. D가 모두 0.5면 2 ln 2 ≈ 1.386.
- loss_g = −log D(G(z)). D(G(z)) = 0.5면 ln 2 ≈ 0.693. 거꾸로 D(G(z)) ≈ exp(−loss_g).
- 차트는 Colab 실행 로그(step 20 ~ 180). loss_g가 0.57 → 0.85로 오름 = 판별자가 생성 이미지를 진짜로 볼 확률이 0.57 → 0.43으로 떨어짐. 판별자가 조금씩 우세해지는 흐름.
- loss_d가 0으로 가면 판별자 완승(생성자 학습 신호 소실). README '학습 안정성' 사례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- 25,600번 = 32(gen 1회) × 2(step당 호출) × 400 step.
- backprop은 상태벡터 전체를 미분하므로 시뮬레이터에서만 가능함.
- 실제 하드웨어는 parameter-shift: 회전각마다 θ ± π/2로 회로를 두 번 더 실행해 기울기를 얻음. 생성자 280개면 샘플 하나의 기울기에 560번, 게다가 각 실행은 확률 추정을 위해 수천 shot이 필요함.
- 3일차 MediQ-GAN은 16큐빗이라 lightning.qubit + adjoint 미분을 씀(backprop 미지원, 메모리 효율).
- README 실험: sub-generator가 적을수록 빠른 이유도 회로 호출 횟수(sub-generator 수 × batch)가 비용을 지배하기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real_flat은 이미지 한 장의 합을 1로 나눔. 생성 이미지는 patch마다 ancilla = 0 확률이라 patch 합이 0 ~ 1, 4개를 이으면 0 ~ 4.
- Colab 실행에서 생성 이미지의 장당 픽셀 합은 약 1.63(지표 표의 '픽셀합/장').
- 6번 섹션 지표는 to_unit_scale이 이미지별 min-max로 다시 맞추므로 지표 값에는 직접 섞이지 않음. 영향을 받는 것은 학습 과정임.
- 공개된 수치(README, 강사 checkpoint)는 현재 방식 그대로 학습한 결과임. 고친 방식으로 다시 학습해 비교하는 것은 실습 후 과제로 적합함.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학습이 끝나고 손실곡선을 확인한 뒤, §6 셀을 실행하기 전에 진행함.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FID는 Inception 특징을 쓰는데 16×16에서는 특징이 의미를 갖지 못하고, 표본도 수백 장 수준이라 쓰지 않음.
- 모든 지표는 to_unit_scale로 0 ~ 1로 맞춘 뒤 계산함. QGAN은 'prob'(이미지별 min-max), MediQ-GAN은 'tanh'((x+1)/2), 전처리 데이터는 'unit'(그대로).
- ②는 평균 형태만 봄. 모든 샘플이 같은 평균 이미지여도 높게 나오므로 ④와 함께 봐야 함.
- ③이 0에 가까우면 학습 데이터를 복사한 것이라 증강 가치가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수치는 Colab에서 노트북을 끝까지 실행한 결과임. README의 600 step 결과(상관 0.195, 최근접 1.64, 다양성 1.92)와 실행마다 차이가 있음.
- DF 0.297 대 NV 0.284: 노트북 출력 기준으로는 'DF 특징을 잡았다'고 말하기 어려움. 토론 포인트: 16×16 그레이에서는 DF와 NV의 평균 형태(가운데 어두운 덩어리)가 원래 비슷할 수 있음 → 클래스 평균 이미지 두 장을 직접 비교해 보게 함.
- 최근접 거리 최솟값 0.956 &gt; 0이므로 암기는 아님.
- 다양성 1.731은 실제 DF 2.505의 약 70%. mode collapse는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
1. 16 × 8 × 2 = 256번 (현재 64번의 4배).
2. 70개 × 2 = 140번 (샘플 하나 기준, parameter-shift).
3. 데이터 큐빗만 측정하면 patch 64개 확률의 합이 항상 1로 고정되어, 배경 patch(합 ≈ 0)를 표현할 수 없음. ancilla = 0만 고르면 합이 0 ~ 1에서 학습됨.
4. ②는 평균 형태만 보므로 모든 샘플이 같은 평균 이미지여도 높게 나옴. ④(샘플 간 거리)가 0에 가까운지 함께 봐야 함 - 3일차 MediQ-GAN이 이 경우(상관 0.365, 다양성 0.30).
5. 판별자가 픽셀 합만으로 진짜(합 1)와 가짜(합 약 1.63)를 구분할 수 있어, 생성자 학습 신호 일부가 형태가 아니라 밝기 총합 맞추기에 쓰일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노트북 §7에서 checkpoint를 Drive에 저장함(권한 창에서 '모두 선택 → 계속').
- 3일차는 저장소의 강사 checkpoint(600 step)로 진행하지만, 본인 checkpoint를 불러와도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9456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QML Lecture · 2일차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9456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실습 설명 자료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segmentation 전처리 → 양자 회로 → QGAN 학습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646920" y="777240"/>
            <a:ext cx="1417320" cy="141732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0" y="1188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2일차 진행 순서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노트북 섹션 순서대로 실습하고, 각 블록 앞에 해당 설명 PART를 진행함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§0–2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환경·데이터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Colab 설정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HAM10000 EDA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91440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58568" y="342900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2316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0604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전처리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segmentation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K-means + FCM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16×16 축소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06040" y="4114800"/>
            <a:ext cx="91440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60604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33088" y="342900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29768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48056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양자 회로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회로 1개 구성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출력 확인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80560" y="4114800"/>
            <a:ext cx="91440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48056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07608" y="342900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17220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5508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QGAN 학습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Colab 약 35분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(400 step)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355080" y="4114800"/>
            <a:ext cx="91440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35508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882128" y="342900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04672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22960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§6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생성·평가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지표 4종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229600" y="4114800"/>
            <a:ext cx="91440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229600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 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756648" y="342900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921240" y="2240280"/>
            <a:ext cx="1691640" cy="23774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1010412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§7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10412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정리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10104120" y="32918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Drive 저장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AF6EE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운영 포인트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§5 학습 셀을 먼저 실행한 뒤 PART 3을 설명함 - 학습이 도는 약 35분이 설명 시간이 됨. 진행 로그는 20 step마다 출력됨.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PART 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1일차 복습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노트북을 시작하기 전 - 오늘 구현하는 QGAN의 구조와 논문 대비 축소 범위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오늘 구현하는 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논문 ① QGAN의 patch 방식 생성자 - sub-generator 4개 + 고전 판별자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입력 데이터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HAM10000 DF 115장 → segmentation → 16×16 그레이스케일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오늘의 결과물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직접 학습한 생성자 checkpoint + 생성품질 지표 4종 표 (3일차 비교 기준)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0 · 1일차 복습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QGAN 구조 - 생성자만 양자회로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patch 방식: sub-generator마다 이미지 조각(patch)을 하나씩 만들고 이어붙임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0632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DEB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노이즈 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(무작위 각도)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7744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2121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생성자 = PatchQuantumGenerator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2560320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06040" y="2560320"/>
            <a:ext cx="2194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sub-generator 1  (7큐빗 PQC)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2560320"/>
            <a:ext cx="777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3480" y="2560320"/>
            <a:ext cx="7772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patch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18888" y="2825496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606040" y="3273552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606040" y="3273552"/>
            <a:ext cx="2194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sub-generator 2  (7큐빗 PQC)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83480" y="3273552"/>
            <a:ext cx="777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83480" y="3273552"/>
            <a:ext cx="7772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patch 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18888" y="3538728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606040" y="3986784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606040" y="3986784"/>
            <a:ext cx="2194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sub-generator 3  (7큐빗 PQC)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83480" y="3986784"/>
            <a:ext cx="777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3986784"/>
            <a:ext cx="7772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patch 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18888" y="4251960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606040" y="4700016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06040" y="4700016"/>
            <a:ext cx="2194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sub-generator 4  (7큐빗 PQC)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83480" y="4700016"/>
            <a:ext cx="777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83480" y="4700016"/>
            <a:ext cx="7772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patch 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18888" y="4965192"/>
            <a:ext cx="1463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029968" y="3520440"/>
            <a:ext cx="32918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400800" y="30632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DEBE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0" y="306324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이어붙인 이미지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16×16 = 256픽셀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961888" y="3520440"/>
            <a:ext cx="42062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595360" y="292608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59536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판별자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고전 5층 FC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(논문 Table 4)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156448" y="3520440"/>
            <a:ext cx="42062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0652760" y="315468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EDE7F5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652760" y="3154680"/>
            <a:ext cx="960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진짜일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확률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259568" y="3520440"/>
            <a:ext cx="37490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8595360" y="4892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DEBE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595360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실제 DF 이미지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418320" y="4873752"/>
            <a:ext cx="0" cy="-74066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160520" y="5852160"/>
            <a:ext cx="69494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11109960" y="3904488"/>
            <a:ext cx="0" cy="194767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4160520" y="5596128"/>
            <a:ext cx="0" cy="2560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headEnd type="triangle"/>
          </a:ln>
        </p:spPr>
      </p:sp>
      <p:sp>
        <p:nvSpPr>
          <p:cNvPr id="46" name="Text 43"/>
          <p:cNvSpPr txBox="1"/>
          <p:nvPr/>
        </p:nvSpPr>
        <p:spPr>
          <a:xfrm>
            <a:off x="5669280" y="5916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손실 → 역전파 → 회전각 θ 갱신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0 · 1일차 복습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논문과 오늘 실습의 차이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회로의 형태(RY encoding + RY·CZ 변분층 + post-selection)는 같고, 규모와 학습량을 줄임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논문 (Andra et al.)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2일차 실습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sub-generator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2·4·8·16개 실측 중 품질 최고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큐빗 (sub-generator당)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데이터 7 + ancilla 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데이터 6 + ancilla 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256 = 4 × 2⁶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회로 depth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논문과 동일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판별자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5층 FC (Table 4)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5층 FC (Table 4)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논문과 동일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학습량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2,000 epoch (1 ~ 1.5시간)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400 step (Colab 약 35분)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수업 시간 안에 완료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실행 환경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GPU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Colab CPU, exact 시뮬레이션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설치·계정 불필요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AF6EE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486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참고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sub-generator 16개(논문 설정)는 판별자가 이겨 loss_d가 0.003까지 떨어짐 - 용량을 늘린다고 품질이 오르지 않음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PART 1 · 노트북 §2 – §3 직전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데이터와 segmentation 전처리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HAM10000에서 DF·NV를 고르고, 병변만 남겨 16×16으로 줄이는 과정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이 파트의 코드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segment_fcm_kmeans · resize_for_encoding · preprocess_class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핵심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왜 병변만 남기는가 / 왜 16×16인가 / 축소는 어떻게 하는가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1 · 노트북 §2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범위 축소 - DF vs NV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7개 클래스 중 가장 적은 DF를 증강 대상으로, 가장 많은 NV를 비교 대상으로 둠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10,015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전체 이미지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1031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61188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115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DF (피부섬유종)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4652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6,705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NV (모반)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052560" y="21031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28116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 : 58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DF : NV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640080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41148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= pd.read_csv(f"{DATA_DIR}/HAM10000_metadata.csv")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metadata["dx"].value_counts()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     115   &lt;- 증강 대상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nv    6705   &lt;- 비교 대상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223760" y="3931920"/>
            <a:ext cx="4389120" cy="2011680"/>
          </a:xfrm>
          <a:prstGeom prst="roundRect">
            <a:avLst>
              <a:gd name="adj" fmla="val 5455"/>
            </a:avLst>
          </a:prstGeom>
          <a:solidFill>
            <a:srgbClr val="F2F0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5236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읽을 점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45262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metadata는 image_id와 진단명(dx)을 연결하는 표임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이미지 파일은 part_1·part_2 두 폴더에 나뉘어 있어 find_image_path가 양쪽을 확인함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1 · 노트북 §3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전처리 pipeline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원본 → 병변만 남긴 64×64 → 16×16, 0 ~ 1. 저장소 자산(df_preprocessed.npy)도 같은 조건으로 만들어짐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F2F0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원본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600×450 RGB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76272" y="3090672"/>
            <a:ext cx="23774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41448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F2F0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78608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그레이 + 축소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578608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64×64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INTER_AREA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9080" y="3090672"/>
            <a:ext cx="23774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34256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71416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K-means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 =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사전 cluster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61888" y="3090672"/>
            <a:ext cx="23774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27064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64224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FCM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 =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소속도 정제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54696" y="3090672"/>
            <a:ext cx="23774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119872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F2F0E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57032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mask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57032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가장 어두운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cluster = 병변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747504" y="3090672"/>
            <a:ext cx="237744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012680" y="228600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F2F0E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49840" y="2468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축소 + 정규화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149840" y="29260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16×16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/255 → 0 ~ 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194560" y="39776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논문 Section 3.1의 K-means + Fuzzy C-means hybrid segmentation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6634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2F0E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77240" y="4800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왜 병변만 남기는가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논문 Table 10: raw 이미지로 증강하면 분류 성능이 오히려 떨어지고, segmentation을 거친 이미지에서만 개선됨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17920" y="46634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2F0E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46520" y="4800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왜 64×64를 거치는가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4652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FCM 비용이 픽셀 수에 비례함. 원본 27만 픽셀 대신 4,096픽셀로 clustering해 1장당 수 초로 줄임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1 · 노트북 §3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segment_fcm_kmeans 읽기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밝기 1채널만 써서 4개 cluster로 나누고, 가장 어두운 cluster를 남김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694944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94560"/>
            <a:ext cx="6492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cv2.cvtColor(img_bgr, cv2.COLOR_BGR2GRAY)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cv2.resize(gray, (64, 64), interpolation=cv2.INTER_AREA)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 = gray.reshape(-1, 1).astype(np.float32)      #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KMeans(n_clusters=4, n_init=4, random_state=0)  # 2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km.fit(pixels)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np.abs(pixels - km.cluster_centers_.reshape(1, -1))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u_init = 1.0 / (dist + 1e-6) ** 2                    # 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u_init = (u_init / u_init.sum(axis=1, keepdims=True)).T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cntr, u, *_ = fuzz.cluster.cmeans(pixels.T, c=4, m=2.0,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error=1e-4, maxiter=100, init=u_init)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= np.argmax(u, axis=0)                    # 4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lesion = np.argmin(cntr.flatten())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((membership == lesion).reshape(64, 64) * 255).astype(np.uint8)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cv2.bitwise_and(gray, gray, mask=mask)        # 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20574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8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039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밝기만 사용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2359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(픽셀 수, 1) - 위치 정보 없이 밝기로 cluster를 나눔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2871216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81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K-means 사전 cluster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172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k-means++ 초기화를 4번 시도해 가장 좋은 결과 채택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3685032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812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FCM 초기 소속도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9867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중심까지 거리의 역제곱 → 빠르고 재현 가능한 수렴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18120" y="449884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181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480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병변 cluster 선택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소속도 최대 cluster로 라벨, 가장 어두운 중심 = 병변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18120" y="531266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81812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5294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mask 적용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5614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병변은 원래 밝기 유지, 배경은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1 · 노트북 §3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K-means와 Fuzzy C-means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K-means는 픽셀마다 cluster 하나, FCM은 cluster별 소속도를 나눠 가짐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K-means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Fuzzy C-means (FCM)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배정 방식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hard - 픽셀마다 cluster 1개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soft - 소속도 u (픽셀별 합 = 1)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중심 갱신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배정된 픽셀의 평균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소속도^m 가중 평균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주요 파라미터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n_clusters, n_init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c, m (fuzziness), error, maxiter, init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 코드에서의 역할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FCM 초기값을 만드는 사전 cluster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소속도 정제 → argmax로 최종 라벨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출력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cluster_centers_, labels_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cntr, u, u0, d, jm, p, fpc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20574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EDE7F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1812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 (fuzziness)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2697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 → 1: K-means처럼 딱 잘라 나뉨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m이 클수록 소속이 여러 cluster로 퍼짐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보통 2를 씀 (이 코드도 2)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fpc (0 ~ 1)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분할 선명도. 1에 가까울수록 명확하고, 1/c(여기서는 0.25)에 가까울수록 모호함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1 · 노트북 §3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16×16이고, 어떻게 줄이는가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픽셀 수가 큐빗 수를 정함 - 256픽셀 = sub-generator 4개 × 2⁶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3438144" cy="859536"/>
          </a:xfrm>
          <a:prstGeom prst="rect">
            <a:avLst/>
          </a:prstGeom>
          <a:solidFill>
            <a:srgbClr val="DDF2E6"/>
          </a:solidFill>
          <a:ln w="9525">
            <a:solidFill>
              <a:srgbClr val="C9C5B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34381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patch 1  ·  64픽셀 (16 × 4)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962656"/>
            <a:ext cx="3438144" cy="859536"/>
          </a:xfrm>
          <a:prstGeom prst="rect">
            <a:avLst/>
          </a:prstGeom>
          <a:solidFill>
            <a:srgbClr val="EDE7F5"/>
          </a:solidFill>
          <a:ln w="9525">
            <a:solidFill>
              <a:srgbClr val="C9C5B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962656"/>
            <a:ext cx="34381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patch 2  ·  64픽셀 (16 × 4)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822192"/>
            <a:ext cx="3438144" cy="859536"/>
          </a:xfrm>
          <a:prstGeom prst="rect">
            <a:avLst/>
          </a:prstGeom>
          <a:solidFill>
            <a:srgbClr val="FAF6EE"/>
          </a:solidFill>
          <a:ln w="9525">
            <a:solidFill>
              <a:srgbClr val="C9C5B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822192"/>
            <a:ext cx="34381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patch 3  ·  64픽셀 (16 × 4)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4681728"/>
            <a:ext cx="3438144" cy="859536"/>
          </a:xfrm>
          <a:prstGeom prst="rect">
            <a:avLst/>
          </a:prstGeom>
          <a:solidFill>
            <a:srgbClr val="EDEBE9"/>
          </a:solidFill>
          <a:ln w="9525">
            <a:solidFill>
              <a:srgbClr val="C9C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681728"/>
            <a:ext cx="34381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patch 4  ·  64픽셀 (16 × 4)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7844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52728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7612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82496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97380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12264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27148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42032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56916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71800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86684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01568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16452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31336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46220" y="2103120"/>
            <a:ext cx="0" cy="3438144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632704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16 × 16 = 256픽셀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54880" y="2103120"/>
            <a:ext cx="6858000" cy="1463040"/>
          </a:xfrm>
          <a:prstGeom prst="roundRect">
            <a:avLst>
              <a:gd name="adj" fmla="val 7500"/>
            </a:avLst>
          </a:prstGeom>
          <a:solidFill>
            <a:srgbClr val="F2F0E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834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큐빗 수 계산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98348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256 ÷ 4 = 64픽셀/patch  →  log₂ 64 = 6 데이터 큐빗  →  + ancilla 1 = 7큐빗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79476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2377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보간법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16×16 축소에서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INTER_AREA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출력 픽셀이 덮는 영역의 평균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사용 - 저장소 자산과 같은 조건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INTER_LINEAR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주변 2×2 선형 보간 (기본값)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큰 축소에서 앨리어싱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INTER_NEAREST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가장 가까운 픽셀 1개 복사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마스크용, 밝기 정보 손실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PART 2 · 노트북 §4 직전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양자 회로 - sub-generator 하나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노이즈 encoding → 변분층 반복 → 측정 → post-selection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이 파트의 코드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sub_generator_circuit · probs_all[::2] · PatchQuantumGenerator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핵심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회로 출력이 왜 이미지가 되는가 / ancilla qubit은 왜 두는가 / 파라미터는 몇 개인가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2 · 노트북 §4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sub-generator 회로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RY로 노이즈를 넣고, [학습 RY + 인접 CZ]를 10번 반복한 뒤 7큐빗 전체를 측정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85216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945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@qml.qnode(dev)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sub_generator_circuit(noise, weights):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range(N_QUBITS):           # 1 encoding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qml.RY(noise[i], wires=i)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layer in range(Q_DEPTH):        # 2 x 10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range(N_QUBITS):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qml.RY(weights[layer, i], wires=i)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range(N_QUBITS - 1):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qml.CZ(wires=[i, i + 1])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qml.probs(wires=range(N_QUBITS))  # 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5852160" cy="54864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weights 모양 (10, 7) = 학습 파라미터 70개 / sub-generator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2011680"/>
            <a:ext cx="4846320" cy="4023360"/>
          </a:xfrm>
          <a:prstGeom prst="roundRect">
            <a:avLst>
              <a:gd name="adj" fmla="val 2727"/>
            </a:avLst>
          </a:prstGeom>
          <a:solidFill>
            <a:srgbClr val="F2F0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0" y="23774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2360" y="22219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52360" y="22219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595360" y="22219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0" y="22219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835640" y="22219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835640" y="22219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00616" y="23225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Shape 17"/>
          <p:cNvSpPr/>
          <p:nvPr/>
        </p:nvSpPr>
        <p:spPr>
          <a:xfrm>
            <a:off x="9500616" y="27797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Shape 18"/>
          <p:cNvSpPr/>
          <p:nvPr/>
        </p:nvSpPr>
        <p:spPr>
          <a:xfrm>
            <a:off x="9555480" y="23774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372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q1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0" y="28346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52360" y="26791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52360" y="26791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595360" y="26791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95360" y="26791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835640" y="26791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835640" y="26791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793224" y="27797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Shape 28"/>
          <p:cNvSpPr/>
          <p:nvPr/>
        </p:nvSpPr>
        <p:spPr>
          <a:xfrm>
            <a:off x="9793224" y="32369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Shape 29"/>
          <p:cNvSpPr/>
          <p:nvPr/>
        </p:nvSpPr>
        <p:spPr>
          <a:xfrm>
            <a:off x="9848088" y="28346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03720" y="3154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q2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315200" y="32918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52360" y="31363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52360" y="31363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595360" y="31363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595360" y="31363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835640" y="31363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835640" y="31363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085832" y="32369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2" name="Shape 39"/>
          <p:cNvSpPr/>
          <p:nvPr/>
        </p:nvSpPr>
        <p:spPr>
          <a:xfrm>
            <a:off x="10085832" y="36941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3" name="Shape 40"/>
          <p:cNvSpPr/>
          <p:nvPr/>
        </p:nvSpPr>
        <p:spPr>
          <a:xfrm>
            <a:off x="10140696" y="32918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03720" y="3611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q3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315200" y="37490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52360" y="35935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452360" y="35935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595360" y="35935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595360" y="35935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835640" y="35935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0835640" y="35935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500616" y="36941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3" name="Shape 50"/>
          <p:cNvSpPr/>
          <p:nvPr/>
        </p:nvSpPr>
        <p:spPr>
          <a:xfrm>
            <a:off x="9500616" y="41513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4" name="Shape 51"/>
          <p:cNvSpPr/>
          <p:nvPr/>
        </p:nvSpPr>
        <p:spPr>
          <a:xfrm>
            <a:off x="9555480" y="37490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90372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q4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315200" y="42062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452360" y="40507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452360" y="40507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595360" y="40507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8595360" y="40507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0835640" y="40507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10835640" y="40507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793224" y="41513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4" name="Shape 61"/>
          <p:cNvSpPr/>
          <p:nvPr/>
        </p:nvSpPr>
        <p:spPr>
          <a:xfrm>
            <a:off x="9793224" y="46085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5" name="Shape 62"/>
          <p:cNvSpPr/>
          <p:nvPr/>
        </p:nvSpPr>
        <p:spPr>
          <a:xfrm>
            <a:off x="9848088" y="42062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903720" y="4526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q5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7315200" y="46634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452360" y="45079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452360" y="45079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8595360" y="45079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595360" y="45079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0835640" y="45079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835640" y="45079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085832" y="46085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5" name="Shape 72"/>
          <p:cNvSpPr/>
          <p:nvPr/>
        </p:nvSpPr>
        <p:spPr>
          <a:xfrm>
            <a:off x="10085832" y="5065776"/>
            <a:ext cx="109728" cy="1097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6" name="Shape 73"/>
          <p:cNvSpPr/>
          <p:nvPr/>
        </p:nvSpPr>
        <p:spPr>
          <a:xfrm>
            <a:off x="10140696" y="466344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903720" y="4983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anc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7315200" y="5120640"/>
            <a:ext cx="4114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452360" y="49651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452360" y="49651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RY(z)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8595360" y="4965192"/>
            <a:ext cx="6858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8595360" y="4965192"/>
            <a:ext cx="685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RY(θ)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10835640" y="4965192"/>
            <a:ext cx="41148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10835640" y="4965192"/>
            <a:ext cx="4114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8458200" y="2148840"/>
            <a:ext cx="2148840" cy="3246120"/>
          </a:xfrm>
          <a:prstGeom prst="roundRect">
            <a:avLst>
              <a:gd name="adj" fmla="val 4255"/>
            </a:avLst>
          </a:prstGeom>
          <a:ln w="15875">
            <a:solidFill>
              <a:schemeClr val="accent1"/>
            </a:solidFill>
            <a:prstDash val="dash"/>
          </a:ln>
        </p:spPr>
      </p:sp>
      <p:sp>
        <p:nvSpPr>
          <p:cNvPr id="86" name="Text 83"/>
          <p:cNvSpPr txBox="1"/>
          <p:nvPr/>
        </p:nvSpPr>
        <p:spPr>
          <a:xfrm>
            <a:off x="7315200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 encoding</a:t>
            </a:r>
            <a:endParaRPr lang="en-US" sz="1100" dirty="0"/>
          </a:p>
        </p:txBody>
      </p:sp>
      <p:sp>
        <p:nvSpPr>
          <p:cNvPr id="87" name="Text 84"/>
          <p:cNvSpPr txBox="1"/>
          <p:nvPr/>
        </p:nvSpPr>
        <p:spPr>
          <a:xfrm>
            <a:off x="8458200" y="5532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② × 10 (RY + CZ 사슬)</a:t>
            </a:r>
            <a:endParaRPr lang="en-US" sz="1100" dirty="0"/>
          </a:p>
        </p:txBody>
      </p:sp>
      <p:sp>
        <p:nvSpPr>
          <p:cNvPr id="88" name="Text 85"/>
          <p:cNvSpPr txBox="1"/>
          <p:nvPr/>
        </p:nvSpPr>
        <p:spPr>
          <a:xfrm>
            <a:off x="10607040" y="5532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③ 측정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2 · 노트북 §4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ancilla qubit과 post-selection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128개 확률 중 ancilla qubit = 0인 64개만 patch로 씀 - 코드로는 probs_all[::2]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760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822960"/>
                <a:gridCol w="18288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인덱스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q0 … q5 (데이터)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사용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patch 픽셀 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버림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000001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patch 픽셀 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000001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버림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111111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patch 픽셀 63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111111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버림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40680"/>
            <a:ext cx="576072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probs_all = sub_generator_circuit(noise, weights)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probs_all[::2]   # even index = anc 0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583680" y="205740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2F0E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122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ancilla 없이 측정하면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2606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64개 확률의 합 = 항상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배경 patch(합 ≈ 0)와 병변 patch(합이 큼)를 구분해 표현할 수 없음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583680" y="4206240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1228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ancilla = 0만 선택하면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4754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64개 확률의 합 = 0 ~ 1 사이에서 자유로움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patch별 밝기 총합도 학습 대상이 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회로는 그대로, 측정·해석만 바꾼 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2 · 노트북 §5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PatchQuantumGenerator - 4개를 묶어 한 장으로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sub-generator별로 batch 크기만큼 회로를 실행하고, patch를 가로로 이어붙임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6766560" cy="411480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945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PatchQuantumGenerator(nn.Module):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n_generators, n_data_qubits, ...):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q_dev = qml.device("default.qubit", ...)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@qml.qnode(q_dev, interface="torch",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diff_method="backprop")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 circuit(noise, weights): ...   # same as §4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self.q_params = nn.ParameterList([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nn.Parameter(torch.rand(q_depth, n_qubits) * pi)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_ in range(n_generators)])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batch_size):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patches = 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g in range(self.n_generators):      # 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rows = [self.circuit(torch.rand(7) * pi,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self.q_params[g])[::2]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_ in range(batch_size)] # 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patches.append(torch.stack(rows))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torch.cat(patches, dim=1)   # (batch, 256)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201168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F2F0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81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gen(8) 한 번의 실행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18120" y="2606040"/>
            <a:ext cx="105156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8120" y="2606040"/>
            <a:ext cx="10515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06840" y="260604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6840" y="2606040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× 8 샘플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0" y="260604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DE7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0" y="2606040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(8, 64)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18120" y="3264408"/>
            <a:ext cx="105156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8120" y="3264408"/>
            <a:ext cx="10515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 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06840" y="326440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06840" y="3264408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× 8 샘플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0" y="326440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DE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0" y="3264408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(8, 64)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818120" y="3922776"/>
            <a:ext cx="105156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818120" y="3922776"/>
            <a:ext cx="10515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 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3922776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06840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× 8 샘플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058400" y="3922776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DE7F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058400" y="3922776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(8, 64)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818120" y="4581144"/>
            <a:ext cx="105156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818120" y="4581144"/>
            <a:ext cx="10515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sub-gen 4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006840" y="458114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9C5B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06840" y="4581144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× 8 샘플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058400" y="4581144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EDE7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058400" y="4581144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(8, 64)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818120" y="5303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torch.cat(dim=1) → (8, 256)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818120" y="5715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회로 실행 4 × 8 = 32번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2 · 노트북 §5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파라미터 수 - 생성자 280개, 판별자 19,201개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약 70배 차이가 나서 학습률을 다르게 둠 (생성자 0.05, 판별자 0.001)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280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생성자 (양자 회전각)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 × 10 × 7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EDE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4297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19,201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212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판별자 (고전 FC, Table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5층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10312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판별자 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모양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256 → 64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16,448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64 → 32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2,080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 → 16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→ 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Linear 5 + Sigmoid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→ 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19,201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686800" y="2103120"/>
            <a:ext cx="2926080" cy="3886200"/>
          </a:xfrm>
          <a:prstGeom prst="roundRect">
            <a:avLst>
              <a:gd name="adj" fmla="val 3750"/>
            </a:avLst>
          </a:prstGeom>
          <a:solidFill>
            <a:srgbClr val="F2F0E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91540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학습률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915400" y="2697480"/>
            <a:ext cx="2514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4400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opt_g: lr=0.05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opt_d: lr=0.001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915400" y="3749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작은 생성자와 큰 판별자가 비슷한 속도로 배우도록 학습률로 균형을 맞춤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PART 3 · 노트북 §5 학습 셀 실행 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QGAN 학습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학습 셀을 먼저 실행해 두고 진행 - Colab에서 400 step 약 35분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이 파트의 코드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학습 루프 (판별자 step · 생성자 step) · BCE 손실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핵심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로그 숫자를 어떻게 읽는가 / 왜 이렇게 느린가 / 이 설정의 한계는 무엇인가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3 · 노트북 §5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학습 루프 - 한 step에 두 번 갱신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판별자를 먼저 갱신하고, 같은 step에서 생성자를 갱신함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658368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94560"/>
            <a:ext cx="61264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range(STEPS):                    # 400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 = real_flat[torch.randint(0, 115, (8,))]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discriminator: real -&gt; 1, fake -&gt;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opt_d.zero_grad()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loss_d = bce(disc(batch), ones)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bce(disc(gen(8).detach()), zeros)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loss_d.backward(); opt_d.step()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generator: make disc say 1 for fakes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opt_g.zero_grad()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loss_g = bce(disc(gen(8)), ones)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loss_g.backward(); opt_g.step()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2103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2F0EB"/>
          </a:solidFill>
          <a:ln/>
        </p:spPr>
      </p:sp>
      <p:sp>
        <p:nvSpPr>
          <p:cNvPr id="9" name="Shape 6"/>
          <p:cNvSpPr/>
          <p:nvPr/>
        </p:nvSpPr>
        <p:spPr>
          <a:xfrm>
            <a:off x="758952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판별자 step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실제 → 1, 생성 → 0. detach로 생성자 기울기를 계산하지 않음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342900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2F0EB"/>
          </a:solidFill>
          <a:ln/>
        </p:spPr>
      </p:sp>
      <p:sp>
        <p:nvSpPr>
          <p:cNvPr id="14" name="Shape 11"/>
          <p:cNvSpPr/>
          <p:nvPr/>
        </p:nvSpPr>
        <p:spPr>
          <a:xfrm>
            <a:off x="7589520" y="3611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생성자 step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생성 이미지에 라벨 1 - 판별자를 속이는 방향으로 θ 갱신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475488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2F0EB"/>
          </a:solidFill>
          <a:ln/>
        </p:spPr>
      </p:sp>
      <p:sp>
        <p:nvSpPr>
          <p:cNvPr id="19" name="Shape 16"/>
          <p:cNvSpPr/>
          <p:nvPr/>
        </p:nvSpPr>
        <p:spPr>
          <a:xfrm>
            <a:off x="7589520" y="493776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8952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937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gen() 호출 2번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판별자용 1번 + 생성자용 1번 → step당 회로 64번 실행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3 · 진행 로그 읽기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손실 기준값 - 1.386과 0.693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판별자가 진짜·가짜를 구분하지 못할 때(D = 0.5)의 BCE 값이 기준선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057400"/>
          <a:ext cx="4023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의미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loss_d ≈ 1.386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구분 불가 - 경쟁 유지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loss_d → 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판별자 완승, 생성자 신호 소실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loss_g ≈ 0.693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생성 이미지를 반반으로 판정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loss_g = 0.85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D(G(z)) ≈ e^−0.85 ≈ 0.43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589520" y="45720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AF6EE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772400" y="47091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주의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GAN 손실은 단조 감소하지 않음. 손실이 균형처럼 보여도 품질은 낮을 수 있어 §6 지표로 따로 평가함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3 · 계산 비용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35분이나 걸리는가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회로 하나는 작지만(2⁷ = 128차원) 실행 횟수가 많음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32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gen(8) 1회 회로 실행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 sub-generator × 8 샘플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2628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64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step당 회로 실행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판별자 step + 생성자 step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2057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DDF2E6"/>
          </a:solidFill>
          <a:ln w="15875">
            <a:solidFill>
              <a:srgbClr val="0075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25,600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400 step 전체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7큐빗 상태벡터 시뮬레이션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4805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미분 방식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어디서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샘플 하나의 생성자 기울기 비용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사용처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backprop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시뮬레이터만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forward 1번 + 역전파 (상태벡터 직접 미분)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2일차 QGAN (default.qubit)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adjoint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시뮬레이터만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forward 1번 + 역방향 1번, 메모리 적음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3일차 MediQ-GAN (lightning)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parameter-shift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하드웨어 가능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파라미터당 2번 → 280 × 2 = 560번 (× shot 수)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실제 양자 장치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3 · 한계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한계 - 실제와 생성 이미지의 픽셀 합이 다름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정규화 단위가 달라, 판별자가 형태가 아닌 밝기 총합만으로도 구분할 수 있음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정규화 단위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이미지 한 장의 픽셀 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실제 이미지 (real_flat)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이미지 전체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항상 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생성 이미지 (gen(...))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patch 단위 (ancilla = 0 확률)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~ 4  (Colab 실측 약 1.63)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4023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real_flat = real_flat / real_flat.sum(dim=1, keepdim=True)   # sum =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     = gen(8)            # each of 4 patches sums to 0..1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2F0EB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실제 이미지도 patch별로 정규화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5468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patch마다 합 1 - 생성 쪽과 단위를 맞춤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49377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2F0E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008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94944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생성 patch를 최댓값으로 나눔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949440" y="54681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 ~ 1 척도로 맞추고 실제 이미지는 그대로 (PennyLane 튜토리얼 방식)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PART 4 · 노트북 §6 직전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생성과 평가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눈으로 보는 것만으로는 판단하지 않음 - 같은 지표 4종을 3일차 MediQ-GAN에도 그대로 씀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이 파트의 코드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gm.to_unit_scale · mean_image_correlation · nearest_neighbor_distance · sample_diversity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핵심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척도를 왜 맞추는가 / 각 지표가 무엇을 보장하고 무엇을 보장하지 않는가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4 · 노트북 §6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생성품질 지표 4종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16×16 저해상도라 FID 대신 해석 가능한 지표를 씀 (practice/gen_metrics.py)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보는 것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함수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읽는 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① 픽셀 강도 분포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밝기 분포가 실제와 맞는가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plot_pixel_histogram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척도 변환 전 값도 함께 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② 클래스 평균 상관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병변의 전체 형태를 재현했는가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mean_image_correlation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높을수록 좋음. DF &gt; NV여야 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③ 최근접 실제 거리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학습 데이터를 외웠는가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nearest_neighbor_distance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0에 가까우면 암기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④ 샘플 간 거리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같은 그림만 반복하는가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sample_diversity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0에 가까우면 mode collapse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to_unit_scale(x, mode) - 세 척도를 0 ~ 1로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DDF2E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5166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QGAN 출력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이미지별 min-max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F0E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480560" y="5166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MediQ-GAN 출력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(x + 1) / 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F0E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0" y="5166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098280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전처리 데이터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그대로 (0 ~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4 · 결과 읽기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Colab 실행 결과 - 형태는 잡았지만 클래스 구분은 약함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400 step, 생성 64장 기준. 실행마다 새 난수를 쓰므로 소수점보다 격차를 봄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4206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120640" y="2057400"/>
            <a:ext cx="6492240" cy="1280160"/>
          </a:xfrm>
          <a:prstGeom prst="roundRect">
            <a:avLst>
              <a:gd name="adj" fmla="val 8571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3492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1.579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최근접 실제 거리 평균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최솟값 0.956 - 암기 아님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20640" y="3520440"/>
            <a:ext cx="6492240" cy="1280160"/>
          </a:xfrm>
          <a:prstGeom prst="roundRect">
            <a:avLst>
              <a:gd name="adj" fmla="val 8571"/>
            </a:avLst>
          </a:prstGeom>
          <a:solidFill>
            <a:srgbClr val="F2F0E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349240" y="3657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1.731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샘플 간 거리 평균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실제 DF 2.505의 약 70% - mode collapse 아님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20640" y="5029200"/>
            <a:ext cx="6492240" cy="1097280"/>
          </a:xfrm>
          <a:prstGeom prst="roundRect">
            <a:avLst>
              <a:gd name="adj" fmla="val 10000"/>
            </a:avLst>
          </a:prstGeom>
          <a:solidFill>
            <a:srgbClr val="FAF6E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49240" y="50292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토론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DF와 NV 상관이 거의 같음 - 생성자가 'DF다운' 특징을 잡았는가, 아니면 두 클래스의 평균 형태가 원래 비슷한가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PART 4 · 정리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확인 질문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답은 발표자 노트에 있음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5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082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2208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057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sub-generator를 16개(논문 설정)로 늘리고 batch를 8로 유지하면 step당 회로 실행 수는 몇 번인가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2F0EB"/>
          </a:solidFill>
          <a:ln w="15875">
            <a:solidFill>
              <a:srgbClr val="C9C5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0312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031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0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parameter-shift로 sub-generator 하나(70개 파라미터)의 기울기를 구할 때 회로 실행 수는 몇 번인가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5B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8541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854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ancilla qubit 없이 데이터 큐빗만 측정하면 어떤 이미지를 만들 수 없게 되는가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5262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2F0EB"/>
          </a:solidFill>
          <a:ln w="15875">
            <a:solidFill>
              <a:srgbClr val="C9C5B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46771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526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클래스 평균 상관계수가 높은데도 좋은 생성모델이 아닐 수 있는 경우는 언제인가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5B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55001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31520" y="55001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실제 이미지와 생성 이미지의 픽셀 합이 다르면 판별자 학습에 어떤 영향이 있는가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정리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오늘 만든 것과 3일차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2일차 결과는 3일차 비교의 기준선이 됨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오늘 만든 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segmentation 전처리 · sub-generator 회로 · QGAN 학습 · 지표 4종 표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저장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qgan_my_16px.pt (생성자 가중치 + 설정 + 손실 기록) → Google Drive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3일차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MediQ-GAN(layer 단위 hybrid) 미세조정 → 오늘과 같은 지표로 QGAN과 비교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남은 한계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5074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픽셀 합 불일치 · 16×16 해상도 · exact 시뮬레이션 (shot noise 없음)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704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L Lecture">
  <a:themeElements>
    <a:clrScheme name="QML Lecture">
      <a:dk1>
        <a:srgbClr val="212121"/>
      </a:dk1>
      <a:lt1>
        <a:srgbClr val="FFFFFF"/>
      </a:lt1>
      <a:dk2>
        <a:srgbClr val="1E3932"/>
      </a:dk2>
      <a:lt2>
        <a:srgbClr val="F2F0EB"/>
      </a:lt2>
      <a:accent1>
        <a:srgbClr val="00754A"/>
      </a:accent1>
      <a:accent2>
        <a:srgbClr val="5B3E8C"/>
      </a:accent2>
      <a:accent3>
        <a:srgbClr val="DFC49D"/>
      </a:accent3>
      <a:accent4>
        <a:srgbClr val="9C5000"/>
      </a:accent4>
      <a:accent5>
        <a:srgbClr val="006241"/>
      </a:accent5>
      <a:accent6>
        <a:srgbClr val="6B6B6B"/>
      </a:accent6>
      <a:hlink>
        <a:srgbClr val="00754A"/>
      </a:hlink>
      <a:folHlink>
        <a:srgbClr val="5B3E8C"/>
      </a:folHlink>
    </a:clrScheme>
    <a:fontScheme name="QML Lectur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2일차 실습 설명 자료</dc:title>
  <dc:subject>PptxGenJS Presentation</dc:subject>
  <dc:creator>QML Lecture</dc:creator>
  <cp:lastModifiedBy>QML Lecture</cp:lastModifiedBy>
  <cp:revision>1</cp:revision>
  <dcterms:created xsi:type="dcterms:W3CDTF">2026-10-27T06:59:52Z</dcterms:created>
  <dcterms:modified xsi:type="dcterms:W3CDTF">2026-10-27T06:59:52Z</dcterms:modified>
</cp:coreProperties>
</file>