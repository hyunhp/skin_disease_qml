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5d274f4f-678c-c1cd-09b8-1449d6221b3b}">
          <p14:sldIdLst>
            <p14:sldId id="256"/>
          </p14:sldIdLst>
        </p14:section>
        <p14:section name="진행" id="{15afec72-68c6-9bfe-803d-a7239bfe01a5}">
          <p14:sldIdLst>
            <p14:sldId id="257"/>
          </p14:sldIdLst>
        </p14:section>
        <p14:section name="MediQ-GAN 구조" id="{1cec99a8-3225-b495-185b-95ac5e66cf1d}">
          <p14:sldIdLst>
            <p14:sldId id="258"/>
            <p14:sldId id="259"/>
            <p14:sldId id="260"/>
            <p14:sldId id="261"/>
            <p14:sldId id="262"/>
          </p14:sldIdLst>
        </p14:section>
        <p14:section name="미세조정" id="{f86af5d5-0494-d894-f9ed-329e6abd90de}">
          <p14:sldIdLst>
            <p14:sldId id="263"/>
          </p14:sldIdLst>
        </p14:section>
        <p14:section name="비교" id="{ea2bc517-05b1-eeaa-9a52-cd82b7312cd5}">
          <p14:sldIdLst>
            <p14:sldId id="264"/>
            <p14:sldId id="265"/>
          </p14:sldIdLst>
        </p14:section>
        <p14:section name="정리" id="{54d4bd9d-b70c-0ebe-1c30-8d815fe76d8e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② 클래스 평균 상관 (높을수록 형태 재현)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상관</c:v>
                </c:pt>
              </c:strCache>
            </c:strRef>
          </c:tx>
          <c:spPr>
            <a:solidFill>
              <a:srgbClr val="00754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5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B3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3E8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QGAN 600 step</c:v>
                  </c:pt>
                  <c:pt idx="1">
                    <c:v>MediQ 10 epoch</c:v>
                  </c:pt>
                  <c:pt idx="2">
                    <c:v>MediQ 25 epoch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0.195</c:v>
                </c:pt>
                <c:pt idx="1">
                  <c:v>0.018</c:v>
                </c:pt>
                <c:pt idx="2">
                  <c:v>0.365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④ 샘플 간 거리 (0에 가까우면 mode collapse)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다양성</c:v>
                </c:pt>
              </c:strCache>
            </c:strRef>
          </c:tx>
          <c:spPr>
            <a:solidFill>
              <a:srgbClr val="00754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5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3E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QGAN 600 step</c:v>
                  </c:pt>
                  <c:pt idx="1">
                    <c:v>MediQ 25 epoch</c:v>
                  </c:pt>
                  <c:pt idx="2">
                    <c:v>실제 DF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1.92</c:v>
                </c:pt>
                <c:pt idx="1">
                  <c:v>0.3</c:v>
                </c:pt>
                <c:pt idx="2">
                  <c:v>2.505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3일차 노트북(practice/day3_practice.ipynb)의 내용을 설명하는 자료.
- 핵심만 11장: MediQ-GAN 구조, 계산 비용, QGAN과의 비교. 2일차 복습·checkpoint 코드·논문 결과는 노트북에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- 3일차는 학습 없이 checkpoint를 불러오는 셀이 대부분이라 수 초 안에 끝남.
- 시간이 걸리는 셀: §3 구조 확인(16큐빗 회로 5개 forward, 십여 초), §4 미세조정 20 step(로컬 실측 약 7분, Colab 무료 CPU 실측 13.8분).
- 진행 로그의 '남은 예상' 시간을 보고 step 수를 줄여도 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- 1일차 슬라이드 18 'Hybrid 분류체계' 복습.
- model-level hybrid: 판별자만 고전, 생성자는 처음부터 끝까지 양자회로. 출력이 측정 확률이라 척도가 확률(patch별 합 0 ~ 1).
- layer-level hybrid: 생성자 안에서 고전 layer와 양자 layer가 함께 동작. 최종 출력은 고전 decoder가 만들고 Tanh(-1 ~ 1).
- MediQ-GAN 논문의 주장: 전역 구조는 고전, 세부는 양자가 맡는 쪽이 더 높은 해상도로 확장됨.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forward 코드: z[:, :half]는 고전 stream, z[:, half:]는 양자 stream으로 감(논문 Fig.2 'feature map split').
- 고전 stream은 128 → 32 → 128 MLP. 논문은 conv encoder지만 16×16 저해상도라 MLP로 단순화함.
- 양자 stream은 128차원을 4×4 = 16 site(site당 8차원)로 보고, site [0, 4, 8, 11, 15]만 회로 5개가 하나씩 처리함. 나머지 11칸은 0.
- 양자 stream 출력은 16채널 × 4×4 = 256차원. 고전 128과 concat하면 384차원.
- decoder는 384 → 32 → 256 MLP + Tanh. 최종 이미지는 이 고전 decoder가 만듦 → Tanh가 포화되면 z와 무관한 상수 이미지가 나올 수 있음(README 학습 안정성).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- 2일차 회로와 다른 점: ① 입력이 난수가 아니라 q_align이 만든 학습된 특징값, ② RY와 RX를 같은 값으로 연속 적용, ③ 확률 대신 PauliX 기댓값(-1 ~ 1, 큐빗당 1개)을 출력.
- 기댓값 출력이라 ancilla qubit이나 post-selection이 필요 없음.
- lightning.qubit(C++ 시뮬레이터)은 backprop을 지원하지 않아 adjoint 미분을 씀. 16큐빗 상태벡터는 2^16 = 65,536차원.
- 공식 레포(mediq-gan.py의 quantum_circuit)와 같은 구성. depth는 논문 그림 기준 8(레포 CLI 기본값은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값은 노트북의 ToyDualStreamGenerator(in_dim 256)를 그대로 만들어 센 것.
- 파라미터 수로는 양자 stream이 2.1%에 불과하지만, 학습 시간의 대부분은 16큐빗 회로 시뮬레이션에서 나옴.
- 2일차 QGAN은 생성자 280개가 전부 양자 파라미터. '양자 비율'이 hybrid 수준의 차이를 수치로 보여줌.
- parameter-shift로 실제 장치에서 학습한다면 640개 × 2 = 1,280회 회로 실행이 샘플 하나의 기울기에 필요함.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양자 stream을 줄이지 않은 이유: 줄이면 '논문이 말한 모델'이 아니게 됨. 대신 해상도와 학습 구간을 줄임(README 설계 원칙 1).
- 판별자 차이가 가장 큼: 원 논문은 WGAN-GP critic(gradient penalty로 판별자를 제약). 실습은 QGAN과 같은 표준 BCE 판별자라 판별자가 쉽게 이김(README 학습 안정성).
- 평가: 16×16에서는 FID가 의미 없어 지표 4종을 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 epoch = DF 115장을 batch 4로 28 step. checkpoint 기록상 epoch당 평균 7.8분(453 ~ 487초).
- 1 step 약 20초: batch 4 × 샘플당 약 3초(판별자 step + 생성자 step).
- 큐빗 수에 따른 비용: 16큐빗은 12큐빗 대비 상태벡터가 16배(2^16 vs 2^12), 실측 소요시간은 약 20배였음(3일차 노트북 §6 ④).
- 그래서 수업에서는 10 epoch checkpoint(약 80분 학습분)에서 출발해 20 step만 더 돌림.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MediQ-GAN 25 epoch: 클래스 평균 상관 0.365로 QGAN(0.195)보다 높음 - 평균적인 병변 형태를 더 잘 맞춤.
- 그러나 샘플 간 거리 0.30은 실제 DF(2.505)의 약 1/8 - 비슷한 이미지를 반복 생성(mode collapse 경향).
- QGAN은 상관이 낮지만 다양성 1.92로 실제 분포에 가까움.
- 10 epoch(0.018)과 25 epoch(0.365) 차이로 학습량이 결과를 크게 바꾼다는 점도 확인함.
- 이 자료 작성 중 노트북 실행 결과: MediQ-GAN 25 epoch 상관 0.366, 다양성 0.285 - README와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MediQ-GAN의 최근접 실제 거리 3.44는 QGAN(1.64)의 두 배. 생성 이미지가 어떤 실제 이미지와도 가깝지 않음 → 개별 병변이 아니라 평균적인 형태를 반복해 그린다는 해석과 맞음(상관은 높고 다양성은 낮음).
- 클래스 평균 상관(②)은 평균 형태만 보므로, 같은 평균 이미지를 반복해도 높게 나옴. ②만 보면 MediQ-GAN이 낫다고 잘못 결론 내리게 됨.
- 토론: 데이터 증강이 목적이라면 어느 쪽이 더 쓸모 있는가 / 지표 하나로 순위를 매길 수 있는가.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다룬 내용을 노트북 순서대로 정리함.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3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100" kern="0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DFC49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E3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DFC49D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F2F0EB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00754A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1212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B6B6B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QML Lecture · 3일차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실습 설명 자료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FC49D"/>
                </a:solidFill>
              </a:rPr>
              <a:t>MediQ-GAN 미세조정 → QGAN과 같은 지표로 비교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9646920" y="777240"/>
            <a:ext cx="1417320" cy="1417320"/>
          </a:xfrm>
          <a:prstGeom prst="ellipse">
            <a:avLst/>
          </a:prstGeom>
          <a:solidFill>
            <a:srgbClr val="1E3932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58400" y="1188720"/>
            <a:ext cx="594360" cy="594360"/>
          </a:xfrm>
          <a:prstGeom prst="ellipse">
            <a:avLst/>
          </a:prstGeom>
          <a:solidFill>
            <a:srgbClr val="00754A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3일차 진행 순서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노트북 섹션별 내용과 실행 시간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85800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노트북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내용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실행 시간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§0 – §1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Colab 설정, 저장소 clone, 실습 자산 로드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1분 이내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 checkpoint(600 step) 생성·평가 - 비교 기준선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 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MediQ-GAN 구조: dual-stream, 16큐빗 회로 × 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십여 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§4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10 epoch checkpoint에서 20 step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로컬 약 7분 · Colab 약 14분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QGAN과 MediQ-GAN을 같은 지표 4종으로 비교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 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이미지 생성에서 양자컴퓨팅의 한계와 방향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1일차 복습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hybrid 수준 : model-level과 layer-level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QGAN은 생성자 전체가 양자회로, MediQ-GAN은 생성자 안의 한 갈래만 양자회로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754A"/>
                </a:solidFill>
              </a:rPr>
              <a:t>QGAN - model-level hybrid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51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Andra et al., 2025 · 2일차 실습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54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생성자 = 양자회로 (sub-generator 4개)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patch를 나눠 만들고 이어붙임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출력 = 측정 확률 (patch별 합 0 ~ 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판별자만 고전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516636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0075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772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 → [양자회로 × 4] → 이미지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EDE7F5"/>
          </a:solidFill>
          <a:ln w="15875">
            <a:solidFill>
              <a:srgbClr val="B9B3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B3E8C"/>
                </a:solidFill>
              </a:rPr>
              <a:t>MediQ-GAN - layer-level hybrid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651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Jiao et al., 2025 · 3일차 실습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3154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생성자 = 고전 stream + 양자 stream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입력을 절반씩 나눠 병렬 처리 후 concat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출력 = 고전 decoder → Tanh (-1 ~ 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양자 stream은 원 논문 스펙(16큐빗 × 5, depth 8)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46520" y="516636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5B3E8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4652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 → [고전 ∥ 양자] → concat → decoder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노트북 §3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dual-stream의 데이터 흐름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잠재벡터 256차원을 절반씩 나누고, 두 stream의 출력을 이어붙여 decoder로 보냄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9718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EDEBE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971800"/>
            <a:ext cx="13716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잠재벡터 z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256차원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N(0, 1)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331720" y="20574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z[:, :128]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069080" y="19659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1E393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06908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고전 stream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MLP 128→32→128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537960" y="205740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2057400"/>
            <a:ext cx="822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128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31720" y="43434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31720" y="434340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z[:, 128:]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069080" y="41605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5B3E8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69080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양자 stream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16 site → 회로 5개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→ 1×1 conv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537960" y="4251960"/>
            <a:ext cx="822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37960" y="4251960"/>
            <a:ext cx="822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16 × 4×4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= 256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938528" y="3337560"/>
            <a:ext cx="374904" cy="-91440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1938528" y="3703320"/>
            <a:ext cx="374904" cy="91440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3721608" y="2377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190488" y="2377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3721608" y="4663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6190488" y="4663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7772400" y="2971800"/>
            <a:ext cx="1234440" cy="1097280"/>
          </a:xfrm>
          <a:prstGeom prst="roundRect">
            <a:avLst>
              <a:gd name="adj" fmla="val 6667"/>
            </a:avLst>
          </a:prstGeom>
          <a:solidFill>
            <a:srgbClr val="DDF2E6"/>
          </a:solidFill>
          <a:ln w="12700">
            <a:solidFill>
              <a:srgbClr val="0075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0" y="2971800"/>
            <a:ext cx="12344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concat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128 + 256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= 384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379208" y="2377440"/>
            <a:ext cx="484632" cy="576072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379208" y="4663440"/>
            <a:ext cx="484632" cy="-576072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9372600" y="292608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1E393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372600" y="2926080"/>
            <a:ext cx="1463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decoder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MLP 384→32→256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Tanh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025128" y="3520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11018520" y="3154680"/>
            <a:ext cx="685800" cy="731520"/>
          </a:xfrm>
          <a:prstGeom prst="roundRect">
            <a:avLst>
              <a:gd name="adj" fmla="val 10667"/>
            </a:avLst>
          </a:prstGeom>
          <a:solidFill>
            <a:srgbClr val="EDEBE9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1018520" y="3154680"/>
            <a:ext cx="685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16×16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-1 ~ 1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0853928" y="3520440"/>
            <a:ext cx="14630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48640" y="5230368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E3932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77240" y="5413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z_c, z_q = z[:, :self.half], z[:, self.half:]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fused = torch.cat([self.classical_stream(z_c),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self.quantum_stream(z_q)], dim=1)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self.decoder(fused)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노트북 §3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양자 회로 : 16큐빗, depth 8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같은 값으로 RY → RX encoding, [학습 RY + 인접 CZ] × 8, 큐빗별 PauliX 기댓값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035040" cy="4023360"/>
          </a:xfrm>
          <a:prstGeom prst="roundRect">
            <a:avLst>
              <a:gd name="adj" fmla="val 2273"/>
            </a:avLst>
          </a:prstGeom>
          <a:solidFill>
            <a:srgbClr val="1E393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5577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@qml.qnode(dev, interface="torch", diff_method="adjoint")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q_circuit(x, weights):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range(n_qubits):         # 1 encoding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qml.RY(x[i],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qml.RX(x[i],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layer in range(q_depth):      # 2 x 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qml.RY(weights[layer, 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 - 1):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qml.CZ(wires=[i, i + 1])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[qml.expval(qml.PauliX(i))  # 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i in range(n_qubits)]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0" y="2011680"/>
            <a:ext cx="4754880" cy="4023360"/>
          </a:xfrm>
          <a:prstGeom prst="roundRect">
            <a:avLst>
              <a:gd name="adj" fmla="val 2727"/>
            </a:avLst>
          </a:prstGeom>
          <a:solidFill>
            <a:srgbClr val="F2F0E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67728" y="2331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q0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06640" y="24688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0" y="2313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98080" y="2313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156448" y="2313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56448" y="2313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9052560" y="23134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052560" y="23134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0972800" y="23134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972800" y="23134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967728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06640" y="29260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0" y="27706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498080" y="27706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156448" y="27706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156448" y="27706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52560" y="27706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52560" y="27706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0972800" y="27706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972800" y="27706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967728" y="3246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406640" y="33832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98080" y="32278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498080" y="32278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156448" y="32278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156448" y="32278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9052560" y="32278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052560" y="32278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10972800" y="32278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972800" y="32278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6967728" y="3703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⋮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4160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q14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7406640" y="42976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498080" y="41422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498080" y="41422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156448" y="41422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8156448" y="41422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9052560" y="41422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9052560" y="41422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10972800" y="41422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10972800" y="41422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6967728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q15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7406640" y="47548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98080" y="4599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498080" y="4599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8156448" y="4599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8156448" y="4599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9052560" y="45994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052560" y="45994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10972800" y="45994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0972800" y="45994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9866376" y="24140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1" name="Shape 58"/>
          <p:cNvSpPr/>
          <p:nvPr/>
        </p:nvSpPr>
        <p:spPr>
          <a:xfrm>
            <a:off x="9866376" y="28712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2" name="Shape 59"/>
          <p:cNvSpPr/>
          <p:nvPr/>
        </p:nvSpPr>
        <p:spPr>
          <a:xfrm>
            <a:off x="9921240" y="246888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158984" y="28712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4" name="Shape 61"/>
          <p:cNvSpPr/>
          <p:nvPr/>
        </p:nvSpPr>
        <p:spPr>
          <a:xfrm>
            <a:off x="10158984" y="33284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5" name="Shape 62"/>
          <p:cNvSpPr/>
          <p:nvPr/>
        </p:nvSpPr>
        <p:spPr>
          <a:xfrm>
            <a:off x="10213848" y="292608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0451592" y="42428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7" name="Shape 64"/>
          <p:cNvSpPr/>
          <p:nvPr/>
        </p:nvSpPr>
        <p:spPr>
          <a:xfrm>
            <a:off x="10451592" y="47000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8" name="Shape 65"/>
          <p:cNvSpPr/>
          <p:nvPr/>
        </p:nvSpPr>
        <p:spPr>
          <a:xfrm>
            <a:off x="10506456" y="429768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915400" y="2240280"/>
            <a:ext cx="1920240" cy="2834640"/>
          </a:xfrm>
          <a:prstGeom prst="roundRect">
            <a:avLst>
              <a:gd name="adj" fmla="val 4762"/>
            </a:avLst>
          </a:prstGeom>
          <a:ln w="15875">
            <a:solidFill>
              <a:srgbClr val="00754A"/>
            </a:solidFill>
            <a:prstDash val="dash"/>
          </a:ln>
        </p:spPr>
      </p:sp>
      <p:sp>
        <p:nvSpPr>
          <p:cNvPr id="70" name="Text 67"/>
          <p:cNvSpPr txBox="1"/>
          <p:nvPr/>
        </p:nvSpPr>
        <p:spPr>
          <a:xfrm>
            <a:off x="7406640" y="5257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E8C"/>
                </a:solidFill>
              </a:rPr>
              <a:t>① encoding</a:t>
            </a:r>
            <a:endParaRPr lang="en-US" sz="1100" dirty="0"/>
          </a:p>
        </p:txBody>
      </p:sp>
      <p:sp>
        <p:nvSpPr>
          <p:cNvPr id="71" name="Text 68"/>
          <p:cNvSpPr txBox="1"/>
          <p:nvPr/>
        </p:nvSpPr>
        <p:spPr>
          <a:xfrm>
            <a:off x="8915400" y="5257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54A"/>
                </a:solidFill>
              </a:rPr>
              <a:t>② × 8 (RY + CZ 사슬)</a:t>
            </a:r>
            <a:endParaRPr lang="en-US" sz="1100" dirty="0"/>
          </a:p>
        </p:txBody>
      </p:sp>
      <p:sp>
        <p:nvSpPr>
          <p:cNvPr id="72" name="Text 69"/>
          <p:cNvSpPr txBox="1"/>
          <p:nvPr/>
        </p:nvSpPr>
        <p:spPr>
          <a:xfrm>
            <a:off x="10835640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5000"/>
                </a:solidFill>
              </a:rPr>
              <a:t>③ 측정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7086600" y="559612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</a:rPr>
              <a:t>출력: 큐빗 16개의 기댓값 → 평균 → site당 스칼라 1개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파라미터 분포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생성자 파라미터 구성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30,000개 중 양자 회전각은 640개(2.1%). 2일차 QGAN 생성자는 280개 전부가 양자 회전각임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394960"/>
                <a:gridCol w="1828800"/>
                <a:gridCol w="1645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모듈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파라미터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비율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decoder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Linear 384 → 32 → 256 + Tanh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20,768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69.2%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고전 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Linear 128 → 32 → 128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8,352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27.8%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양자 회전각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sub-generator 5 × 8층 × 16큐빗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640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2.1%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q_align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Linear 8 → 16 (site 벡터를 큐빗 수에 맞춤)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144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0.5%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proj_qexp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1×1 conv, 5 → 16채널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96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0.3%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합계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</a:rPr>
              <a:t>파라미터 수로는 2%지만, 학습 시간의 대부분은 이 640개가 들어 있는 16큐빗 회로의 시뮬레이션에서 나옴.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노트북 ToyDualStreamGenerator(in_dim 256)에서 직접 센 값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한계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원 논문과 실습의 차이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양자 stream은 원 논문 스펙 그대로, 고전 부분과 판별자·평가를 단순화함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560320"/>
                <a:gridCol w="3291840"/>
                <a:gridCol w="2834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원 논문 (Jiao et al.)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3일차 실습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양자 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16큐빗 × 5, depth 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동일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공식 레포와 같은 회로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고전 encoder / decoder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conv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MLP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16×16 저해상도라 단순화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입력 · 출력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64×64 RGB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16×16 그레이스케일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2일차 전처리 자산 사용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WGAN-GP critic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표준 BCE 판별자 (Table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QGAN과 같은 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GPU, 전체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25 epoch 사전학습 + 수업 중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16큐빗 시뮬레이션 비용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평가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FID, 분류 성능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지표 4종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FID는 16×16에서 의미 없음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미세조정 · 계산 비용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계산 비용 : 수업에서 미세조정만 하는 이유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16큐빗 회로 시뮬레이션이 비싸 25 epoch 사전학습에 196분(약 3시간 15분)이 걸림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2일차 QGAN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3일차 MediQ-GAN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큐빗 (회로 하나)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상태벡터 차원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2⁷ = 128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2¹⁶ = 65,536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미분 방식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backprop (default.qubit)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adjoint (lightning.qubit)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약 2.2초 (batch 8)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약 20초 (batch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전체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600 step 약 22분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25 epoch 196분 (epoch당 7.8분)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수업 중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처음부터 400 step (Colab 약 35분)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10 epoch checkpoint에서 20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</a:rPr>
              <a:t>16큐빗은 12큐빗보다 상태벡터가 16배 크고(2¹⁶ vs 2¹²), 실측 소요 시간은 약 20배였음.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로컬 CPU 실측. epoch 시간은 checkpoint epoch_sec 평균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비교 · 노트북 §5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지표 비교 : 형태 재현과 다양성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상관은 MediQ-GAN이 높고, 샘플 간 거리는 QGAN이 실제 DF에 가까움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96596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217920" y="196596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3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수치: README 결과표 (로컬 CPU). MediQ-GAN은 16장, QGAN은 64장으로 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비교 · 결과 해석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결과 해석 : 두 모델의 한계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QGAN은 형태 재현이 약하고, MediQ-GAN은 평균 이미지에 가까운 그림을 반복함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194560"/>
                <a:gridCol w="3931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QGAN 600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MediQ-GAN 25 epoch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의미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② 클래스 평균 상관 ↑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0.195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0.365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평균 형태는 MediQ-GAN이 더 가까움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③ 최근접 실제 거리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1.64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3.44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MediQ-GAN은 실제 이미지 어느 것과도 멂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④ 샘플 간 거리 (실제 2.505)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1.92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0.30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MediQ-GAN은 비슷한 그림을 반복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206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54A"/>
                </a:solidFill>
              </a:rPr>
              <a:t>해석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QGAN: 다양성은 실제에 가깝지만 병변 형태 재현이 약함. patch를 서로 독립적으로 만들어 이미지 전체 구조를 잡기 어려움.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MediQ-GAN: 평균 형태는 잘 맞추지만 다양성이 실제의 1/8. 최종 출력을 고전 decoder가 만들기 때문에 Tanh가 포화되면 z와 무관한 이미지가 나옴.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②만 보면 MediQ-GAN이 낫다고 결론 내리게 됨. ②는 평균 형태만 보므로 같은 이미지를 반복해도 높게 나옴.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정리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3일차 정리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MediQ-GAN 구조와 미세조정, QGAN과의 비교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hybrid 수준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QGAN은 생성자 전체가 양자회로(model-level), MediQ-GAN은 생성자 안의 양자 stream만 양자회로(layer-level)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dual-stream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잠재벡터 256차원을 절반씩 고전 MLP와 양자 stream으로 나눠 처리한 뒤 concat → decoder → Tanh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양자 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16큐빗 × depth 8 회로 5개가 16 site 중 5개만 처리. PauliX 기댓값 출력이라 ancilla qubit이 필요 없음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파라미터와 비용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30,000개 중 양자 회전각은 640개(2.1%)지만 학습 시간 대부분이 16큐빗 시뮬레이션 (25 epoch 196분)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checkpoint와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config로 같은 구조를 만든 뒤 가중치를 불러옴. 판별자도 같은 시점 상태로 불러와 20 step 추가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학습 안정성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BCE 판별자가 쉽게 이김 (lr_g 0.02에서 3 epoch 만에 mode collapse). 원 논문은 WGAN-GP critic을 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비교 결과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상관은 MediQ-GAN 0.365 &gt; QGAN 0.195, 다양성은 QGAN 1.92 &gt; MediQ-GAN 0.30. 지표 하나로 순위를 정하지 않음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설명 자료</dc:title>
  <dc:subject>PptxGenJS Presentation</dc:subject>
  <dc:creator>QML Lecture</dc:creator>
  <cp:lastModifiedBy>QML Lecture</cp:lastModifiedBy>
  <cp:revision>1</cp:revision>
  <dcterms:created xsi:type="dcterms:W3CDTF">2026-10-29T05:43:21Z</dcterms:created>
  <dcterms:modified xsi:type="dcterms:W3CDTF">2026-10-29T05:43:21Z</dcterms:modified>
</cp:coreProperties>
</file>