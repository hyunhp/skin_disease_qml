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f765830-3f67-9aa5-c89c-64f5499b8c8f}">
          <p14:sldIdLst>
            <p14:sldId id="256"/>
          </p14:sldIdLst>
        </p14:section>
        <p14:section name="진행" id="{c53d02ac-6adb-fe1c-9b0f-315038554bfb}">
          <p14:sldIdLst>
            <p14:sldId id="257"/>
          </p14:sldIdLst>
        </p14:section>
        <p14:section name="PART 0 · 2일차 복습과 기준선" id="{03e647f3-226d-0b7b-be03-f5698d3cd653}">
          <p14:sldIdLst>
            <p14:sldId id="258"/>
            <p14:sldId id="259"/>
            <p14:sldId id="260"/>
            <p14:sldId id="261"/>
          </p14:sldIdLst>
        </p14:section>
        <p14:section name="PART 1 · MediQ-GAN 구조" id="{27ba2fb5-d7cc-0f08-c9c5-003473fba549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RT 2 · 라이브 미세조정" id="{27de60df-3339-a282-71d4-ef857adba588}">
          <p14:sldIdLst>
            <p14:sldId id="269"/>
            <p14:sldId id="270"/>
            <p14:sldId id="271"/>
            <p14:sldId id="272"/>
          </p14:sldIdLst>
        </p14:section>
        <p14:section name="PART 3 · 비교" id="{5e18da71-6dab-d824-cd3b-9e3356a0941d}">
          <p14:sldIdLst>
            <p14:sldId id="273"/>
            <p14:sldId id="274"/>
            <p14:sldId id="275"/>
          </p14:sldIdLst>
        </p14:section>
        <p14:section name="PART 4 · 토론" id="{61401e36-5940-f061-f41b-16132c3a1cac}">
          <p14:sldIdLst>
            <p14:sldId id="276"/>
            <p14:sldId id="277"/>
          </p14:sldIdLst>
        </p14:section>
        <p14:section name="정리" id="{71244233-029a-80d8-813e-4b6042f9fa46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MediQ-GAN 사전학습 손실 (epoch별 평균, 로컬 CPU)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loss_g</c:v>
                </c:pt>
              </c:strCache>
            </c:strRef>
          </c:tx>
          <c:spPr>
            <a:solidFill>
              <a:srgbClr val="00754A"/>
            </a:solidFill>
            <a:ln w="25400" cap="flat">
              <a:solidFill>
                <a:srgbClr val="0075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754A"/>
              </a:solidFill>
              <a:ln w="9525" cap="flat">
                <a:solidFill>
                  <a:srgbClr val="0075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0.827</c:v>
                </c:pt>
                <c:pt idx="1">
                  <c:v>0.828</c:v>
                </c:pt>
                <c:pt idx="2">
                  <c:v>0.839</c:v>
                </c:pt>
                <c:pt idx="3">
                  <c:v>0.855</c:v>
                </c:pt>
                <c:pt idx="4">
                  <c:v>0.869</c:v>
                </c:pt>
                <c:pt idx="5">
                  <c:v>0.891</c:v>
                </c:pt>
                <c:pt idx="6">
                  <c:v>0.899</c:v>
                </c:pt>
                <c:pt idx="7">
                  <c:v>0.918</c:v>
                </c:pt>
                <c:pt idx="8">
                  <c:v>0.944</c:v>
                </c:pt>
                <c:pt idx="9">
                  <c:v>0.981</c:v>
                </c:pt>
                <c:pt idx="10">
                  <c:v>1.08</c:v>
                </c:pt>
                <c:pt idx="11">
                  <c:v>1.245</c:v>
                </c:pt>
                <c:pt idx="12">
                  <c:v>1.423</c:v>
                </c:pt>
                <c:pt idx="13">
                  <c:v>1.731</c:v>
                </c:pt>
                <c:pt idx="14">
                  <c:v>1.989</c:v>
                </c:pt>
                <c:pt idx="15">
                  <c:v>2.411</c:v>
                </c:pt>
                <c:pt idx="16">
                  <c:v>2.761</c:v>
                </c:pt>
                <c:pt idx="17">
                  <c:v>2.967</c:v>
                </c:pt>
                <c:pt idx="18">
                  <c:v>3.368</c:v>
                </c:pt>
                <c:pt idx="19">
                  <c:v>3.195</c:v>
                </c:pt>
                <c:pt idx="20">
                  <c:v>3.055</c:v>
                </c:pt>
                <c:pt idx="21">
                  <c:v>1.899</c:v>
                </c:pt>
                <c:pt idx="22">
                  <c:v>0.718</c:v>
                </c:pt>
                <c:pt idx="23">
                  <c:v>0.74</c:v>
                </c:pt>
                <c:pt idx="24">
                  <c:v>0.772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loss_d</c:v>
                </c:pt>
              </c:strCache>
            </c:strRef>
          </c:tx>
          <c:spPr>
            <a:solidFill>
              <a:srgbClr val="5B3E8C"/>
            </a:solidFill>
            <a:ln w="25400" cap="flat">
              <a:solidFill>
                <a:srgbClr val="5B3E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5B3E8C"/>
              </a:solidFill>
              <a:ln w="9525" cap="flat">
                <a:solidFill>
                  <a:srgbClr val="5B3E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1.39</c:v>
                </c:pt>
                <c:pt idx="1">
                  <c:v>1.356</c:v>
                </c:pt>
                <c:pt idx="2">
                  <c:v>1.332</c:v>
                </c:pt>
                <c:pt idx="3">
                  <c:v>1.318</c:v>
                </c:pt>
                <c:pt idx="4">
                  <c:v>1.304</c:v>
                </c:pt>
                <c:pt idx="5">
                  <c:v>1.286</c:v>
                </c:pt>
                <c:pt idx="6">
                  <c:v>1.279</c:v>
                </c:pt>
                <c:pt idx="7">
                  <c:v>1.262</c:v>
                </c:pt>
                <c:pt idx="8">
                  <c:v>1.243</c:v>
                </c:pt>
                <c:pt idx="9">
                  <c:v>1.217</c:v>
                </c:pt>
                <c:pt idx="10">
                  <c:v>1.162</c:v>
                </c:pt>
                <c:pt idx="11">
                  <c:v>1.087</c:v>
                </c:pt>
                <c:pt idx="12">
                  <c:v>1.022</c:v>
                </c:pt>
                <c:pt idx="13">
                  <c:v>0.935</c:v>
                </c:pt>
                <c:pt idx="14">
                  <c:v>0.88</c:v>
                </c:pt>
                <c:pt idx="15">
                  <c:v>0.818</c:v>
                </c:pt>
                <c:pt idx="16">
                  <c:v>0.78</c:v>
                </c:pt>
                <c:pt idx="17">
                  <c:v>0.763</c:v>
                </c:pt>
                <c:pt idx="18">
                  <c:v>0.738</c:v>
                </c:pt>
                <c:pt idx="19">
                  <c:v>0.747</c:v>
                </c:pt>
                <c:pt idx="20">
                  <c:v>0.778</c:v>
                </c:pt>
                <c:pt idx="21">
                  <c:v>1.093</c:v>
                </c:pt>
                <c:pt idx="22">
                  <c:v>1.357</c:v>
                </c:pt>
                <c:pt idx="23">
                  <c:v>1.341</c:v>
                </c:pt>
                <c:pt idx="24">
                  <c:v>1.313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 ln 2 = 1.386</c:v>
                </c:pt>
              </c:strCache>
            </c:strRef>
          </c:tx>
          <c:spPr>
            <a:solidFill>
              <a:srgbClr val="B9B3D6"/>
            </a:solidFill>
            <a:ln w="25400" cap="flat">
              <a:solidFill>
                <a:srgbClr val="B9B3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9B3D6"/>
              </a:solidFill>
              <a:ln w="9525" cap="flat">
                <a:solidFill>
                  <a:srgbClr val="B9B3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1.386</c:v>
                </c:pt>
                <c:pt idx="1">
                  <c:v>1.386</c:v>
                </c:pt>
                <c:pt idx="2">
                  <c:v>1.386</c:v>
                </c:pt>
                <c:pt idx="3">
                  <c:v>1.386</c:v>
                </c:pt>
                <c:pt idx="4">
                  <c:v>1.386</c:v>
                </c:pt>
                <c:pt idx="5">
                  <c:v>1.386</c:v>
                </c:pt>
                <c:pt idx="6">
                  <c:v>1.386</c:v>
                </c:pt>
                <c:pt idx="7">
                  <c:v>1.386</c:v>
                </c:pt>
                <c:pt idx="8">
                  <c:v>1.386</c:v>
                </c:pt>
                <c:pt idx="9">
                  <c:v>1.386</c:v>
                </c:pt>
                <c:pt idx="10">
                  <c:v>1.386</c:v>
                </c:pt>
                <c:pt idx="11">
                  <c:v>1.386</c:v>
                </c:pt>
                <c:pt idx="12">
                  <c:v>1.386</c:v>
                </c:pt>
                <c:pt idx="13">
                  <c:v>1.386</c:v>
                </c:pt>
                <c:pt idx="14">
                  <c:v>1.386</c:v>
                </c:pt>
                <c:pt idx="15">
                  <c:v>1.386</c:v>
                </c:pt>
                <c:pt idx="16">
                  <c:v>1.386</c:v>
                </c:pt>
                <c:pt idx="17">
                  <c:v>1.386</c:v>
                </c:pt>
                <c:pt idx="18">
                  <c:v>1.386</c:v>
                </c:pt>
                <c:pt idx="19">
                  <c:v>1.386</c:v>
                </c:pt>
                <c:pt idx="20">
                  <c:v>1.386</c:v>
                </c:pt>
                <c:pt idx="21">
                  <c:v>1.386</c:v>
                </c:pt>
                <c:pt idx="22">
                  <c:v>1.386</c:v>
                </c:pt>
                <c:pt idx="23">
                  <c:v>1.386</c:v>
                </c:pt>
                <c:pt idx="24">
                  <c:v>1.386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6B6B"/>
                    </a:solidFill>
                    <a:latin typeface="Arial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121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 (높을수록 형태 재현)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B3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10 epoch</c:v>
                  </c:pt>
                  <c:pt idx="2">
                    <c:v>MediQ 25 epoch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0.195</c:v>
                </c:pt>
                <c:pt idx="1">
                  <c:v>0.018</c:v>
                </c:pt>
                <c:pt idx="2">
                  <c:v>0.365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④ 샘플 간 거리 (0에 가까우면 mode collapse)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다양성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25 epoch</c:v>
                  </c:pt>
                  <c:pt idx="2">
                    <c:v>실제 DF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1.92</c:v>
                </c:pt>
                <c:pt idx="1">
                  <c:v>0.3</c:v>
                </c:pt>
                <c:pt idx="2">
                  <c:v>2.505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3일차 노트북(practice/day3_practice.ipynb)의 내용을 설명하는 자료.
- 2일차 자료와 같은 구성: 코드 중심, 각 PART 첫 장에 해당 노트북 섹션을 표시함.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- 3일차는 학습 없이 checkpoint를 불러오는 셀이 대부분이라 수 초 안에 끝남.
- 시간이 걸리는 셀: §3 구조 확인(16큐빗 회로 5개 forward, 십여 초), §4 미세조정 20 step(로컬 실측 약 7분, Colab은 더 걸림).
- 진행 로그의 '남은 예상' 시간을 보고 step 수를 줄여도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데이터, 판별자 구조(논문 Table 4), 지표 4종은 2일차와 동일함. 바뀌는 것은 생성자 하나뿐이라 비교가 공정함.
- 2일차 생성자는 '전체가 양자'(model-level hybrid), 오늘 생성자는 '일부만 양자'(layer-level hybrid).
- 2일차 수업 중 학습은 400 step, 오늘 쓰는 강사 checkpoint는 같은 구조로 600 step 학습한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checkpoint는 가중치(state_dict)만 저장하므로, 불러오기 전에 같은 모양의 모델을 먼저 만들어야 함. 모양이 다르면 load_state_dict가 오류를 냄.
- 그래서 학습 스크립트가 config(sub-generator 수, 큐빗 수, depth 등)를 함께 저장함. 클래스의 인자 기본값은 쓰이지 않음.
- map_location='cpu': GPU에서 저장한 파일도 CPU에서 열 수 있게 함.
- 강사 checkpoint(QGAN·MediQ-GAN)에는 판별자 가중치도 들어 있음. 2일차 §7에서 각자 저장한 파일에는 없음. MediQ-GAN을 미세조정할 때 판별자도 같은 시점 상태로 불러와야 균형이 유지됨.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README 결과표의 수치(로컬 CPU 실측). 상관계수는 64장 × 10개 시드 평균 ± 표준편차.
- 생성은 호출마다 새 난수를 쓰므로 노트북을 실행할 때마다 값이 조금씩 다름(예: 이 자료 작성 중 실행 결과는 상관 0.222, 최근접 1.66, 다양성 1.97). 소수점보다 모델 간 격차를 봄.
- QGAN은 64장, MediQ-GAN은 16장으로 평가함. 16큐빗 시뮬레이션이 비싸기 때문. 상관계수는 표본 수에 민감해 8 ~ 16장이면 0.05 ~ 0.17까지 흔들렸음.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- 1일차 슬라이드 18 'Hybrid 분류체계' 복습.
- model-level hybrid: 판별자만 고전, 생성자는 처음부터 끝까지 양자회로. 출력이 측정 확률이라 척도가 확률(patch별 합 0 ~ 1).
- layer-level hybrid: 생성자 안에서 고전 layer와 양자 layer가 함께 동작. 최종 출력은 고전 decoder가 만들고 Tanh(-1 ~ 1).
- MediQ-GAN 논문의 주장: 전역 구조는 고전, 세부는 양자가 맡는 쪽이 더 높은 해상도로 확장됨.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forward 코드: z[:, :half]는 고전 stream, z[:, half:]는 양자 stream으로 감(논문 Fig.2 'feature map split').
- 고전 stream은 128 → 32 → 128 MLP. 논문은 conv encoder지만 16×16 저해상도라 MLP로 단순화함.
- 양자 stream 출력은 16채널 × 4×4 = 256차원. 고전 128과 concat하면 384차원.
- decoder는 384 → 32 → 256 MLP + Tanh. 최종 이미지는 이 고전 decoder가 만듦 → Tanh가 포화되면 z와 무관한 상수 이미지가 나올 수 있음(PART 2 학습 안정성).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- 2일차 회로와 다른 점: ① 입력이 난수가 아니라 q_align이 만든 학습된 특징값, ② RY와 RX를 같은 값으로 연속 적용, ③ 확률 대신 PauliX 기댓값(-1 ~ 1, 큐빗당 1개)을 출력.
- 기댓값 출력이라 ancilla qubit이나 post-selection이 필요 없음.
- lightning.qubit(C++ 시뮬레이터)은 backprop을 지원하지 않아 adjoint 미분을 씀. 16큐빗 상태벡터는 2^16 = 65,536차원.
- 공식 레포(mediq-gan.py의 quantum_circuit)와 같은 구성. depth는 논문 그림 기준 8(레포 CLI 기본값은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z_quantum 128차원을 16 site × 8차원으로 보고, q_align(Linear 8 → 16)으로 site마다 큐빗 수(16)에 맞춘 토큰을 만듦.
- site_idx = linspace(0, 15, 5).round() = [0, 4, 8, 11, 15]. sub-generator g는 site_idx[g] 하나만 처리함.
- 회로 출력 16개 기댓값의 평균 → 스칼라 1개 → 4×4 맵의 해당 칸. 나머지 11칸은 0.
- proj_qexp(1×1 conv)가 5채널 맵을 16채널로 투영. 1×1이라 칸끼리 섞지 않음.
- 회로 실행 수 = sub-generator 5 × batch. 이 부분이 MediQ-GAN에서 가장 느림.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값은 노트북의 ToyDualStreamGenerator(in_dim 256)를 그대로 만들어 센 것.
- 파라미터 수로는 양자 stream이 2.1%에 불과하지만, 학습 시간의 대부분은 16큐빗 회로 시뮬레이션에서 나옴.
- 2일차 QGAN은 생성자 280개가 전부 양자 파라미터. '양자 비율'이 hybrid 수준의 차이를 수치로 보여줌.
- parameter-shift로 실제 장치에서 학습한다면 640개 × 2 = 1,280회 회로 실행이 샘플 하나의 기울기에 필요함.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양자 stream을 줄이지 않은 이유: 줄이면 '논문이 말한 모델'이 아니게 됨. 대신 해상도와 학습 구간을 줄임(README 설계 원칙 1).
- 판별자 차이가 가장 큼: 원 논문은 WGAN-GP critic(gradient penalty로 판별자를 제약). 실습은 QGAN과 같은 표준 BCE 판별자라 판별자가 쉽게 이김(다음 PART 학습 안정성).
- 평가: 16×16에서는 FID가 의미 없어 지표 4종을 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step 약 20초라 20 step이면 로컬 기준 약 7분.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real_tanh: 실제 이미지(0 ~ 1)를 2x - 1로 옮겨 생성자 출력(Tanh, -1 ~ 1)과 척도를 맞춤.
- sample_z: checkpoint config의 z_dist를 따름(normal). 강사 학습과 같은 조건이어야 비교가 됨.
- 판별자도 checkpoint에서 불러옴. 새 판별자로 시작하면 균형이 처음부터 깨짐.
- 10 epoch에서 출발하는 이유: 완전히 수렴한 모델에서 시작하면 손실이 거의 움직이지 않아 학습 과정이 보이지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차트는 mediqgan_final.pt의 history(700 step = 25 epoch × 28 step)를 epoch별로 평균한 값.
- 10 epoch까지는 균형 근처(loss_d 1.2 ~ 1.4). 이후 loss_d가 0.74까지 떨어지고 loss_g가 3.37까지 오름 - 판별자 우세 구간. 22 epoch부터 다시 균형으로 돌아옴.
- 사전 실험에서 lr_g 0.02(큰 학습률)로 시작했을 때는 3 epoch 만에 loss_d 0.0027, 다양성 0.000(완전 mode collapse). GAN 관례값으로 바꿔 25 epoch을 완주함(README 학습 안정성).
- 원 논문이 WGAN-GP critic을 쓰는 이유가 이 불안정성임. 판별자 설계가 결과를 좌우한다는 점을 토론 소재로 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 epoch = DF 115장을 batch 4로 28 step. checkpoint 기록상 epoch당 평균 7.8분(453 ~ 487초).
- 1 step 약 20초: batch 4 × 샘플당 약 3초(판별자 step + 생성자 step).
- 큐빗 수에 따른 비용: 16큐빗은 12큐빗 대비 상태벡터가 16배(2^16 vs 2^12), 실측 소요시간은 약 20배였음(3일차 노트북 §6 ④).
- 그래서 수업에서는 10 epoch checkpoint(약 80분 학습분)에서 출발해 20 step만 더 돌림.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 25 epoch: 클래스 평균 상관 0.365로 QGAN(0.195)보다 높음 - 평균적인 병변 형태를 더 잘 맞춤.
- 그러나 샘플 간 거리 0.30은 실제 DF(2.505)의 약 1/8 - 비슷한 이미지를 반복 생성(mode collapse 경향).
- QGAN은 상관이 낮지만 다양성 1.92로 실제 분포에 가까움.
- 10 epoch(0.018)과 25 epoch(0.365) 차이로 학습량이 결과를 크게 바꾼다는 점도 확인함.
- 이 자료 작성 중 노트북 실행 결과: MediQ-GAN 25 epoch 상관 0.366, 다양성 0.285 - README와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MediQ-GAN의 최근접 실제 거리 3.44는 QGAN(1.64)의 두 배. 생성 이미지가 어떤 실제 이미지와도 가깝지 않음 → 개별 병변이 아니라 평균적인 형태를 반복해 그린다는 해석과 맞음(상관은 높고 다양성은 낮음).
- 클래스 평균 상관(②)은 평균 형태만 보므로, 같은 평균 이미지를 반복해도 높게 나옴. ②만 보면 MediQ-GAN이 낫다고 잘못 결론 내리게 됨.
- 토론: 데이터 증강이 목적이라면 어느 쪽이 더 쓸모 있는가 / 지표 하나로 순위를 매길 수 있는가.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§6 내용 요약.
① 2일차 QGAN: ancilla qubit 없이 측정하면 patch 합이 1로 고정되어 학습이 무너졌음(8×8 단계 사전 실험).
② 두 모델 모두 exact 상태벡터 시뮬레이터로 학습함(shot 없음). 실제 장치는 parameter-shift가 필요함.
③ 16×16에서는 FID가 의미 없음 - '어떤 지표로 좋다고 할 것인가'가 아직 열린 문제.
④ 16큐빗은 12큐빗 대비 상태 16배, 시간 약 20배.
⑤ 원 논문은 WGAN-GP critic으로 판별자를 제약함. 고전 쪽 학습 안정화가 결과를 좌우함.
⑥ 양자 생성모델은 양자 데이터·해밀토니안 상태 생성에서 먼저 의미를 가짐. 고전 데이터 영역의 우위는 아직 검증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세 데이터셋 모두 클래스별 FID가 최고 또는 차상위(논문 Table 2). ODIR-5k 행만 FID가 아니라 증강 후 분류 성능(Table 1)임.
- 원 논문은 64×64 RGB, WGAN-GP critic, GPU 학습 조건. 실습 결과와 같은 선상에서 비교하지 않음.
- 비교 대상에 diffusion 모델(DiT)까지 포함되어 있다는 점, IBM 실기기(ibm_marrakesh)에서 추론을 검증했다는 점을 짚음.
- 시사점: '생성자 전체를 양자로'보다 '전역 구조는 고전, 세부는 양자'인 layer-level hybrid가 더 높은 해상도로 확장되고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내용을 PART 순서대로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DFC49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DFC49D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F2F0EB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754A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1212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QML Lecture · 3일차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FC49D"/>
                </a:solidFill>
              </a:rPr>
              <a:t>MediQ-GAN 미세조정 → QGAN과 같은 지표로 비교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rgbClr val="1E3932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rgbClr val="00754A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노트북 섹션과 이 자료의 PART 대응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760720"/>
                <a:gridCol w="219456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노트북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실행 시간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설명 자료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§0 – §1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Colab 설정, 저장소 clone, 실습 자산 로드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1분 이내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 checkpoint(600 step) 생성·평가 - 비교 기준선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 구조: dual-stream, 16큐빗 회로 × 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십여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§4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10 epoch checkpoint에서 20 step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약 7분 (로컬 CPU)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PART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MediQ-GAN을 같은 지표 4종으로 비교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이미지 생성에서 양자컴퓨팅의 한계와 방향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0 · 노트북 §1 – §2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2일차 복습과 QGAN 기준선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2일차에 만든 QGAN을 checkpoint로 불러와 오늘 비교의 기준선으로 씀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§1 실습 자산 로드, §2 QGAN 생성·평가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torch.load · PatchQuantumGenerator(**config) · gm.evaluate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0 · 2일차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2일차 구성과 3일차에서 바뀌는 부분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생성자만 MediQ-GAN으로 바꾸고, 데이터·판별자·지표는 2일차 그대로 씀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2일차 (QGAN)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(MediQ-GAN)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데이터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DF 115장, segmentation 후 16×16, 0 ~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B6B6B"/>
                          </a:solidFill>
                        </a:rPr>
                        <a:t>2일차와 같음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생성자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sub-generator 4개 × 7큐빗, depth 10 - 생성자 전체가 양자회로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고전 stream + 양자 stream(16큐빗 × 5, depth 8)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출력 척도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측정 확률 (patch별 합 0 ~ 1)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Tanh (-1 ~ 1)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5층 FC (논문 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B6B6B"/>
                          </a:solidFill>
                        </a:rPr>
                        <a:t>2일차와 같음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상관 · 최근접 거리 · 다양성 · 픽셀 분포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B6B6B"/>
                          </a:solidFill>
                        </a:rPr>
                        <a:t>2일차와 같음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수업 중 400 step, 강사 checkpoint 600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사전학습 25 epoch, 수업 중 20 step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0 · 노트북 §2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checkpoint 불러오기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config로 같은 구조를 먼저 만들고, 학습된 가중치를 덮어씀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309360" cy="3566160"/>
          </a:xfrm>
          <a:prstGeom prst="roundRect">
            <a:avLst>
              <a:gd name="adj" fmla="val 2564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ckpt_path = f"{ASSET_DIR}/qgan_df_{IMG_SIZE}px.pt"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 = torch.load(ckpt_path, map_location="cpu")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cfg = checkpoint["config"]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 = PatchQuantumGenerator(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n_generators=cfg["n_generators"],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n_data_qubits=cfg["n_data_qubits"],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n_ancillas=cfg["n_ancillas"], q_depth=cfg["q_depth"])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gen.load_state_dict(checkpoint["generator_state_dict"])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gen.eval()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2011680"/>
          <a:ext cx="4480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checkpoint 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generator_state_dict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생성자 가중치 (회전각 등)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discriminator_state_dict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판별자 가중치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config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모델 재구성에 필요한 설정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history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step별 loss_g · loss_d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epoch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학습한 epoch 수 (MediQ-GAN)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132320" y="49834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이 파일의 config: sub-generator 4, 데이터 6 + ancilla 1, depth 10, 600 step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0 · 노트북 §2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QGAN 기준선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강사 checkpoint(600 step)를 지표 4종으로 평가한 값. PART 3에서 MediQ-GAN과 같은 표에 놓음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011680"/>
                <a:gridCol w="3383280"/>
                <a:gridCol w="3108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QGAN 600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비교 기준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해석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② 클래스 평균 상관 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0.195 ± 0.012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높을수록 DF 평균 형태에 가까움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64장 × 10시드 평균 ± 표준편차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1.64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0에 가까우면 학습 이미지 암기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암기는 아님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④ 샘플 간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1.92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실제 DF 2.505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실제의 약 77%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343400"/>
            <a:ext cx="6949440" cy="1188720"/>
          </a:xfrm>
          <a:prstGeom prst="roundRect">
            <a:avLst>
              <a:gd name="adj" fmla="val 7692"/>
            </a:avLst>
          </a:prstGeom>
          <a:solidFill>
            <a:srgbClr val="1E393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52628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torch.no_grad():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qgan_fake = gen(batch_size=64).numpy().reshape(64, 16, 16)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qgan_scores = gm.evaluate(qgan_fake, df_imgs, "prob")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772400" y="4389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생성할 때마다 새 난수를 쓰므로 노트북 실행 결과는 표와 조금씩 다름. 소수점 자리보다 모델 간 격차를 봄.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수치: README 결과표 (로컬 CPU, PennyLane exact 시뮬레이션)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MediQ-GAN 구조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생성자 안에서 고전 stream과 양자 stream이 병렬로 돌고 하나로 합쳐짐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§3 ToyDualStreamGenerator 정의와 forward 1회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q_circuit · quantum_stream · forward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비교 대상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709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2일차 QGAN(생성자 전체가 양자회로)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hybrid 수준 : model-level과 layer-level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생성자 전체가 양자회로, MediQ-GAN은 생성자 안의 한 갈래만 양자회로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754A"/>
                </a:solidFill>
              </a:rPr>
              <a:t>QGAN - model-level hybrid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Andra et al., 2025 · 2일차 실습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양자회로 (sub-generator 4개)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patch를 나눠 만들고 이어붙임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측정 확률 (patch별 합 0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판별자만 고전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0075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72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[양자회로 × 4] → 이미지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EDE7F5"/>
          </a:solidFill>
          <a:ln w="15875">
            <a:solidFill>
              <a:srgbClr val="B9B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B3E8C"/>
                </a:solidFill>
              </a:rPr>
              <a:t>MediQ-GAN - layer-level hybrid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Jiao et al., 2025 · 3일차 실습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고전 stream + 양자 stream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입력을 절반씩 나눠 병렬 처리 후 concat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고전 decoder → Tanh (-1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양자 stream은 원 논문 스펙(16큐빗 × 5, depth 8)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4652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4652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[고전 ∥ 양자] → concat → decoder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dual-stream의 데이터 흐름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잠재벡터 256차원을 절반씩 나누고, 두 stream의 출력을 이어붙여 decoder로 보냄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9718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1371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잠재벡터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256차원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N(0, 1)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31720" y="2057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:128]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9659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1E393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69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고전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128→32→128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37960" y="20574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057400"/>
            <a:ext cx="822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31720" y="4343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31720" y="4343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128:]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069080" y="4160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6908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양자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16 site → 회로 5개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→ 1×1 conv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37960" y="425196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37960" y="4251960"/>
            <a:ext cx="822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 × 4×4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= 256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938528" y="3337560"/>
            <a:ext cx="374904" cy="-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1938528" y="3703320"/>
            <a:ext cx="374904" cy="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372160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19048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72160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19048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7772400" y="2971800"/>
            <a:ext cx="1234440" cy="1097280"/>
          </a:xfrm>
          <a:prstGeom prst="roundRect">
            <a:avLst>
              <a:gd name="adj" fmla="val 6667"/>
            </a:avLst>
          </a:prstGeom>
          <a:solidFill>
            <a:srgbClr val="DDF2E6"/>
          </a:solidFill>
          <a:ln w="12700">
            <a:solidFill>
              <a:srgbClr val="0075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0" y="2971800"/>
            <a:ext cx="12344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concat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 + 256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= 384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379208" y="2377440"/>
            <a:ext cx="484632" cy="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379208" y="4663440"/>
            <a:ext cx="484632" cy="-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9372600" y="292608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E393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372600" y="2926080"/>
            <a:ext cx="1463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decoder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384→32→256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Tanh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25128" y="3520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11018520" y="3154680"/>
            <a:ext cx="685800" cy="731520"/>
          </a:xfrm>
          <a:prstGeom prst="roundRect">
            <a:avLst>
              <a:gd name="adj" fmla="val 10667"/>
            </a:avLst>
          </a:prstGeom>
          <a:solidFill>
            <a:srgbClr val="EDEBE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1018520" y="3154680"/>
            <a:ext cx="685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16×16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-1 ~ 1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0853928" y="3520440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48640" y="5230368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E393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77240" y="5413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z_c, z_q = z[:, :self.half], z[:, self.half:]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fused = torch.cat([self.classical_stream(z_c),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self.quantum_stream(z_q)], dim=1)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self.decoder(fused)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양자 회로 : 16큐빗, depth 8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값으로 RY → RX encoding, [학습 RY + 인접 CZ] × 8, 큐빗별 PauliX 기댓값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035040" cy="4023360"/>
          </a:xfrm>
          <a:prstGeom prst="roundRect">
            <a:avLst>
              <a:gd name="adj" fmla="val 2273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@qml.qnode(dev, interface="torch", diff_method="adjoint")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q_circuit(x,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qml.RX(x[i],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# 2 x 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[qml.expval(qml.PauliX(i))  # 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i in range(n_qubits)]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0" y="2011680"/>
            <a:ext cx="475488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6772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2468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0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98080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56448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56448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9052560" y="2313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052560" y="2313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0972800" y="2313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972800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96772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06640" y="29260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0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0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156448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56448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52560" y="27706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52560" y="27706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972800" y="27706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972800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67728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406640" y="33832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0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498080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156448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156448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052560" y="32278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052560" y="32278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972800" y="32278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972800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⋮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160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q14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406640" y="42976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498080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98080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56448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156448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9052560" y="41422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9052560" y="41422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10972800" y="41422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0972800" y="41422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6967728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q15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406640" y="4754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98080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498080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156448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56448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052560" y="4599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052560" y="4599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972800" y="4599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0972800" y="4599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9866376" y="2414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1" name="Shape 58"/>
          <p:cNvSpPr/>
          <p:nvPr/>
        </p:nvSpPr>
        <p:spPr>
          <a:xfrm>
            <a:off x="9866376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2" name="Shape 59"/>
          <p:cNvSpPr/>
          <p:nvPr/>
        </p:nvSpPr>
        <p:spPr>
          <a:xfrm>
            <a:off x="9921240" y="24688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158984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4" name="Shape 61"/>
          <p:cNvSpPr/>
          <p:nvPr/>
        </p:nvSpPr>
        <p:spPr>
          <a:xfrm>
            <a:off x="10158984" y="33284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5" name="Shape 62"/>
          <p:cNvSpPr/>
          <p:nvPr/>
        </p:nvSpPr>
        <p:spPr>
          <a:xfrm>
            <a:off x="10213848" y="29260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451592" y="42428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7" name="Shape 64"/>
          <p:cNvSpPr/>
          <p:nvPr/>
        </p:nvSpPr>
        <p:spPr>
          <a:xfrm>
            <a:off x="10451592" y="4700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8" name="Shape 65"/>
          <p:cNvSpPr/>
          <p:nvPr/>
        </p:nvSpPr>
        <p:spPr>
          <a:xfrm>
            <a:off x="10506456" y="42976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915400" y="2240280"/>
            <a:ext cx="1920240" cy="2834640"/>
          </a:xfrm>
          <a:prstGeom prst="roundRect">
            <a:avLst>
              <a:gd name="adj" fmla="val 4762"/>
            </a:avLst>
          </a:prstGeom>
          <a:ln w="15875">
            <a:solidFill>
              <a:srgbClr val="00754A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7406640" y="5257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E8C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8915400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54A"/>
                </a:solidFill>
              </a:rPr>
              <a:t>② × 8 (RY + CZ 사슬)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83564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000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7086600" y="55961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</a:rPr>
              <a:t>출력: 큐빗 16개의 기댓값 → 평균 → site당 스칼라 1개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양자 stream : 16 site 중 5개만 회로로 처리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양자 쪽 입력을 4×4 = 16 site로 보고, 고른 5개 site만 sub-generator 회로가 처리함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94560"/>
            <a:ext cx="749808" cy="749808"/>
          </a:xfrm>
          <a:prstGeom prst="rect">
            <a:avLst/>
          </a:prstGeom>
          <a:solidFill>
            <a:srgbClr val="5B3E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945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site 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gen 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572768" y="2194560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72768" y="21945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22576" y="2194560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22576" y="21945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072384" y="2194560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72384" y="21945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22960" y="2944368"/>
            <a:ext cx="749808" cy="749808"/>
          </a:xfrm>
          <a:prstGeom prst="rect">
            <a:avLst/>
          </a:prstGeom>
          <a:solidFill>
            <a:srgbClr val="5B3E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94436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site 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gen 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572768" y="2944368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572768" y="294436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22576" y="2944368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322576" y="294436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072384" y="2944368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072384" y="294436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22960" y="3694176"/>
            <a:ext cx="749808" cy="749808"/>
          </a:xfrm>
          <a:prstGeom prst="rect">
            <a:avLst/>
          </a:prstGeom>
          <a:solidFill>
            <a:srgbClr val="5B3E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site 8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gen 3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72768" y="3694176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572768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9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322576" y="3694176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322576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10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072384" y="3694176"/>
            <a:ext cx="749808" cy="749808"/>
          </a:xfrm>
          <a:prstGeom prst="rect">
            <a:avLst/>
          </a:prstGeom>
          <a:solidFill>
            <a:srgbClr val="5B3E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072384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site 11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gen 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22960" y="4443984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444398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12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572768" y="4443984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572768" y="444398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13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322576" y="4443984"/>
            <a:ext cx="749808" cy="749808"/>
          </a:xfrm>
          <a:prstGeom prst="rect">
            <a:avLst/>
          </a:prstGeom>
          <a:solidFill>
            <a:srgbClr val="F2F0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322576" y="444398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site 14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072384" y="4443984"/>
            <a:ext cx="749808" cy="749808"/>
          </a:xfrm>
          <a:prstGeom prst="rect">
            <a:avLst/>
          </a:prstGeom>
          <a:solidFill>
            <a:srgbClr val="5B3E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072384" y="444398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site 15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gen 5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640080" y="530352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4×4 site 맵 - 보라색 5칸만 회로 출력, 나머지는 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206240" y="2011680"/>
            <a:ext cx="7406640" cy="3611880"/>
          </a:xfrm>
          <a:prstGeom prst="roundRect">
            <a:avLst>
              <a:gd name="adj" fmla="val 2532"/>
            </a:avLst>
          </a:prstGeom>
          <a:solidFill>
            <a:srgbClr val="1E3932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4434840" y="2194560"/>
            <a:ext cx="6949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sites  = z_quantum.view(B, 16, self.site_dim)   # (B,16,8)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= self.q_align(sites)                  # (B,16,16)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q_maps = torch.zeros(B, 5, 4, 4)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g, si in enumerate(self.site_idx):  # [0,4,8,11,15]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outs = torch.stack([torch.stack(self.q_circuit(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tokens[b, si], self.q_weights[g]))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b in range(B)])           # (B, 16) expvals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y, x = divmod(si, 4)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q_maps[:, g, y, x] = outs.mean(dim=1)  # scalar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self.proj_qexp(q_maps).flatten(1)   # (B, 256)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4206240" y="57607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forward 1회의 회로 실행 수 = 5 × batch. 회로 하나의 상태벡터는 2¹⁶ = 65,536차원.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파라미터 분포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생성자 파라미터 구성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30,000개 중 양자 회전각은 640개(2.1%). 2일차 QGAN 생성자는 280개 전부가 양자 회전각임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394960"/>
                <a:gridCol w="182880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모듈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384 → 32 → 256 +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20,768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69.2%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128 → 32 →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8,352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27.8%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양자 회전각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sub-generator 5 × 8층 × 16큐빗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640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2.1%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q_align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8 → 16 (site 벡터를 큐빗 수에 맞춤)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0.5%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proj_qexp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1×1 conv, 5 → 16채널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96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파라미터 수로는 2%지만, 학습 시간의 대부분은 이 640개가 들어 있는 16큐빗 회로의 시뮬레이션에서 나옴.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노트북 ToyDualStreamGenerator(in_dim 256)에서 직접 센 값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원 논문과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양자 stream은 원 논문 스펙 그대로, 고전 부분과 판별자·평가를 단순화함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329184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원 논문 (Jiao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5, depth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공식 레포와 같은 회로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encoder / 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conv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저해상도라 단순화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입력 · 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64×64 RGB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그레이스케일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2일차 전처리 자산 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WGAN-GP critic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표준 BCE 판별자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같은 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GPU, 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25 epoch 사전학습 + 수업 중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시뮬레이션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FID, 분류 성능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지표 4종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FID는 16×16에서 의미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2 · 노트북 §4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라이브 미세조정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덜 학습된 10 epoch checkpoint에서 출발해 20 step을 더 학습함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§4 미세조정과 전후 비교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mediqgan_e010.pt · sample_z · real_tanh · Adam(betas=(0.5, 0.999))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소요 시간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 step 약 7분 (로컬 CPU), Colab은 더 걸림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미세조정 코드와 2일차 설정 비교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루프 구조는 2일차와 같고, 출력 척도·잠재벡터·optimizer 설정이 다름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766560" cy="4069080"/>
          </a:xfrm>
          <a:prstGeom prst="roundRect">
            <a:avLst>
              <a:gd name="adj" fmla="val 2247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309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mq_ckpt = torch.load(f"{ASSET_DIR}/mediqgan_e010.pt")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mq_disc.load_state_dict(mq_ckpt["discriminator_state_dict"])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real_tanh = torch.tensor(df_imgs.reshape(115, -1) * 2 - 1)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sample_z(n): return torch.randn(n, 256)   # z ~ N(0, 1)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opt_g = Adam(mq_gen.parameters(),  lr=2e-4, betas=(0.5, 0.999))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opt_d = Adam(mq_disc.parameters(), lr=2e-4, betas=(0.5, 0.999))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range(20):       # batch 4, same D/G loop as day 2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1168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1417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설정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2일차 QGAN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3일차 MediQ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출력 척도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확률 (prob)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Tanh (-1 ~ 1)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실제 이미지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이미지 합 = 1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2x - 1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잠재벡터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U(0, π) 각도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N(0, 1)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학습률 G / D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0.05 / 0.001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2e-4 / 2e-4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Adam betas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(0.9, 0.999)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(0.5, 0.999)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batch · step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8 · 400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</a:rPr>
                        <a:t>4 · 20 (미세조정)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58952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</a:rPr>
              <a:t>lr 2e-4, beta1 0.5는 DCGAN 논문(Radford et al., 2016)의 설정값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학습 안정성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사전학습 손실 기록 (25 epoch)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강사 checkpoint의 학습 기록(epoch별 평균). 15 ~ 21 epoch에서 판별자가 우세해졌다가 22 epoch부터 회복함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229600" y="2103120"/>
            <a:ext cx="64008" cy="777240"/>
          </a:xfrm>
          <a:prstGeom prst="rect">
            <a:avLst/>
          </a:prstGeom>
          <a:solidFill>
            <a:srgbClr val="00754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458200" y="21031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10 epoch까지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458200" y="2450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loss_d 1.39 → 1.22, 2 ln 2 근처의 균형 상태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229600" y="3063240"/>
            <a:ext cx="64008" cy="777240"/>
          </a:xfrm>
          <a:prstGeom prst="rect">
            <a:avLst/>
          </a:prstGeom>
          <a:solidFill>
            <a:srgbClr val="5B3E8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58200" y="30632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11 ~ 21 epoch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458200" y="341071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loss_d 최저 0.74 (19 epoch), loss_g 최고 3.37 - 판별자 우세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229600" y="4023360"/>
            <a:ext cx="64008" cy="77724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58200" y="4023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22 epoch 이후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43708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loss_d 1.3 부근으로 회복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229600" y="4983480"/>
            <a:ext cx="64008" cy="77724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458200" y="4983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lr_g 0.02 사전 실험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8458200" y="53309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3 epoch 만에 loss_d 0.0027, 다양성 0.000 (완전 mode collapse)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mediqgan_final.pt history, 700 step = 25 epoch × 28 step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계산 비용 : 수업에서 미세조정만 하는 이유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16큐빗 회로 시뮬레이션이 비싸 25 epoch 사전학습에 196분(약 3시간 15분)이 걸림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2일차 QGAN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MediQ-GAN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큐빗 (회로 하나)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상태벡터 차원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2⁷ =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2¹⁶ = 65,536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미분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backprop (default.qubit)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adjoint (lightning.qubit)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약 2.2초 (batch 8)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약 20초 (batch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600 step 약 22분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25 epoch 196분 (epoch당 7.8분)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수업 중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처음부터 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 epoch checkpoint에서 20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16큐빗은 12큐빗보다 상태벡터가 16배 크고(2¹⁶ vs 2¹²), 실측 소요 시간은 약 20배였음.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로컬 CPU 실측. epoch 시간은 checkpoint epoch_sec 평균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3 · 노트북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QGAN vs MediQ-GAN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두 모델의 출력을 0 ~ 1로 되돌린 뒤 같은 지표 4종으로 비교함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§5 지표 비교표, 상관계수·픽셀 분포 그림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gm.comparison_table · to_unit_scale(x, 'prob' / 'tanh')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3 · 노트북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지표 비교 : 형태 재현과 다양성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상관은 MediQ-GAN이 높고, 샘플 간 거리는 QGAN이 실제 DF에 가까움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17920" y="196596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수치: README 결과표 (로컬 CPU). MediQ-GAN은 16장, QGAN은 64장으로 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3 · 결과 해석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결과 해석 : 두 모델의 한계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형태 재현이 약하고, MediQ-GAN은 평균 이미지에 가까운 그림을 반복함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194560"/>
                <a:gridCol w="3931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QGAN 600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MediQ-GAN 25 epoch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② 클래스 평균 상관 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0.195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0.365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평균 형태는 MediQ-GAN이 더 가까움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1.64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3.44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실제 이미지 어느 것과도 멂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④ 샘플 간 거리 (실제 2.505)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1.92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비슷한 그림을 반복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06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해석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QGAN: 다양성은 실제에 가깝지만 병변 형태 재현이 약함. patch를 서로 독립적으로 만들어 이미지 전체 구조를 잡기 어려움.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MediQ-GAN: 평균 형태는 잘 맞추지만 다양성이 실제의 1/8. 최종 출력을 고전 decoder가 만들기 때문에 Tanh가 포화되면 z와 무관한 이미지가 나옴.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②만 보면 MediQ-GAN이 낫다고 결론 내리게 됨. ②는 평균 형태만 보므로 같은 이미지를 반복해도 높게 나옴.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4 · 노트북 §6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이미지 생성에서 양자컴퓨팅의 한계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3일 동안의 실습에서 확인한 내용 (노트북 §6)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657600"/>
                <a:gridCol w="69494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관찰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실습에서 확인한 근거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①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측정 방식이 학습 성패를 가름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ancilla qubit = 0만 쓰도록 바꾸자 생성 평균과 실제 평균의 상관 0.00 → 0.49 (8×8 사전 실험)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②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현재 학습은 시뮬레이터에서만 가능한 규모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두 모델 모두 exact 상태벡터 시뮬레이션. 실제 장치는 parameter-shift로 파라미터당 회로 2회 × shot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③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해상도 한계가 평가 한계로 이어짐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16×16에서는 FID를 쓸 수 없어 지표 4종으로 대신함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④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큐빗 수에 지수적으로 늘어나는 비용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16큐빗은 12큐빗 대비 상태벡터 16배, 실측 시간 약 20배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⑤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고전 쪽 학습 안정화가 결과를 좌우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BCE 판별자가 쉽게 이김. 원 논문은 WGAN-GP critic으로 판별자를 제약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⑥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고전 이미지 생성에서의 우위는 미검증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양자 생성모델은 양자 데이터·해밀토니안 상태 생성에서 먼저 의미를 가짐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4 · 참고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MediQ-GAN 원 논문 결과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논문 수치 인용 - 실습의 16×16 결과와 직접 비교하지 않음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6675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데이터셋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ISIC 2019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피부경검사 8클래스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소수클래스(df, vasc, scc)에서 모든 고전 baseline보다 낮은 FID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ODIR-5k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안저사진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증강 후 분류: 두 backbone(EfficientNet-B0, ViT-small) 모두 최고 성능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RetinaMNIST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다운샘플 안저사진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5개 클래스 중 4개에서 최저(최고품질) FID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5262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00754A"/>
                </a:solidFill>
              </a:rPr>
              <a:t>비교 대상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DCGAN, WGAN-GP, Structure-Preserving GAN, StyleGAN2-ADA, FastGAN, DiT · Stable Diffusion 3(LoRA 미세조정), 이전 세대 hybrid 모델 MosaiQ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5B3E8C"/>
                </a:solidFill>
              </a:rPr>
              <a:t>실기기 검증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IBM 양자 장치(ibm_marrakesh)에서 대표 클래스의 추론만 검증 (대기열·shot 제한)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출처: Jiao et al., MediQ-GAN, arXiv:2506.21015v2, Table 1 ·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정리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MediQ-GAN 구조와 미세조정, QGAN과의 비교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hybrid 수준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QGAN은 생성자 전체가 양자회로(model-level), MediQ-GAN은 생성자 안의 양자 stream만 양자회로(layer-level)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dual-stream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잠재벡터 256차원을 절반씩 고전 MLP와 양자 stream으로 나눠 처리한 뒤 concat → decoder →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depth 8 회로 5개가 16 site 중 5개만 처리. PauliX 기댓값 출력이라 ancilla qubit이 필요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파라미터와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30,000개 중 양자 회전각은 640개(2.1%)지만 학습 시간 대부분이 16큐빗 시뮬레이션 (25 epoch 196분)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checkpoint와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config로 같은 구조를 만든 뒤 가중치를 불러옴. 판별자도 같은 시점 상태로 불러와 20 step 추가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학습 안정성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BCE 판별자가 쉽게 이김 (lr_g 0.02에서 3 epoch 만에 mode collapse). 원 논문은 WGAN-GP critic을 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비교 결과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상관은 MediQ-GAN 0.365 &gt; QGAN 0.195, 다양성은 QGAN 1.92 &gt; MediQ-GAN 0.30. 지표 하나로 순위를 정하지 않음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설명 자료</dc:title>
  <dc:subject>PptxGenJS Presentation</dc:subject>
  <dc:creator>QML Lecture</dc:creator>
  <cp:lastModifiedBy>QML Lecture</cp:lastModifiedBy>
  <cp:revision>1</cp:revision>
  <dcterms:created xsi:type="dcterms:W3CDTF">2026-10-29T04:55:13Z</dcterms:created>
  <dcterms:modified xsi:type="dcterms:W3CDTF">2026-10-29T04:55:13Z</dcterms:modified>
</cp:coreProperties>
</file>