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1096e1f3-e5c6-4b15-9563-35248fda5ee6}">
          <p14:sldIdLst>
            <p14:sldId id="256"/>
          </p14:sldIdLst>
        </p14:section>
        <p14:section name="진행" id="{95660a7c-50a2-d826-66e8-2cd30682e6b7}">
          <p14:sldIdLst>
            <p14:sldId id="257"/>
          </p14:sldIdLst>
        </p14:section>
        <p14:section name="PART 0 · 2일차 복습과 기준선" id="{be53c9f6-8c96-c184-3552-4e94be7db4cc}">
          <p14:sldIdLst>
            <p14:sldId id="258"/>
            <p14:sldId id="259"/>
            <p14:sldId id="260"/>
            <p14:sldId id="261"/>
          </p14:sldIdLst>
        </p14:section>
        <p14:section name="PART 1 · MediQ-GAN 구조" id="{62ef7843-e41c-fda7-192e-36e7793a1b50}">
          <p14:sldIdLst>
            <p14:sldId id="262"/>
            <p14:sldId id="263"/>
            <p14:sldId id="264"/>
            <p14:sldId id="265"/>
            <p14:sldId id="266"/>
            <p14:sldId id="267"/>
            <p14:sldId id="268"/>
          </p14:sldIdLst>
        </p14:section>
        <p14:section name="PART 2 · 라이브 미세조정" id="{83267641-8bea-8c34-778d-e5969a931d39}">
          <p14:sldIdLst>
            <p14:sldId id="269"/>
            <p14:sldId id="270"/>
            <p14:sldId id="271"/>
            <p14:sldId id="272"/>
          </p14:sldIdLst>
        </p14:section>
        <p14:section name="PART 3 · 비교" id="{e281b709-5a00-e332-ae0b-48bb99b76fd5}">
          <p14:sldIdLst>
            <p14:sldId id="273"/>
            <p14:sldId id="274"/>
            <p14:sldId id="275"/>
          </p14:sldIdLst>
        </p14:section>
        <p14:section name="PART 4 · 토론" id="{4c5b4788-7cb7-190c-1b01-0ecb41174754}">
          <p14:sldIdLst>
            <p14:sldId id="276"/>
            <p14:sldId id="277"/>
            <p14:sldId id="278"/>
          </p14:sldIdLst>
        </p14:section>
        <p14:section name="정리" id="{ea4ed2f0-b717-7166-4141-eaf688b468b1}">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121"/>
                </a:solidFill>
                <a:latin typeface="+mn-lt"/>
              </a:defRPr>
            </a:pPr>
            <a:r>
              <a:rPr sz="1300" b="0" i="0" u="none" strike="noStrike">
                <a:solidFill>
                  <a:srgbClr val="212121"/>
                </a:solidFill>
                <a:latin typeface="+mn-lt"/>
              </a:rPr>
              <a:t>생성자 모듈별 파라미터 수</a:t>
            </a:r>
          </a:p>
        </c:rich>
      </c:tx>
      <c:layout/>
      <c:overlay val="0"/>
    </c:title>
    <c:autoTitleDeleted val="0"/>
    <c:plotArea>
      <c:layout/>
      <c:barChart>
        <c:barDir val="bar"/>
        <c:grouping val="clustered"/>
        <c:varyColors val="0"/>
        <c:ser>
          <c:idx val="0"/>
          <c:order val="0"/>
          <c:tx>
            <c:strRef>
              <c:f>Sheet1!$B$1</c:f>
              <c:strCache>
                <c:ptCount val="1"/>
                <c:pt idx="0">
                  <c:v>파라미터 수</c:v>
                </c:pt>
              </c:strCache>
            </c:strRef>
          </c:tx>
          <c:spPr>
            <a:solidFill>
              <a:srgbClr val="1E3932"/>
            </a:solidFill>
            <a:effectLst/>
          </c:spPr>
          <c:invertIfNegative val="0"/>
          <c:dLbls>
            <c:numFmt formatCode="#,##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1E3932"/>
              </a:solidFill>
              <a:effectLst/>
            </c:spPr>
          </c:dPt>
          <c:dPt>
            <c:idx val="1"/>
            <c:invertIfNegative val="0"/>
            <c:bubble3D val="0"/>
            <c:spPr>
              <a:solidFill>
                <a:srgbClr val="1E3932"/>
              </a:solidFill>
              <a:effectLst/>
            </c:spPr>
          </c:dPt>
          <c:dPt>
            <c:idx val="2"/>
            <c:invertIfNegative val="0"/>
            <c:bubble3D val="0"/>
            <c:spPr>
              <a:solidFill>
                <a:srgbClr val="5B3E8C"/>
              </a:solidFill>
              <a:effectLst/>
            </c:spPr>
          </c:dPt>
          <c:dPt>
            <c:idx val="3"/>
            <c:invertIfNegative val="0"/>
            <c:bubble3D val="0"/>
            <c:spPr>
              <a:solidFill>
                <a:srgbClr val="6B6B6B"/>
              </a:solidFill>
              <a:effectLst/>
            </c:spPr>
          </c:dPt>
          <c:dPt>
            <c:idx val="4"/>
            <c:invertIfNegative val="0"/>
            <c:bubble3D val="0"/>
            <c:spPr>
              <a:solidFill>
                <a:srgbClr val="6B6B6B"/>
              </a:solidFill>
              <a:effectLst/>
            </c:spPr>
          </c:dPt>
          <c:cat>
            <c:multiLvlStrRef>
              <c:f>Sheet1!$A$2:$A$6</c:f>
              <c:multiLvlStrCache>
                <c:ptCount val="5"/>
                <c:lvl>
                  <c:pt idx="0">
                    <c:v>decoder</c:v>
                  </c:pt>
                  <c:pt idx="1">
                    <c:v>고전 stream</c:v>
                  </c:pt>
                  <c:pt idx="2">
                    <c:v>양자 회전각</c:v>
                  </c:pt>
                  <c:pt idx="3">
                    <c:v>q_align</c:v>
                  </c:pt>
                  <c:pt idx="4">
                    <c:v>proj_qexp</c:v>
                  </c:pt>
                </c:lvl>
              </c:multiLvlStrCache>
            </c:multiLvlStrRef>
          </c:cat>
          <c:val>
            <c:numRef>
              <c:f>Sheet1!$B$2:$B$6</c:f>
              <c:numCache>
                <c:formatCode>General</c:formatCode>
                <c:ptCount val="5"/>
                <c:pt idx="0">
                  <c:v>20768</c:v>
                </c:pt>
                <c:pt idx="1">
                  <c:v>8352</c:v>
                </c:pt>
                <c:pt idx="2">
                  <c:v>640</c:v>
                </c:pt>
                <c:pt idx="3">
                  <c:v>144</c:v>
                </c:pt>
                <c:pt idx="4">
                  <c:v>96</c:v>
                </c:pt>
              </c:numCache>
            </c:numRef>
          </c:val>
        </c:ser>
        <c:dLbls>
          <c:numFmt formatCode="#,##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121"/>
                </a:solidFill>
                <a:latin typeface="+mn-lt"/>
              </a:defRPr>
            </a:pPr>
            <a:r>
              <a:rPr sz="1300" b="0" i="0" u="none" strike="noStrike">
                <a:solidFill>
                  <a:srgbClr val="212121"/>
                </a:solidFill>
                <a:latin typeface="+mn-lt"/>
              </a:rPr>
              <a:t>MediQ-GAN 사전학습 손실 (epoch별 평균, 로컬 CPU)</a:t>
            </a:r>
          </a:p>
        </c:rich>
      </c:tx>
      <c:layout/>
      <c:overlay val="0"/>
    </c:title>
    <c:autoTitleDeleted val="0"/>
    <c:plotArea>
      <c:layout/>
      <c:lineChart>
        <c:varyColors val="0"/>
        <c:ser>
          <c:idx val="0"/>
          <c:order val="0"/>
          <c:tx>
            <c:strRef>
              <c:f>Sheet1!$B$1</c:f>
              <c:strCache>
                <c:ptCount val="1"/>
                <c:pt idx="0">
                  <c:v>loss_g</c:v>
                </c:pt>
              </c:strCache>
            </c:strRef>
          </c:tx>
          <c:spPr>
            <a:solidFill>
              <a:srgbClr val="00754A"/>
            </a:solidFill>
            <a:ln w="25400" cap="flat">
              <a:solidFill>
                <a:srgbClr val="0075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754A"/>
              </a:solidFill>
              <a:ln w="9525" cap="flat">
                <a:solidFill>
                  <a:srgbClr val="00754A"/>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Sheet1!$B$2:$B$26</c:f>
              <c:numCache>
                <c:formatCode>General</c:formatCode>
                <c:ptCount val="25"/>
                <c:pt idx="0">
                  <c:v>0.827</c:v>
                </c:pt>
                <c:pt idx="1">
                  <c:v>0.828</c:v>
                </c:pt>
                <c:pt idx="2">
                  <c:v>0.839</c:v>
                </c:pt>
                <c:pt idx="3">
                  <c:v>0.855</c:v>
                </c:pt>
                <c:pt idx="4">
                  <c:v>0.869</c:v>
                </c:pt>
                <c:pt idx="5">
                  <c:v>0.891</c:v>
                </c:pt>
                <c:pt idx="6">
                  <c:v>0.899</c:v>
                </c:pt>
                <c:pt idx="7">
                  <c:v>0.918</c:v>
                </c:pt>
                <c:pt idx="8">
                  <c:v>0.944</c:v>
                </c:pt>
                <c:pt idx="9">
                  <c:v>0.981</c:v>
                </c:pt>
                <c:pt idx="10">
                  <c:v>1.08</c:v>
                </c:pt>
                <c:pt idx="11">
                  <c:v>1.245</c:v>
                </c:pt>
                <c:pt idx="12">
                  <c:v>1.423</c:v>
                </c:pt>
                <c:pt idx="13">
                  <c:v>1.731</c:v>
                </c:pt>
                <c:pt idx="14">
                  <c:v>1.989</c:v>
                </c:pt>
                <c:pt idx="15">
                  <c:v>2.411</c:v>
                </c:pt>
                <c:pt idx="16">
                  <c:v>2.761</c:v>
                </c:pt>
                <c:pt idx="17">
                  <c:v>2.967</c:v>
                </c:pt>
                <c:pt idx="18">
                  <c:v>3.368</c:v>
                </c:pt>
                <c:pt idx="19">
                  <c:v>3.195</c:v>
                </c:pt>
                <c:pt idx="20">
                  <c:v>3.055</c:v>
                </c:pt>
                <c:pt idx="21">
                  <c:v>1.899</c:v>
                </c:pt>
                <c:pt idx="22">
                  <c:v>0.718</c:v>
                </c:pt>
                <c:pt idx="23">
                  <c:v>0.74</c:v>
                </c:pt>
                <c:pt idx="24">
                  <c:v>0.772</c:v>
                </c:pt>
              </c:numCache>
            </c:numRef>
          </c:val>
          <c:smooth val="0"/>
        </c:ser>
        <c:ser>
          <c:idx val="1"/>
          <c:order val="1"/>
          <c:tx>
            <c:strRef>
              <c:f>Sheet1!$C$1</c:f>
              <c:strCache>
                <c:ptCount val="1"/>
                <c:pt idx="0">
                  <c:v>loss_d</c:v>
                </c:pt>
              </c:strCache>
            </c:strRef>
          </c:tx>
          <c:spPr>
            <a:solidFill>
              <a:srgbClr val="5B3E8C"/>
            </a:solidFill>
            <a:ln w="25400" cap="flat">
              <a:solidFill>
                <a:srgbClr val="5B3E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B3E8C"/>
              </a:solidFill>
              <a:ln w="9525" cap="flat">
                <a:solidFill>
                  <a:srgbClr val="5B3E8C"/>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Sheet1!$C$2:$C$26</c:f>
              <c:numCache>
                <c:formatCode>General</c:formatCode>
                <c:ptCount val="25"/>
                <c:pt idx="0">
                  <c:v>1.39</c:v>
                </c:pt>
                <c:pt idx="1">
                  <c:v>1.356</c:v>
                </c:pt>
                <c:pt idx="2">
                  <c:v>1.332</c:v>
                </c:pt>
                <c:pt idx="3">
                  <c:v>1.318</c:v>
                </c:pt>
                <c:pt idx="4">
                  <c:v>1.304</c:v>
                </c:pt>
                <c:pt idx="5">
                  <c:v>1.286</c:v>
                </c:pt>
                <c:pt idx="6">
                  <c:v>1.279</c:v>
                </c:pt>
                <c:pt idx="7">
                  <c:v>1.262</c:v>
                </c:pt>
                <c:pt idx="8">
                  <c:v>1.243</c:v>
                </c:pt>
                <c:pt idx="9">
                  <c:v>1.217</c:v>
                </c:pt>
                <c:pt idx="10">
                  <c:v>1.162</c:v>
                </c:pt>
                <c:pt idx="11">
                  <c:v>1.087</c:v>
                </c:pt>
                <c:pt idx="12">
                  <c:v>1.022</c:v>
                </c:pt>
                <c:pt idx="13">
                  <c:v>0.935</c:v>
                </c:pt>
                <c:pt idx="14">
                  <c:v>0.88</c:v>
                </c:pt>
                <c:pt idx="15">
                  <c:v>0.818</c:v>
                </c:pt>
                <c:pt idx="16">
                  <c:v>0.78</c:v>
                </c:pt>
                <c:pt idx="17">
                  <c:v>0.763</c:v>
                </c:pt>
                <c:pt idx="18">
                  <c:v>0.738</c:v>
                </c:pt>
                <c:pt idx="19">
                  <c:v>0.747</c:v>
                </c:pt>
                <c:pt idx="20">
                  <c:v>0.778</c:v>
                </c:pt>
                <c:pt idx="21">
                  <c:v>1.093</c:v>
                </c:pt>
                <c:pt idx="22">
                  <c:v>1.357</c:v>
                </c:pt>
                <c:pt idx="23">
                  <c:v>1.341</c:v>
                </c:pt>
                <c:pt idx="24">
                  <c:v>1.313</c:v>
                </c:pt>
              </c:numCache>
            </c:numRef>
          </c:val>
          <c:smooth val="0"/>
        </c:ser>
        <c:ser>
          <c:idx val="2"/>
          <c:order val="2"/>
          <c:tx>
            <c:strRef>
              <c:f>Sheet1!$D$1</c:f>
              <c:strCache>
                <c:ptCount val="1"/>
                <c:pt idx="0">
                  <c:v>2 ln 2 = 1.386</c:v>
                </c:pt>
              </c:strCache>
            </c:strRef>
          </c:tx>
          <c:spPr>
            <a:solidFill>
              <a:srgbClr val="B9B3D6"/>
            </a:solidFill>
            <a:ln w="25400" cap="flat">
              <a:solidFill>
                <a:srgbClr val="B9B3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B3D6"/>
              </a:solidFill>
              <a:ln w="9525" cap="flat">
                <a:solidFill>
                  <a:srgbClr val="B9B3D6"/>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Sheet1!$D$2:$D$26</c:f>
              <c:numCache>
                <c:formatCode>General</c:formatCode>
                <c:ptCount val="25"/>
                <c:pt idx="0">
                  <c:v>1.386</c:v>
                </c:pt>
                <c:pt idx="1">
                  <c:v>1.386</c:v>
                </c:pt>
                <c:pt idx="2">
                  <c:v>1.386</c:v>
                </c:pt>
                <c:pt idx="3">
                  <c:v>1.386</c:v>
                </c:pt>
                <c:pt idx="4">
                  <c:v>1.386</c:v>
                </c:pt>
                <c:pt idx="5">
                  <c:v>1.386</c:v>
                </c:pt>
                <c:pt idx="6">
                  <c:v>1.386</c:v>
                </c:pt>
                <c:pt idx="7">
                  <c:v>1.386</c:v>
                </c:pt>
                <c:pt idx="8">
                  <c:v>1.386</c:v>
                </c:pt>
                <c:pt idx="9">
                  <c:v>1.386</c:v>
                </c:pt>
                <c:pt idx="10">
                  <c:v>1.386</c:v>
                </c:pt>
                <c:pt idx="11">
                  <c:v>1.386</c:v>
                </c:pt>
                <c:pt idx="12">
                  <c:v>1.386</c:v>
                </c:pt>
                <c:pt idx="13">
                  <c:v>1.386</c:v>
                </c:pt>
                <c:pt idx="14">
                  <c:v>1.386</c:v>
                </c:pt>
                <c:pt idx="15">
                  <c:v>1.386</c:v>
                </c:pt>
                <c:pt idx="16">
                  <c:v>1.386</c:v>
                </c:pt>
                <c:pt idx="17">
                  <c:v>1.386</c:v>
                </c:pt>
                <c:pt idx="18">
                  <c:v>1.386</c:v>
                </c:pt>
                <c:pt idx="19">
                  <c:v>1.386</c:v>
                </c:pt>
                <c:pt idx="20">
                  <c:v>1.386</c:v>
                </c:pt>
                <c:pt idx="21">
                  <c:v>1.386</c:v>
                </c:pt>
                <c:pt idx="22">
                  <c:v>1.386</c:v>
                </c:pt>
                <c:pt idx="23">
                  <c:v>1.386</c:v>
                </c:pt>
                <c:pt idx="24">
                  <c:v>1.386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6B6B"/>
                    </a:solidFill>
                    <a:latin typeface="Arial"/>
                  </a:defRPr>
                </a:pPr>
                <a:r>
                  <a:rPr sz="1100" b="0" i="0" u="none" strike="noStrike">
                    <a:solidFill>
                      <a:srgbClr val="6B6B6B"/>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5E2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21212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121"/>
                </a:solidFill>
                <a:latin typeface="+mn-lt"/>
              </a:defRPr>
            </a:pPr>
            <a:r>
              <a:rPr sz="1300" b="0" i="0" u="none" strike="noStrike">
                <a:solidFill>
                  <a:srgbClr val="212121"/>
                </a:solidFill>
                <a:latin typeface="+mn-lt"/>
              </a:rPr>
              <a:t>② 클래스 평균 상관 (높을수록 형태 재현)</a:t>
            </a:r>
          </a:p>
        </c:rich>
      </c:tx>
      <c:layout/>
      <c:overlay val="0"/>
    </c:title>
    <c:autoTitleDeleted val="0"/>
    <c:plotArea>
      <c:layout/>
      <c:barChart>
        <c:barDir val="col"/>
        <c:grouping val="clustered"/>
        <c:varyColors val="0"/>
        <c:ser>
          <c:idx val="0"/>
          <c:order val="0"/>
          <c:tx>
            <c:strRef>
              <c:f>Sheet1!$B$1</c:f>
              <c:strCache>
                <c:ptCount val="1"/>
                <c:pt idx="0">
                  <c:v>상관</c:v>
                </c:pt>
              </c:strCache>
            </c:strRef>
          </c:tx>
          <c:spPr>
            <a:solidFill>
              <a:srgbClr val="00754A"/>
            </a:solidFill>
            <a:effectLst/>
          </c:spPr>
          <c:invertIfNegative val="0"/>
          <c:dLbls>
            <c:numFmt formatCode="0.00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00754A"/>
              </a:solidFill>
              <a:effectLst/>
            </c:spPr>
          </c:dPt>
          <c:dPt>
            <c:idx val="1"/>
            <c:invertIfNegative val="0"/>
            <c:bubble3D val="0"/>
            <c:spPr>
              <a:solidFill>
                <a:srgbClr val="B9B3D6"/>
              </a:solidFill>
              <a:effectLst/>
            </c:spPr>
          </c:dPt>
          <c:dPt>
            <c:idx val="2"/>
            <c:invertIfNegative val="0"/>
            <c:bubble3D val="0"/>
            <c:spPr>
              <a:solidFill>
                <a:srgbClr val="5B3E8C"/>
              </a:solidFill>
              <a:effectLst/>
            </c:spPr>
          </c:dPt>
          <c:cat>
            <c:multiLvlStrRef>
              <c:f>Sheet1!$A$2:$A$4</c:f>
              <c:multiLvlStrCache>
                <c:ptCount val="3"/>
                <c:lvl>
                  <c:pt idx="0">
                    <c:v>QGAN 600 step</c:v>
                  </c:pt>
                  <c:pt idx="1">
                    <c:v>MediQ 10 epoch</c:v>
                  </c:pt>
                  <c:pt idx="2">
                    <c:v>MediQ 25 epoch</c:v>
                  </c:pt>
                </c:lvl>
              </c:multiLvlStrCache>
            </c:multiLvlStrRef>
          </c:cat>
          <c:val>
            <c:numRef>
              <c:f>Sheet1!$B$2:$B$4</c:f>
              <c:numCache>
                <c:formatCode>General</c:formatCode>
                <c:ptCount val="3"/>
                <c:pt idx="0">
                  <c:v>0.195</c:v>
                </c:pt>
                <c:pt idx="1">
                  <c:v>0.018</c:v>
                </c:pt>
                <c:pt idx="2">
                  <c:v>0.365</c:v>
                </c:pt>
              </c:numCache>
            </c:numRef>
          </c:val>
        </c:ser>
        <c:dLbls>
          <c:numFmt formatCode="0.00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0.4"/>
          <c:min val="0"/>
        </c:scaling>
        <c:delete val="0"/>
        <c:axPos val="l"/>
        <c:majorGridlines>
          <c:spPr>
            <a:ln w="6350" cap="flat">
              <a:solidFill>
                <a:srgbClr val="E5E2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121"/>
                </a:solidFill>
                <a:latin typeface="+mn-lt"/>
              </a:defRPr>
            </a:pPr>
            <a:r>
              <a:rPr sz="1300" b="0" i="0" u="none" strike="noStrike">
                <a:solidFill>
                  <a:srgbClr val="212121"/>
                </a:solidFill>
                <a:latin typeface="+mn-lt"/>
              </a:rPr>
              <a:t>④ 샘플 간 거리 (0에 가까우면 mode collapse)</a:t>
            </a:r>
          </a:p>
        </c:rich>
      </c:tx>
      <c:layout/>
      <c:overlay val="0"/>
    </c:title>
    <c:autoTitleDeleted val="0"/>
    <c:plotArea>
      <c:layout/>
      <c:barChart>
        <c:barDir val="col"/>
        <c:grouping val="clustered"/>
        <c:varyColors val="0"/>
        <c:ser>
          <c:idx val="0"/>
          <c:order val="0"/>
          <c:tx>
            <c:strRef>
              <c:f>Sheet1!$B$1</c:f>
              <c:strCache>
                <c:ptCount val="1"/>
                <c:pt idx="0">
                  <c:v>다양성</c:v>
                </c:pt>
              </c:strCache>
            </c:strRef>
          </c:tx>
          <c:spPr>
            <a:solidFill>
              <a:srgbClr val="00754A"/>
            </a:solidFill>
            <a:effectLst/>
          </c:spPr>
          <c:invertIfNegative val="0"/>
          <c:dLbls>
            <c:numFmt formatCode="0.0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dPt>
            <c:idx val="0"/>
            <c:invertIfNegative val="0"/>
            <c:bubble3D val="0"/>
            <c:spPr>
              <a:solidFill>
                <a:srgbClr val="00754A"/>
              </a:solidFill>
              <a:effectLst/>
            </c:spPr>
          </c:dPt>
          <c:dPt>
            <c:idx val="1"/>
            <c:invertIfNegative val="0"/>
            <c:bubble3D val="0"/>
            <c:spPr>
              <a:solidFill>
                <a:srgbClr val="5B3E8C"/>
              </a:solidFill>
              <a:effectLst/>
            </c:spPr>
          </c:dPt>
          <c:dPt>
            <c:idx val="2"/>
            <c:invertIfNegative val="0"/>
            <c:bubble3D val="0"/>
            <c:spPr>
              <a:solidFill>
                <a:srgbClr val="6B6B6B"/>
              </a:solidFill>
              <a:effectLst/>
            </c:spPr>
          </c:dPt>
          <c:cat>
            <c:multiLvlStrRef>
              <c:f>Sheet1!$A$2:$A$4</c:f>
              <c:multiLvlStrCache>
                <c:ptCount val="3"/>
                <c:lvl>
                  <c:pt idx="0">
                    <c:v>QGAN 600 step</c:v>
                  </c:pt>
                  <c:pt idx="1">
                    <c:v>MediQ 25 epoch</c:v>
                  </c:pt>
                  <c:pt idx="2">
                    <c:v>실제 DF</c:v>
                  </c:pt>
                </c:lvl>
              </c:multiLvlStrCache>
            </c:multiLvlStrRef>
          </c:cat>
          <c:val>
            <c:numRef>
              <c:f>Sheet1!$B$2:$B$4</c:f>
              <c:numCache>
                <c:formatCode>General</c:formatCode>
                <c:ptCount val="3"/>
                <c:pt idx="0">
                  <c:v>1.92</c:v>
                </c:pt>
                <c:pt idx="1">
                  <c:v>0.3</c:v>
                </c:pt>
                <c:pt idx="2">
                  <c:v>2.505</c:v>
                </c:pt>
              </c:numCache>
            </c:numRef>
          </c:val>
        </c:ser>
        <c:dLbls>
          <c:numFmt formatCode="0.00" sourceLinked="0"/>
          <c:txPr>
            <a:bodyPr/>
            <a:lstStyle/>
            <a:p>
              <a:pPr>
                <a:defRPr b="0" i="0" strike="noStrike" sz="1200" u="none">
                  <a:solidFill>
                    <a:srgbClr val="2121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6350" cap="flat">
              <a:solidFill>
                <a:srgbClr val="E5E2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3일차 노트북(practice/day3_practice.ipynb)을 진행하면서 실습 블록 사이에 띄우는 설명 자료.
- 2일차 자료와 같은 구성: 코드 중심, 각 파트 첫 장에 노트북 섹션 표시.
- 3일차는 일정이 짧으므로 PART 1(구조)과 PART 3(비교)을 우선하고, PART 4는 시간에 맞춰 조절함.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- 3일차는 학습 없이 checkpoint를 불러오는 셀이 대부분이라 수 초 안에 끝남.
- 시간이 걸리는 셀: §3 구조 확인(16큐빗 회로 5개 forward, 십여 초), §4 미세조정 20 step(로컬 실측 약 7분, Colab은 더 걸림).
- §4 셀을 먼저 실행해 두고 PART 2를 설명하면 대기 시간을 설명 시간으로 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셀(설치·clone)을 실행하는 동안 진행함.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데이터, 판별자 구조(논문 Table 4), 지표 4종은 2일차와 동일함. 바뀌는 것은 생성자 하나뿐이라 비교가 공정함.
- 2일차 생성자는 '전체가 양자'(model-level hybrid), 오늘 생성자는 '일부만 양자'(layer-level hybrid).
- 2일차 수업 중 학습은 400 step, 오늘 쓰는 강사 checkpoint는 같은 구조로 600 step 학습한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checkpoint는 가중치(state_dict)만 저장하므로, 불러오기 전에 같은 모양의 모델을 먼저 만들어야 함. 모양이 다르면 load_state_dict가 오류를 냄.
- 그래서 학습 스크립트가 config(sub-generator 수, 큐빗 수, depth 등)를 함께 저장함. 클래스의 인자 기본값은 쓰이지 않음.
- map_location='cpu': GPU에서 저장한 파일도 CPU에서 열 수 있게 함.
- MediQ-GAN checkpoint에는 판별자 가중치도 들어 있음 - 미세조정할 때 판별자도 같은 시점 상태로 불러와야 균형이 유지됨.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README 결과표의 수치(로컬 CPU 실측). 상관계수는 64장 × 10개 시드 평균 ± 표준편차.
- 생성은 호출마다 새 난수를 쓰므로 노트북을 실행할 때마다 값이 조금씩 다름(예: 이 자료 작성 중 실행 결과는 상관 0.222, 최근접 1.66, 다양성 1.97). 소수점보다 모델 간 격차를 봄.
- QGAN은 64장, MediQ-GAN은 16장으로 평가함. 16큐빗 시뮬레이션이 비싸기 때문. 상관계수는 표본 수에 민감해 8 ~ 16장이면 0.05 ~ 0.17까지 흔들렸음.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셀(ToyDualStreamGenerator 정의 + forward 1회)을 실행하기 전에 진행함.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- 1일차 슬라이드 18 'Hybrid 분류체계' 복습.
- model-level hybrid: 판별자만 고전, 생성자는 처음부터 끝까지 양자회로. 출력이 측정 확률이라 척도가 확률(patch별 합 0 ~ 1).
- layer-level hybrid: 생성자 안에서 고전 layer와 양자 layer가 함께 동작. 최종 출력은 고전 decoder가 만들고 Tanh(-1 ~ 1).
- MediQ-GAN 논문의 주장: 전역 구조는 고전, 세부는 양자가 맡는 쪽이 더 높은 해상도로 확장됨.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forward 코드: z[:, :half]는 고전 stream, z[:, half:]는 양자 stream으로 감(논문 Fig.2 'feature map split').
- 고전 stream은 128 → 32 → 128 MLP. 논문은 conv encoder지만 16×16 저해상도라 MLP로 단순화함.
- 양자 stream 출력은 16채널 × 4×4 = 256차원. 고전 128과 concat하면 384차원.
- decoder는 384 → 32 → 256 MLP + Tanh. 최종 이미지는 이 고전 decoder가 만듦 → Tanh가 포화되면 z와 무관한 상수 이미지가 나올 수 있음(PART 2 학습 안정성).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- 2일차 회로와 다른 점: ① 입력이 난수가 아니라 q_align이 만든 학습된 특징값, ② RY와 RX를 같은 값으로 연속 적용, ③ 확률 대신 PauliX 기댓값(-1 ~ 1, 큐빗당 1개)을 출력.
- 기댓값 출력이라 ancilla qubit이나 post-selection이 필요 없음.
- lightning.qubit(C++ 시뮬레이터)은 backprop을 지원하지 않아 adjoint 미분을 씀. 16큐빗 상태벡터는 2^16 = 65,536차원.
- 공식 레포(mediq-gan.py의 quantum_circuit)와 같은 구성. depth는 논문 그림 기준 8(레포 CLI 기본값은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z_quantum 128차원을 16 site × 8차원으로 보고, q_align(Linear 8 → 16)으로 site마다 큐빗 수(16)에 맞춘 토큰을 만듦.
- site_idx = linspace(0, 15, 5).round() = [0, 4, 8, 11, 15]. sub-generator g는 site_idx[g] 하나만 처리함.
- 회로 출력 16개 기댓값의 평균 → 스칼라 1개 → 4×4 맵의 해당 칸. 나머지 11칸은 0.
- proj_qexp(1×1 conv)가 5채널 맵을 16채널로 투영. 1×1이라 칸끼리 섞지 않음.
- 회로 실행 수 = sub-generator 5 × batch. 이 부분이 MediQ-GAN에서 가장 느림.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값은 노트북의 ToyDualStreamGenerator(in_dim 256)를 그대로 만들어 센 것.
- 파라미터 수로는 양자 stream이 2.1%에 불과하지만, 학습 시간의 대부분은 16큐빗 회로 시뮬레이션에서 나옴.
- 2일차 QGAN은 생성자 280개가 전부 양자 파라미터. '양자 비율'이 hybrid 수준의 차이를 수치로 보여줌.
- parameter-shift로 실제 장치에서 학습한다면 640개 × 2 = 1,280회 회로 실행이 샘플 하나의 기울기에 필요함.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양자 stream을 줄이지 않은 이유: 줄이면 '논문이 말한 모델'이 아니게 됨. 대신 해상도와 학습 구간을 줄임(README 설계 원칙 1).
- 판별자 차이가 가장 큼: 원 논문은 WGAN-GP critic(gradient penalty로 판별자를 제약). 실습은 QGAN과 같은 표준 BCE 판별자라 판별자가 쉽게 이김(다음 PART 학습 안정성).
- 평가: 16×16에서는 FID가 의미 없어 지표 4종을 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미세조정 셀을 실행한 직후 시작함. 1 step 약 20초라 20 step이면 로컬 기준 약 7분.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real_tanh: 실제 이미지(0 ~ 1)를 2x - 1로 옮겨 생성자 출력(Tanh, -1 ~ 1)과 척도를 맞춤.
- sample_z: checkpoint config의 z_dist를 따름(normal). 강사 학습과 같은 조건이어야 비교가 됨.
- 판별자도 checkpoint에서 불러옴. 새 판별자로 시작하면 균형이 처음부터 깨짐.
- 10 epoch에서 출발하는 이유: 완전히 수렴한 모델에서 시작하면 손실이 거의 움직이지 않아 학습 과정이 보이지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차트는 mediqgan_final.pt의 history(700 step = 25 epoch × 28 step)를 epoch별로 평균한 값.
- 10 epoch까지는 균형 근처(loss_d 1.2 ~ 1.4). 이후 loss_d가 0.74까지 떨어지고 loss_g가 3.37까지 오름 - 판별자 우세 구간. 22 epoch부터 다시 균형으로 돌아옴.
- 사전 실험에서 lr_g 0.02(큰 학습률)로 시작했을 때는 3 epoch 만에 loss_d 0.0027, 다양성 0.000(완전 mode collapse). GAN 관례값으로 바꿔 25 epoch을 완주함(README 학습 안정성).
- 원 논문이 WGAN-GP critic을 쓰는 이유가 이 불안정성임. 판별자 설계가 결과를 좌우한다는 점을 토론 소재로 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epoch = DF 115장을 batch 4로 28 step. checkpoint 기록상 epoch당 평균 7.8분(453 ~ 487초).
- 1 step 약 20초: batch 4 × 샘플당 약 3초(판별자 step + 생성자 step).
- 큐빗 수에 따른 비용: 16큐빗은 12큐빗 대비 상태벡터가 16배(2^16 vs 2^12), 실측 소요시간은 약 20배였음(3일차 노트북 §6 ④).
- 그래서 수업에서는 10 epoch checkpoint(약 80분 학습분)에서 출발해 20 step만 더 돌림.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비교 셀을 실행하기 전에 진행함.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MediQ-GAN 25 epoch: 클래스 평균 상관 0.365로 QGAN(0.195)보다 높음 - 평균적인 병변 형태를 더 잘 맞춤.
- 그러나 샘플 간 거리 0.30은 실제 DF(2.505)의 약 1/8 - 비슷한 이미지를 반복 생성(mode collapse 경향).
- QGAN은 상관이 낮지만 다양성 1.92로 실제 분포에 가까움.
- 10 epoch(0.018)과 25 epoch(0.365) 차이로 학습량이 결과를 크게 바꾼다는 점도 확인함.
- 이 자료 작성 중 노트북 실행 결과: MediQ-GAN 25 epoch 상관 0.366, 다양성 0.285 - README와 일치.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MediQ-GAN의 최근접 실제 거리 3.44는 QGAN(1.64)의 두 배. 생성 이미지가 어떤 실제 이미지와도 가깝지 않음 → 개별 병변이 아니라 평균적인 형태를 반복해 그린다는 해석과 맞음(상관은 높고 다양성은 낮음).
- 클래스 평균 상관(②)은 평균 형태만 보므로, 같은 평균 이미지를 반복해도 높게 나옴. ②만 보면 MediQ-GAN이 낫다고 잘못 결론 내리게 됨.
- 토론: 데이터 증강이 목적이라면 어느 쪽이 더 쓸모 있는가 / 지표 하나로 순위를 매길 수 있는가.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노트북 §6 내용 요약.
① 2일차 QGAN: ancilla qubit 없이 측정하면 patch 합이 1로 고정되어 학습이 무너졌음(8×8 단계 사전 실험).
② 두 모델 모두 exact 상태벡터 시뮬레이터로 학습함(shot 없음). 실제 장치는 parameter-shift가 필요함.
③ 16×16에서는 FID가 의미 없음 - '어떤 지표로 좋다고 할 것인가'가 아직 열린 문제.
④ 16큐빗은 12큐빗 대비 상태 16배, 시간 약 20배.
⑤ 원 논문은 WGAN-GP critic으로 판별자를 제약함. 고전 쪽 학습 안정화가 결과를 좌우함.
⑥ 양자 생성모델은 양자 데이터·해밀토니안 상태 생성에서 먼저 의미를 가짐. 고전 데이터 영역의 우위는 아직 검증 단계.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원 논문은 64×64 RGB, WGAN-GP critic, GPU 학습 조건. 실습 결과와 같은 선상에서 비교하지 않음.
- 비교 대상에 diffusion 모델(DiT)까지 포함되어 있다는 점, IBM 실기기(ibm_marrakesh)에서 추론을 검증했다는 점을 짚음.
- 시사점: '생성자 전체를 양자로'보다 '전역 구조는 고전, 세부는 양자'인 layer-level hybrid가 더 높은 해상도로 확장되고 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
1. QGAN은 생성자 전체가 양자회로(model-level), MediQ-GAN은 생성자 안의 양자 stream 한 갈래만 양자회로(layer-level). 파라미터 비율로 QGAN 100%, MediQ-GAN 약 2%.
2. load_state_dict는 같은 모양의 모델에만 가중치를 넣을 수 있으므로, 저장 당시 구조(sub-generator 수, 큐빗 수, depth)를 알아야 같은 모델을 먼저 만들 수 있음.
3. 출력이 확률이 아니라 PauliX 기댓값(큐빗당 1개)이라 합이 1로 묶이는 정규화 제약이 없음. 최종 이미지는 고전 decoder가 만듦.
4. 클래스 평균 상관은 평균 형태만 보므로, 같은 평균 이미지를 반복해도 높게 나옴. 다양성(0.30)이 실제의 1/8이라 mode collapse 경향.
5. 판별자가 너무 빨리 이겨 생성자가 학습 신호를 잃음(loss_d → 0). WGAN-GP critic은 gradient penalty로 판별자를 제약함.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- 1일차 이론, 2일차 QGAN 구현·학습, 3일차 MediQ-GAN 미세조정·비교의 흐름을 정리함.
- 결론은 '어느 모델이 이겼다'가 아니라, 지표를 함께 봐야 하고 양자 부분의 비용과 고전 쪽 안정화가 결과를 좌우한다는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783080"/>
            <a:ext cx="7315200" cy="365760"/>
          </a:xfrm>
          <a:prstGeom prst="rect">
            <a:avLst/>
          </a:prstGeom>
          <a:noFill/>
          <a:ln/>
        </p:spPr>
        <p:txBody>
          <a:bodyPr wrap="square" rtlCol="0"/>
          <a:lstStyle>
            <a:lvl1pPr indent="0" marL="0">
              <a:buNone/>
              <a:defRPr lang="en-US" sz="1300" b="1" spc="100" kern="0" dirty="0">
                <a:solidFill>
                  <a:schemeClr val="bg1"/>
                </a:solidFill>
              </a:defRPr>
            </a:lvl1pPr>
          </a:lstStyle>
          <a:p>
            <a:pPr indent="0" marL="0">
              <a:buNone/>
            </a:pPr>
            <a:endParaRPr lang="en-US" sz="1300" dirty="0"/>
          </a:p>
        </p:txBody>
      </p:sp>
      <p:sp>
        <p:nvSpPr>
          <p:cNvPr id="3" name="Text 0"/>
          <p:cNvSpPr/>
          <p:nvPr>
            <p:ph idx="101" type="title" hasCustomPrompt="1"/>
          </p:nvPr>
        </p:nvSpPr>
        <p:spPr>
          <a:xfrm>
            <a:off x="822960" y="2194560"/>
            <a:ext cx="868680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822960" y="3017520"/>
            <a:ext cx="10515600" cy="822960"/>
          </a:xfrm>
          <a:prstGeom prst="rect">
            <a:avLst/>
          </a:prstGeom>
          <a:noFill/>
          <a:ln/>
        </p:spPr>
        <p:txBody>
          <a:bodyPr wrap="square" rtlCol="0"/>
          <a:lstStyle>
            <a:lvl1pPr algn="l" indent="0" marL="0">
              <a:buNone/>
              <a:defRPr lang="en-US" sz="2800" b="1" dirty="0">
                <a:solidFill>
                  <a:schemeClr val="accent3"/>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lvl1pPr indent="0" marL="0">
              <a:buNone/>
              <a:defRPr lang="en-US" sz="1200" b="1" spc="1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783080"/>
            <a:ext cx="7315200" cy="365760"/>
          </a:xfrm>
          <a:prstGeom prst="rect">
            <a:avLst/>
          </a:prstGeom>
          <a:noFill/>
          <a:ln/>
        </p:spPr>
        <p:txBody>
          <a:bodyPr wrap="square" rtlCol="0"/>
          <a:lstStyle/>
          <a:p>
            <a:pPr indent="0" marL="0">
              <a:buNone/>
            </a:pPr>
            <a:r>
              <a:rPr lang="en-US" sz="1300" b="1" spc="100" kern="0" dirty="0">
                <a:solidFill>
                  <a:schemeClr val="bg1"/>
                </a:solidFill>
              </a:rPr>
              <a:t>QML Lecture · 3일차</a:t>
            </a:r>
            <a:endParaRPr lang="en-US" sz="1300" dirty="0"/>
          </a:p>
        </p:txBody>
      </p:sp>
      <p:sp>
        <p:nvSpPr>
          <p:cNvPr id="3" name="Text 0"/>
          <p:cNvSpPr/>
          <p:nvPr>
            <p:ph idx="101" type="title" hasCustomPrompt="1"/>
          </p:nvPr>
        </p:nvSpPr>
        <p:spPr>
          <a:xfrm>
            <a:off x="822960" y="2194560"/>
            <a:ext cx="8686800" cy="822960"/>
          </a:xfrm>
          <a:prstGeom prst="rect">
            <a:avLst/>
          </a:prstGeom>
          <a:noFill/>
          <a:ln/>
        </p:spPr>
        <p:txBody>
          <a:bodyPr wrap="square" rtlCol="0"/>
          <a:lstStyle/>
          <a:p>
            <a:pPr algn="l" indent="0" marL="0">
              <a:buNone/>
            </a:pPr>
            <a:r>
              <a:rPr lang="en-US" sz="4000" b="1" dirty="0">
                <a:solidFill>
                  <a:schemeClr val="bg1"/>
                </a:solidFill>
              </a:rPr>
              <a:t>실습 설명 자료</a:t>
            </a:r>
            <a:endParaRPr lang="en-US" sz="4000" dirty="0"/>
          </a:p>
        </p:txBody>
      </p:sp>
      <p:sp>
        <p:nvSpPr>
          <p:cNvPr id="4" name="Text 0"/>
          <p:cNvSpPr/>
          <p:nvPr>
            <p:ph idx="102" type="body" hasCustomPrompt="1"/>
          </p:nvPr>
        </p:nvSpPr>
        <p:spPr>
          <a:xfrm>
            <a:off x="822960" y="3017520"/>
            <a:ext cx="10515600" cy="822960"/>
          </a:xfrm>
          <a:prstGeom prst="rect">
            <a:avLst/>
          </a:prstGeom>
          <a:noFill/>
          <a:ln/>
        </p:spPr>
        <p:txBody>
          <a:bodyPr wrap="square" rtlCol="0"/>
          <a:lstStyle/>
          <a:p>
            <a:pPr algn="l" indent="0" marL="0">
              <a:buNone/>
            </a:pPr>
            <a:r>
              <a:rPr lang="en-US" sz="2800" b="1" dirty="0">
                <a:solidFill>
                  <a:schemeClr val="accent3"/>
                </a:solidFill>
              </a:rPr>
              <a:t>MediQ-GAN 미세조정 → QGAN과 같은 지표로 비교</a:t>
            </a:r>
            <a:endParaRPr lang="en-US" sz="2800" dirty="0"/>
          </a:p>
        </p:txBody>
      </p:sp>
      <p:sp>
        <p:nvSpPr>
          <p:cNvPr id="6" name="Shape 3"/>
          <p:cNvSpPr/>
          <p:nvPr/>
        </p:nvSpPr>
        <p:spPr>
          <a:xfrm>
            <a:off x="9646920" y="777240"/>
            <a:ext cx="1417320" cy="1417320"/>
          </a:xfrm>
          <a:prstGeom prst="ellipse">
            <a:avLst/>
          </a:prstGeom>
          <a:solidFill>
            <a:schemeClr val="tx2"/>
          </a:solidFill>
          <a:ln w="15875">
            <a:solidFill>
              <a:schemeClr val="accent1"/>
            </a:solidFill>
            <a:prstDash val="solid"/>
          </a:ln>
        </p:spPr>
      </p:sp>
      <p:sp>
        <p:nvSpPr>
          <p:cNvPr id="7" name="Shape 4"/>
          <p:cNvSpPr/>
          <p:nvPr/>
        </p:nvSpPr>
        <p:spPr>
          <a:xfrm>
            <a:off x="10058400" y="1188720"/>
            <a:ext cx="594360" cy="594360"/>
          </a:xfrm>
          <a:prstGeom prst="ellipse">
            <a:avLst/>
          </a:prstGeom>
          <a:solidFill>
            <a:schemeClr val="accent1"/>
          </a:solidFill>
          <a:ln/>
        </p:spPr>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오리엔테이션</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3일차 진행 순서</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노트북 섹션 순서대로 실습하고, 각 블록 앞에 해당 설명 PART를 진행함</a:t>
            </a:r>
            <a:endParaRPr lang="en-US" sz="1400" dirty="0"/>
          </a:p>
        </p:txBody>
      </p:sp>
      <p:sp>
        <p:nvSpPr>
          <p:cNvPr id="6" name="Shape 3"/>
          <p:cNvSpPr/>
          <p:nvPr/>
        </p:nvSpPr>
        <p:spPr>
          <a:xfrm>
            <a:off x="548640" y="2240280"/>
            <a:ext cx="1691640" cy="23774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7" name="Text 4"/>
          <p:cNvSpPr txBox="1"/>
          <p:nvPr/>
        </p:nvSpPr>
        <p:spPr>
          <a:xfrm>
            <a:off x="73152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8" name="Text 5"/>
          <p:cNvSpPr txBox="1"/>
          <p:nvPr/>
        </p:nvSpPr>
        <p:spPr>
          <a:xfrm>
            <a:off x="73152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환경·자산</a:t>
            </a:r>
            <a:endParaRPr lang="en-US" sz="1600" dirty="0"/>
          </a:p>
        </p:txBody>
      </p:sp>
      <p:sp>
        <p:nvSpPr>
          <p:cNvPr id="9" name="Text 6"/>
          <p:cNvSpPr txBox="1"/>
          <p:nvPr/>
        </p:nvSpPr>
        <p:spPr>
          <a:xfrm>
            <a:off x="73152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저장소 clone</a:t>
            </a:r>
            <a:endParaRPr lang="en-US" sz="1200" dirty="0"/>
          </a:p>
          <a:p>
            <a:pPr indent="0" marL="0">
              <a:buNone/>
            </a:pPr>
            <a:r>
              <a:rPr lang="en-US" sz="1200" dirty="0">
                <a:solidFill>
                  <a:schemeClr val="accent6"/>
                </a:solidFill>
              </a:rPr>
              <a:t>checkpoint 로드</a:t>
            </a:r>
            <a:endParaRPr lang="en-US" sz="1200" dirty="0"/>
          </a:p>
        </p:txBody>
      </p:sp>
      <p:sp>
        <p:nvSpPr>
          <p:cNvPr id="10" name="Shape 7"/>
          <p:cNvSpPr/>
          <p:nvPr/>
        </p:nvSpPr>
        <p:spPr>
          <a:xfrm>
            <a:off x="731520" y="4114800"/>
            <a:ext cx="914400" cy="310896"/>
          </a:xfrm>
          <a:prstGeom prst="roundRect">
            <a:avLst>
              <a:gd name="adj" fmla="val 23529"/>
            </a:avLst>
          </a:prstGeom>
          <a:solidFill>
            <a:schemeClr val="tx2"/>
          </a:solidFill>
          <a:ln/>
        </p:spPr>
      </p:sp>
      <p:sp>
        <p:nvSpPr>
          <p:cNvPr id="11" name="Text 8"/>
          <p:cNvSpPr txBox="1"/>
          <p:nvPr/>
        </p:nvSpPr>
        <p:spPr>
          <a:xfrm>
            <a:off x="73152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0</a:t>
            </a:r>
            <a:endParaRPr lang="en-US" sz="1100" dirty="0"/>
          </a:p>
        </p:txBody>
      </p:sp>
      <p:sp>
        <p:nvSpPr>
          <p:cNvPr id="12" name="Shape 9"/>
          <p:cNvSpPr/>
          <p:nvPr/>
        </p:nvSpPr>
        <p:spPr>
          <a:xfrm>
            <a:off x="2258568" y="3429000"/>
            <a:ext cx="146304" cy="0"/>
          </a:xfrm>
          <a:prstGeom prst="line">
            <a:avLst/>
          </a:prstGeom>
          <a:noFill/>
          <a:ln w="22225">
            <a:solidFill>
              <a:schemeClr val="accent6"/>
            </a:solidFill>
            <a:prstDash val="solid"/>
            <a:tailEnd type="triangle"/>
          </a:ln>
        </p:spPr>
      </p:sp>
      <p:sp>
        <p:nvSpPr>
          <p:cNvPr id="13" name="Shape 10"/>
          <p:cNvSpPr/>
          <p:nvPr/>
        </p:nvSpPr>
        <p:spPr>
          <a:xfrm>
            <a:off x="2423160" y="2240280"/>
            <a:ext cx="1691640" cy="23774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14" name="Text 11"/>
          <p:cNvSpPr txBox="1"/>
          <p:nvPr/>
        </p:nvSpPr>
        <p:spPr>
          <a:xfrm>
            <a:off x="260604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§2</a:t>
            </a:r>
            <a:endParaRPr lang="en-US" sz="1200" dirty="0"/>
          </a:p>
        </p:txBody>
      </p:sp>
      <p:sp>
        <p:nvSpPr>
          <p:cNvPr id="15" name="Text 12"/>
          <p:cNvSpPr txBox="1"/>
          <p:nvPr/>
        </p:nvSpPr>
        <p:spPr>
          <a:xfrm>
            <a:off x="260604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QGAN 기준선</a:t>
            </a:r>
            <a:endParaRPr lang="en-US" sz="1600" dirty="0"/>
          </a:p>
        </p:txBody>
      </p:sp>
      <p:sp>
        <p:nvSpPr>
          <p:cNvPr id="16" name="Text 13"/>
          <p:cNvSpPr txBox="1"/>
          <p:nvPr/>
        </p:nvSpPr>
        <p:spPr>
          <a:xfrm>
            <a:off x="260604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600 step checkpoint</a:t>
            </a:r>
            <a:endParaRPr lang="en-US" sz="1200" dirty="0"/>
          </a:p>
          <a:p>
            <a:pPr indent="0" marL="0">
              <a:buNone/>
            </a:pPr>
            <a:r>
              <a:rPr lang="en-US" sz="1200" dirty="0">
                <a:solidFill>
                  <a:schemeClr val="accent6"/>
                </a:solidFill>
              </a:rPr>
              <a:t>지표 4종</a:t>
            </a:r>
            <a:endParaRPr lang="en-US" sz="1200" dirty="0"/>
          </a:p>
        </p:txBody>
      </p:sp>
      <p:sp>
        <p:nvSpPr>
          <p:cNvPr id="17" name="Shape 14"/>
          <p:cNvSpPr/>
          <p:nvPr/>
        </p:nvSpPr>
        <p:spPr>
          <a:xfrm>
            <a:off x="2606040" y="4114800"/>
            <a:ext cx="914400" cy="310896"/>
          </a:xfrm>
          <a:prstGeom prst="roundRect">
            <a:avLst>
              <a:gd name="adj" fmla="val 23529"/>
            </a:avLst>
          </a:prstGeom>
          <a:solidFill>
            <a:schemeClr val="tx2"/>
          </a:solidFill>
          <a:ln/>
        </p:spPr>
      </p:sp>
      <p:sp>
        <p:nvSpPr>
          <p:cNvPr id="18" name="Text 15"/>
          <p:cNvSpPr txBox="1"/>
          <p:nvPr/>
        </p:nvSpPr>
        <p:spPr>
          <a:xfrm>
            <a:off x="260604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0</a:t>
            </a:r>
            <a:endParaRPr lang="en-US" sz="1100" dirty="0"/>
          </a:p>
        </p:txBody>
      </p:sp>
      <p:sp>
        <p:nvSpPr>
          <p:cNvPr id="19" name="Shape 16"/>
          <p:cNvSpPr/>
          <p:nvPr/>
        </p:nvSpPr>
        <p:spPr>
          <a:xfrm>
            <a:off x="4133088" y="3429000"/>
            <a:ext cx="146304" cy="0"/>
          </a:xfrm>
          <a:prstGeom prst="line">
            <a:avLst/>
          </a:prstGeom>
          <a:noFill/>
          <a:ln w="22225">
            <a:solidFill>
              <a:schemeClr val="accent6"/>
            </a:solidFill>
            <a:prstDash val="solid"/>
            <a:tailEnd type="triangle"/>
          </a:ln>
        </p:spPr>
      </p:sp>
      <p:sp>
        <p:nvSpPr>
          <p:cNvPr id="20" name="Shape 17"/>
          <p:cNvSpPr/>
          <p:nvPr/>
        </p:nvSpPr>
        <p:spPr>
          <a:xfrm>
            <a:off x="4297680" y="2240280"/>
            <a:ext cx="1691640" cy="23774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21" name="Text 18"/>
          <p:cNvSpPr txBox="1"/>
          <p:nvPr/>
        </p:nvSpPr>
        <p:spPr>
          <a:xfrm>
            <a:off x="448056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§3</a:t>
            </a:r>
            <a:endParaRPr lang="en-US" sz="1200" dirty="0"/>
          </a:p>
        </p:txBody>
      </p:sp>
      <p:sp>
        <p:nvSpPr>
          <p:cNvPr id="22" name="Text 19"/>
          <p:cNvSpPr txBox="1"/>
          <p:nvPr/>
        </p:nvSpPr>
        <p:spPr>
          <a:xfrm>
            <a:off x="448056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MediQ-GAN 구조</a:t>
            </a:r>
            <a:endParaRPr lang="en-US" sz="1600" dirty="0"/>
          </a:p>
        </p:txBody>
      </p:sp>
      <p:sp>
        <p:nvSpPr>
          <p:cNvPr id="23" name="Text 20"/>
          <p:cNvSpPr txBox="1"/>
          <p:nvPr/>
        </p:nvSpPr>
        <p:spPr>
          <a:xfrm>
            <a:off x="448056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dual-stream</a:t>
            </a:r>
            <a:endParaRPr lang="en-US" sz="1200" dirty="0"/>
          </a:p>
          <a:p>
            <a:pPr indent="0" marL="0">
              <a:buNone/>
            </a:pPr>
            <a:r>
              <a:rPr lang="en-US" sz="1200" dirty="0">
                <a:solidFill>
                  <a:schemeClr val="accent6"/>
                </a:solidFill>
              </a:rPr>
              <a:t>16큐빗 × 5</a:t>
            </a:r>
            <a:endParaRPr lang="en-US" sz="1200" dirty="0"/>
          </a:p>
        </p:txBody>
      </p:sp>
      <p:sp>
        <p:nvSpPr>
          <p:cNvPr id="24" name="Shape 21"/>
          <p:cNvSpPr/>
          <p:nvPr/>
        </p:nvSpPr>
        <p:spPr>
          <a:xfrm>
            <a:off x="4480560" y="4114800"/>
            <a:ext cx="914400" cy="310896"/>
          </a:xfrm>
          <a:prstGeom prst="roundRect">
            <a:avLst>
              <a:gd name="adj" fmla="val 23529"/>
            </a:avLst>
          </a:prstGeom>
          <a:solidFill>
            <a:schemeClr val="tx2"/>
          </a:solidFill>
          <a:ln/>
        </p:spPr>
      </p:sp>
      <p:sp>
        <p:nvSpPr>
          <p:cNvPr id="25" name="Text 22"/>
          <p:cNvSpPr txBox="1"/>
          <p:nvPr/>
        </p:nvSpPr>
        <p:spPr>
          <a:xfrm>
            <a:off x="448056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1</a:t>
            </a:r>
            <a:endParaRPr lang="en-US" sz="1100" dirty="0"/>
          </a:p>
        </p:txBody>
      </p:sp>
      <p:sp>
        <p:nvSpPr>
          <p:cNvPr id="26" name="Shape 23"/>
          <p:cNvSpPr/>
          <p:nvPr/>
        </p:nvSpPr>
        <p:spPr>
          <a:xfrm>
            <a:off x="6007608" y="3429000"/>
            <a:ext cx="146304" cy="0"/>
          </a:xfrm>
          <a:prstGeom prst="line">
            <a:avLst/>
          </a:prstGeom>
          <a:noFill/>
          <a:ln w="22225">
            <a:solidFill>
              <a:schemeClr val="accent6"/>
            </a:solidFill>
            <a:prstDash val="solid"/>
            <a:tailEnd type="triangle"/>
          </a:ln>
        </p:spPr>
      </p:sp>
      <p:sp>
        <p:nvSpPr>
          <p:cNvPr id="27" name="Shape 24"/>
          <p:cNvSpPr/>
          <p:nvPr/>
        </p:nvSpPr>
        <p:spPr>
          <a:xfrm>
            <a:off x="6172200" y="2240280"/>
            <a:ext cx="1691640" cy="2377440"/>
          </a:xfrm>
          <a:prstGeom prst="roundRect">
            <a:avLst>
              <a:gd name="adj" fmla="val 6486"/>
            </a:avLst>
          </a:prstGeom>
          <a:solidFill>
            <a:srgbClr val="DDF2E6"/>
          </a:solidFill>
          <a:ln w="15875">
            <a:solidFill>
              <a:srgbClr val="00754A"/>
            </a:solidFill>
            <a:prstDash val="solid"/>
          </a:ln>
          <a:effectLst>
            <a:outerShdw sx="100000" sy="100000" kx="0" ky="0" algn="bl" rotWithShape="0" blurRad="76200" dist="25400" dir="5400000">
              <a:srgbClr val="000000">
                <a:alpha val="12000"/>
              </a:srgbClr>
            </a:outerShdw>
          </a:effectLst>
        </p:spPr>
      </p:sp>
      <p:sp>
        <p:nvSpPr>
          <p:cNvPr id="28" name="Text 25"/>
          <p:cNvSpPr txBox="1"/>
          <p:nvPr/>
        </p:nvSpPr>
        <p:spPr>
          <a:xfrm>
            <a:off x="635508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§4</a:t>
            </a:r>
            <a:endParaRPr lang="en-US" sz="1200" dirty="0"/>
          </a:p>
        </p:txBody>
      </p:sp>
      <p:sp>
        <p:nvSpPr>
          <p:cNvPr id="29" name="Text 26"/>
          <p:cNvSpPr txBox="1"/>
          <p:nvPr/>
        </p:nvSpPr>
        <p:spPr>
          <a:xfrm>
            <a:off x="635508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미세조정</a:t>
            </a:r>
            <a:endParaRPr lang="en-US" sz="1600" dirty="0"/>
          </a:p>
        </p:txBody>
      </p:sp>
      <p:sp>
        <p:nvSpPr>
          <p:cNvPr id="30" name="Text 27"/>
          <p:cNvSpPr txBox="1"/>
          <p:nvPr/>
        </p:nvSpPr>
        <p:spPr>
          <a:xfrm>
            <a:off x="635508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10 epoch에서 출발</a:t>
            </a:r>
            <a:endParaRPr lang="en-US" sz="1200" dirty="0"/>
          </a:p>
          <a:p>
            <a:pPr indent="0" marL="0">
              <a:buNone/>
            </a:pPr>
            <a:r>
              <a:rPr lang="en-US" sz="1200" dirty="0">
                <a:solidFill>
                  <a:schemeClr val="accent6"/>
                </a:solidFill>
              </a:rPr>
              <a:t>+20 step</a:t>
            </a:r>
            <a:endParaRPr lang="en-US" sz="1200" dirty="0"/>
          </a:p>
        </p:txBody>
      </p:sp>
      <p:sp>
        <p:nvSpPr>
          <p:cNvPr id="31" name="Shape 28"/>
          <p:cNvSpPr/>
          <p:nvPr/>
        </p:nvSpPr>
        <p:spPr>
          <a:xfrm>
            <a:off x="6355080" y="4114800"/>
            <a:ext cx="914400" cy="310896"/>
          </a:xfrm>
          <a:prstGeom prst="roundRect">
            <a:avLst>
              <a:gd name="adj" fmla="val 23529"/>
            </a:avLst>
          </a:prstGeom>
          <a:solidFill>
            <a:schemeClr val="tx2"/>
          </a:solidFill>
          <a:ln/>
        </p:spPr>
      </p:sp>
      <p:sp>
        <p:nvSpPr>
          <p:cNvPr id="32" name="Text 29"/>
          <p:cNvSpPr txBox="1"/>
          <p:nvPr/>
        </p:nvSpPr>
        <p:spPr>
          <a:xfrm>
            <a:off x="635508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2</a:t>
            </a:r>
            <a:endParaRPr lang="en-US" sz="1100" dirty="0"/>
          </a:p>
        </p:txBody>
      </p:sp>
      <p:sp>
        <p:nvSpPr>
          <p:cNvPr id="33" name="Shape 30"/>
          <p:cNvSpPr/>
          <p:nvPr/>
        </p:nvSpPr>
        <p:spPr>
          <a:xfrm>
            <a:off x="7882128" y="3429000"/>
            <a:ext cx="146304" cy="0"/>
          </a:xfrm>
          <a:prstGeom prst="line">
            <a:avLst/>
          </a:prstGeom>
          <a:noFill/>
          <a:ln w="22225">
            <a:solidFill>
              <a:schemeClr val="accent6"/>
            </a:solidFill>
            <a:prstDash val="solid"/>
            <a:tailEnd type="triangle"/>
          </a:ln>
        </p:spPr>
      </p:sp>
      <p:sp>
        <p:nvSpPr>
          <p:cNvPr id="34" name="Shape 31"/>
          <p:cNvSpPr/>
          <p:nvPr/>
        </p:nvSpPr>
        <p:spPr>
          <a:xfrm>
            <a:off x="8046720" y="2240280"/>
            <a:ext cx="1691640" cy="23774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35" name="Text 32"/>
          <p:cNvSpPr txBox="1"/>
          <p:nvPr/>
        </p:nvSpPr>
        <p:spPr>
          <a:xfrm>
            <a:off x="822960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§5</a:t>
            </a:r>
            <a:endParaRPr lang="en-US" sz="1200" dirty="0"/>
          </a:p>
        </p:txBody>
      </p:sp>
      <p:sp>
        <p:nvSpPr>
          <p:cNvPr id="36" name="Text 33"/>
          <p:cNvSpPr txBox="1"/>
          <p:nvPr/>
        </p:nvSpPr>
        <p:spPr>
          <a:xfrm>
            <a:off x="822960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비교</a:t>
            </a:r>
            <a:endParaRPr lang="en-US" sz="1600" dirty="0"/>
          </a:p>
        </p:txBody>
      </p:sp>
      <p:sp>
        <p:nvSpPr>
          <p:cNvPr id="37" name="Text 34"/>
          <p:cNvSpPr txBox="1"/>
          <p:nvPr/>
        </p:nvSpPr>
        <p:spPr>
          <a:xfrm>
            <a:off x="822960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같은 지표로</a:t>
            </a:r>
            <a:endParaRPr lang="en-US" sz="1200" dirty="0"/>
          </a:p>
          <a:p>
            <a:pPr indent="0" marL="0">
              <a:buNone/>
            </a:pPr>
            <a:r>
              <a:rPr lang="en-US" sz="1200" dirty="0">
                <a:solidFill>
                  <a:schemeClr val="accent6"/>
                </a:solidFill>
              </a:rPr>
              <a:t>QGAN vs MediQ</a:t>
            </a:r>
            <a:endParaRPr lang="en-US" sz="1200" dirty="0"/>
          </a:p>
        </p:txBody>
      </p:sp>
      <p:sp>
        <p:nvSpPr>
          <p:cNvPr id="38" name="Shape 35"/>
          <p:cNvSpPr/>
          <p:nvPr/>
        </p:nvSpPr>
        <p:spPr>
          <a:xfrm>
            <a:off x="8229600" y="4114800"/>
            <a:ext cx="914400" cy="310896"/>
          </a:xfrm>
          <a:prstGeom prst="roundRect">
            <a:avLst>
              <a:gd name="adj" fmla="val 23529"/>
            </a:avLst>
          </a:prstGeom>
          <a:solidFill>
            <a:schemeClr val="tx2"/>
          </a:solidFill>
          <a:ln/>
        </p:spPr>
      </p:sp>
      <p:sp>
        <p:nvSpPr>
          <p:cNvPr id="39" name="Text 36"/>
          <p:cNvSpPr txBox="1"/>
          <p:nvPr/>
        </p:nvSpPr>
        <p:spPr>
          <a:xfrm>
            <a:off x="822960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3</a:t>
            </a:r>
            <a:endParaRPr lang="en-US" sz="1100" dirty="0"/>
          </a:p>
        </p:txBody>
      </p:sp>
      <p:sp>
        <p:nvSpPr>
          <p:cNvPr id="40" name="Shape 37"/>
          <p:cNvSpPr/>
          <p:nvPr/>
        </p:nvSpPr>
        <p:spPr>
          <a:xfrm>
            <a:off x="9756648" y="3429000"/>
            <a:ext cx="146304" cy="0"/>
          </a:xfrm>
          <a:prstGeom prst="line">
            <a:avLst/>
          </a:prstGeom>
          <a:noFill/>
          <a:ln w="22225">
            <a:solidFill>
              <a:schemeClr val="accent6"/>
            </a:solidFill>
            <a:prstDash val="solid"/>
            <a:tailEnd type="triangle"/>
          </a:ln>
        </p:spPr>
      </p:sp>
      <p:sp>
        <p:nvSpPr>
          <p:cNvPr id="41" name="Shape 38"/>
          <p:cNvSpPr/>
          <p:nvPr/>
        </p:nvSpPr>
        <p:spPr>
          <a:xfrm>
            <a:off x="9921240" y="2240280"/>
            <a:ext cx="1691640" cy="23774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42" name="Text 39"/>
          <p:cNvSpPr txBox="1"/>
          <p:nvPr/>
        </p:nvSpPr>
        <p:spPr>
          <a:xfrm>
            <a:off x="10104120" y="2423160"/>
            <a:ext cx="1325880" cy="274320"/>
          </a:xfrm>
          <a:prstGeom prst="rect">
            <a:avLst/>
          </a:prstGeom>
          <a:noFill/>
          <a:ln/>
        </p:spPr>
        <p:txBody>
          <a:bodyPr wrap="square" lIns="0" tIns="0" rIns="0" bIns="0" rtlCol="0" anchor="t"/>
          <a:lstStyle/>
          <a:p>
            <a:pPr indent="0" marL="0">
              <a:buNone/>
            </a:pPr>
            <a:r>
              <a:rPr lang="en-US" sz="1200" b="1" dirty="0">
                <a:solidFill>
                  <a:schemeClr val="accent1"/>
                </a:solidFill>
              </a:rPr>
              <a:t>§6</a:t>
            </a:r>
            <a:endParaRPr lang="en-US" sz="1200" dirty="0"/>
          </a:p>
        </p:txBody>
      </p:sp>
      <p:sp>
        <p:nvSpPr>
          <p:cNvPr id="43" name="Text 40"/>
          <p:cNvSpPr txBox="1"/>
          <p:nvPr/>
        </p:nvSpPr>
        <p:spPr>
          <a:xfrm>
            <a:off x="10104120" y="2743200"/>
            <a:ext cx="1417320" cy="411480"/>
          </a:xfrm>
          <a:prstGeom prst="rect">
            <a:avLst/>
          </a:prstGeom>
          <a:noFill/>
          <a:ln/>
        </p:spPr>
        <p:txBody>
          <a:bodyPr wrap="square" lIns="0" tIns="0" rIns="0" bIns="0" rtlCol="0" anchor="t"/>
          <a:lstStyle/>
          <a:p>
            <a:pPr indent="0" marL="0">
              <a:buNone/>
            </a:pPr>
            <a:r>
              <a:rPr lang="en-US" sz="1600" b="1" dirty="0">
                <a:solidFill>
                  <a:schemeClr val="tx1"/>
                </a:solidFill>
              </a:rPr>
              <a:t>토론</a:t>
            </a:r>
            <a:endParaRPr lang="en-US" sz="1600" dirty="0"/>
          </a:p>
        </p:txBody>
      </p:sp>
      <p:sp>
        <p:nvSpPr>
          <p:cNvPr id="44" name="Text 41"/>
          <p:cNvSpPr txBox="1"/>
          <p:nvPr/>
        </p:nvSpPr>
        <p:spPr>
          <a:xfrm>
            <a:off x="10104120" y="3291840"/>
            <a:ext cx="1371600" cy="822960"/>
          </a:xfrm>
          <a:prstGeom prst="rect">
            <a:avLst/>
          </a:prstGeom>
          <a:noFill/>
          <a:ln/>
        </p:spPr>
        <p:txBody>
          <a:bodyPr wrap="square" lIns="0" tIns="0" rIns="0" bIns="0" rtlCol="0" anchor="t"/>
          <a:lstStyle/>
          <a:p>
            <a:pPr indent="0" marL="0">
              <a:buNone/>
            </a:pPr>
            <a:r>
              <a:rPr lang="en-US" sz="1200" dirty="0">
                <a:solidFill>
                  <a:schemeClr val="accent6"/>
                </a:solidFill>
              </a:rPr>
              <a:t>양자 생성모델의</a:t>
            </a:r>
            <a:endParaRPr lang="en-US" sz="1200" dirty="0"/>
          </a:p>
          <a:p>
            <a:pPr indent="0" marL="0">
              <a:buNone/>
            </a:pPr>
            <a:r>
              <a:rPr lang="en-US" sz="1200" dirty="0">
                <a:solidFill>
                  <a:schemeClr val="accent6"/>
                </a:solidFill>
              </a:rPr>
              <a:t>한계·방향</a:t>
            </a:r>
            <a:endParaRPr lang="en-US" sz="1200" dirty="0"/>
          </a:p>
        </p:txBody>
      </p:sp>
      <p:sp>
        <p:nvSpPr>
          <p:cNvPr id="45" name="Shape 42"/>
          <p:cNvSpPr/>
          <p:nvPr/>
        </p:nvSpPr>
        <p:spPr>
          <a:xfrm>
            <a:off x="10104120" y="4114800"/>
            <a:ext cx="914400" cy="310896"/>
          </a:xfrm>
          <a:prstGeom prst="roundRect">
            <a:avLst>
              <a:gd name="adj" fmla="val 23529"/>
            </a:avLst>
          </a:prstGeom>
          <a:solidFill>
            <a:schemeClr val="tx2"/>
          </a:solidFill>
          <a:ln/>
        </p:spPr>
      </p:sp>
      <p:sp>
        <p:nvSpPr>
          <p:cNvPr id="46" name="Text 43"/>
          <p:cNvSpPr txBox="1"/>
          <p:nvPr/>
        </p:nvSpPr>
        <p:spPr>
          <a:xfrm>
            <a:off x="10104120" y="4114800"/>
            <a:ext cx="914400" cy="310896"/>
          </a:xfrm>
          <a:prstGeom prst="rect">
            <a:avLst/>
          </a:prstGeom>
          <a:noFill/>
          <a:ln/>
        </p:spPr>
        <p:txBody>
          <a:bodyPr wrap="square" lIns="0" tIns="0" rIns="0" bIns="0" rtlCol="0" anchor="ctr"/>
          <a:lstStyle/>
          <a:p>
            <a:pPr algn="ctr" indent="0" marL="0">
              <a:buNone/>
            </a:pPr>
            <a:r>
              <a:rPr lang="en-US" sz="1100" b="1" dirty="0">
                <a:solidFill>
                  <a:schemeClr val="bg1"/>
                </a:solidFill>
              </a:rPr>
              <a:t>PART 4</a:t>
            </a:r>
            <a:endParaRPr lang="en-US" sz="1100" dirty="0"/>
          </a:p>
        </p:txBody>
      </p:sp>
      <p:sp>
        <p:nvSpPr>
          <p:cNvPr id="47" name="Shape 44"/>
          <p:cNvSpPr/>
          <p:nvPr/>
        </p:nvSpPr>
        <p:spPr>
          <a:xfrm>
            <a:off x="548640" y="4983480"/>
            <a:ext cx="11064240" cy="960120"/>
          </a:xfrm>
          <a:prstGeom prst="roundRect">
            <a:avLst>
              <a:gd name="adj" fmla="val 11429"/>
            </a:avLst>
          </a:prstGeom>
          <a:solidFill>
            <a:srgbClr val="FAF6EE"/>
          </a:solidFill>
          <a:ln/>
        </p:spPr>
      </p:sp>
      <p:sp>
        <p:nvSpPr>
          <p:cNvPr id="48" name="Text 45"/>
          <p:cNvSpPr txBox="1"/>
          <p:nvPr/>
        </p:nvSpPr>
        <p:spPr>
          <a:xfrm>
            <a:off x="777240" y="5120640"/>
            <a:ext cx="10607040" cy="731520"/>
          </a:xfrm>
          <a:prstGeom prst="rect">
            <a:avLst/>
          </a:prstGeom>
          <a:noFill/>
          <a:ln/>
        </p:spPr>
        <p:txBody>
          <a:bodyPr wrap="square" lIns="0" tIns="0" rIns="0" bIns="0" rtlCol="0" anchor="ctr"/>
          <a:lstStyle/>
          <a:p>
            <a:pPr indent="0" marL="0">
              <a:buNone/>
            </a:pPr>
            <a:r>
              <a:rPr lang="en-US" sz="1400" b="1" dirty="0">
                <a:solidFill>
                  <a:schemeClr val="accent4"/>
                </a:solidFill>
              </a:rPr>
              <a:t>운영 포인트  </a:t>
            </a:r>
            <a:pPr indent="0" marL="0">
              <a:buNone/>
            </a:pPr>
            <a:r>
              <a:rPr lang="en-US" sz="1400" dirty="0">
                <a:solidFill>
                  <a:schemeClr val="tx1"/>
                </a:solidFill>
              </a:rPr>
              <a:t>§4 미세조정 셀을 먼저 실행한 뒤 PART 2를 설명함. 진행 로그는 step마다 출력되며 '남은 예상' 시간을 보고 step 수를 줄여도 됨.</a:t>
            </a:r>
            <a:endParaRPr lang="en-US" sz="14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p>
            <a:pPr indent="0" marL="0">
              <a:buNone/>
            </a:pPr>
            <a:r>
              <a:rPr lang="en-US" sz="1200" b="1" spc="100" kern="0" dirty="0">
                <a:solidFill>
                  <a:schemeClr val="accent3"/>
                </a:solidFill>
              </a:rPr>
              <a:t>PART 0 · 노트북 §1 – §2</a:t>
            </a: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p>
            <a:pPr algn="l" indent="0" marL="0">
              <a:buNone/>
            </a:pPr>
            <a:r>
              <a:rPr lang="en-US" sz="3600" b="1" dirty="0">
                <a:solidFill>
                  <a:schemeClr val="bg1"/>
                </a:solidFill>
              </a:rPr>
              <a:t>2일차 복습과 QGAN 기준선</a:t>
            </a: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p>
            <a:pPr indent="0" marL="0">
              <a:buNone/>
            </a:pPr>
            <a:r>
              <a:rPr lang="en-US" sz="1500" dirty="0">
                <a:solidFill>
                  <a:schemeClr val="bg2"/>
                </a:solidFill>
              </a:rPr>
              <a:t>2일차에 만든 QGAN을 checkpoint로 불러와 오늘 비교의 기준선으로 씀</a:t>
            </a:r>
            <a:endParaRPr lang="en-US" sz="1500" dirty="0"/>
          </a:p>
        </p:txBody>
      </p:sp>
      <p:sp>
        <p:nvSpPr>
          <p:cNvPr id="6" name="Text 3"/>
          <p:cNvSpPr txBox="1"/>
          <p:nvPr/>
        </p:nvSpPr>
        <p:spPr>
          <a:xfrm>
            <a:off x="822960" y="297180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이 파트의 코드</a:t>
            </a:r>
            <a:endParaRPr lang="en-US" sz="1400" dirty="0"/>
          </a:p>
        </p:txBody>
      </p:sp>
      <p:sp>
        <p:nvSpPr>
          <p:cNvPr id="7" name="Text 4"/>
          <p:cNvSpPr txBox="1"/>
          <p:nvPr/>
        </p:nvSpPr>
        <p:spPr>
          <a:xfrm>
            <a:off x="3291840" y="2971800"/>
            <a:ext cx="8046720" cy="548640"/>
          </a:xfrm>
          <a:prstGeom prst="rect">
            <a:avLst/>
          </a:prstGeom>
          <a:noFill/>
          <a:ln/>
        </p:spPr>
        <p:txBody>
          <a:bodyPr wrap="square" lIns="0" tIns="0" rIns="0" bIns="0" rtlCol="0" anchor="t"/>
          <a:lstStyle/>
          <a:p>
            <a:pPr indent="0" marL="0">
              <a:buNone/>
            </a:pPr>
            <a:r>
              <a:rPr lang="en-US" sz="1500" dirty="0">
                <a:solidFill>
                  <a:schemeClr val="bg1"/>
                </a:solidFill>
              </a:rPr>
              <a:t>torch.load · PatchQuantumGenerator(**config) · gm.evaluate</a:t>
            </a:r>
            <a:endParaRPr lang="en-US" sz="1500" dirty="0"/>
          </a:p>
        </p:txBody>
      </p:sp>
      <p:sp>
        <p:nvSpPr>
          <p:cNvPr id="8" name="Text 5"/>
          <p:cNvSpPr txBox="1"/>
          <p:nvPr/>
        </p:nvSpPr>
        <p:spPr>
          <a:xfrm>
            <a:off x="822960" y="384048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핵심 질문</a:t>
            </a:r>
            <a:endParaRPr lang="en-US" sz="1400" dirty="0"/>
          </a:p>
        </p:txBody>
      </p:sp>
      <p:sp>
        <p:nvSpPr>
          <p:cNvPr id="9" name="Text 6"/>
          <p:cNvSpPr txBox="1"/>
          <p:nvPr/>
        </p:nvSpPr>
        <p:spPr>
          <a:xfrm>
            <a:off x="3291840" y="3840480"/>
            <a:ext cx="8046720" cy="548640"/>
          </a:xfrm>
          <a:prstGeom prst="rect">
            <a:avLst/>
          </a:prstGeom>
          <a:noFill/>
          <a:ln/>
        </p:spPr>
        <p:txBody>
          <a:bodyPr wrap="square" lIns="0" tIns="0" rIns="0" bIns="0" rtlCol="0" anchor="t"/>
          <a:lstStyle/>
          <a:p>
            <a:pPr indent="0" marL="0">
              <a:buNone/>
            </a:pPr>
            <a:r>
              <a:rPr lang="en-US" sz="1500" dirty="0">
                <a:solidFill>
                  <a:schemeClr val="bg1"/>
                </a:solidFill>
              </a:rPr>
              <a:t>checkpoint에는 무엇이 들어 있는가 / 기준선 숫자를 어떻게 읽는가</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0 · 2일차 복습</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2일차에 만든 것</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전처리 → 양자 생성자 → 학습 → 지표 4종. 오늘은 생성자 구조만 바꾸고 나머지는 그대로 씀</a:t>
            </a:r>
            <a:endParaRPr lang="en-US" sz="1400" dirty="0"/>
          </a:p>
        </p:txBody>
      </p:sp>
      <p:sp>
        <p:nvSpPr>
          <p:cNvPr id="6" name="Shape 3"/>
          <p:cNvSpPr/>
          <p:nvPr/>
        </p:nvSpPr>
        <p:spPr>
          <a:xfrm>
            <a:off x="548640" y="2148840"/>
            <a:ext cx="2377440" cy="1463040"/>
          </a:xfrm>
          <a:prstGeom prst="roundRect">
            <a:avLst>
              <a:gd name="adj" fmla="val 7500"/>
            </a:avLst>
          </a:prstGeom>
          <a:solidFill>
            <a:srgbClr val="F2F0EB"/>
          </a:solidFill>
          <a:ln/>
          <a:effectLst>
            <a:outerShdw sx="100000" sy="100000" kx="0" ky="0" algn="bl" rotWithShape="0" blurRad="76200" dist="25400" dir="5400000">
              <a:srgbClr val="000000">
                <a:alpha val="12000"/>
              </a:srgbClr>
            </a:outerShdw>
          </a:effectLst>
        </p:spPr>
      </p:sp>
      <p:sp>
        <p:nvSpPr>
          <p:cNvPr id="7" name="Text 4"/>
          <p:cNvSpPr txBox="1"/>
          <p:nvPr/>
        </p:nvSpPr>
        <p:spPr>
          <a:xfrm>
            <a:off x="731520" y="2331720"/>
            <a:ext cx="2011680" cy="365760"/>
          </a:xfrm>
          <a:prstGeom prst="rect">
            <a:avLst/>
          </a:prstGeom>
          <a:noFill/>
          <a:ln/>
        </p:spPr>
        <p:txBody>
          <a:bodyPr wrap="square" lIns="0" tIns="0" rIns="0" bIns="0" rtlCol="0" anchor="t"/>
          <a:lstStyle/>
          <a:p>
            <a:pPr indent="0" marL="0">
              <a:buNone/>
            </a:pPr>
            <a:r>
              <a:rPr lang="en-US" sz="1600" b="1" dirty="0">
                <a:solidFill>
                  <a:schemeClr val="tx1"/>
                </a:solidFill>
              </a:rPr>
              <a:t>전처리</a:t>
            </a:r>
            <a:endParaRPr lang="en-US" sz="1600" dirty="0"/>
          </a:p>
        </p:txBody>
      </p:sp>
      <p:sp>
        <p:nvSpPr>
          <p:cNvPr id="8" name="Text 5"/>
          <p:cNvSpPr txBox="1"/>
          <p:nvPr/>
        </p:nvSpPr>
        <p:spPr>
          <a:xfrm>
            <a:off x="731520" y="2788920"/>
            <a:ext cx="2011680" cy="731520"/>
          </a:xfrm>
          <a:prstGeom prst="rect">
            <a:avLst/>
          </a:prstGeom>
          <a:noFill/>
          <a:ln/>
        </p:spPr>
        <p:txBody>
          <a:bodyPr wrap="square" lIns="0" tIns="0" rIns="0" bIns="0" rtlCol="0" anchor="t"/>
          <a:lstStyle/>
          <a:p>
            <a:pPr indent="0" marL="0">
              <a:buNone/>
            </a:pPr>
            <a:r>
              <a:rPr lang="en-US" sz="1300" dirty="0">
                <a:solidFill>
                  <a:schemeClr val="accent6"/>
                </a:solidFill>
              </a:rPr>
              <a:t>DF 115장</a:t>
            </a:r>
            <a:endParaRPr lang="en-US" sz="1300" dirty="0"/>
          </a:p>
          <a:p>
            <a:pPr indent="0" marL="0">
              <a:buNone/>
            </a:pPr>
            <a:r>
              <a:rPr lang="en-US" sz="1300" dirty="0">
                <a:solidFill>
                  <a:schemeClr val="accent6"/>
                </a:solidFill>
              </a:rPr>
              <a:t>16×16, 0 ~ 1</a:t>
            </a:r>
            <a:endParaRPr lang="en-US" sz="1300" dirty="0"/>
          </a:p>
        </p:txBody>
      </p:sp>
      <p:sp>
        <p:nvSpPr>
          <p:cNvPr id="9" name="Shape 6"/>
          <p:cNvSpPr/>
          <p:nvPr/>
        </p:nvSpPr>
        <p:spPr>
          <a:xfrm>
            <a:off x="2971800" y="2880360"/>
            <a:ext cx="429768" cy="0"/>
          </a:xfrm>
          <a:prstGeom prst="line">
            <a:avLst/>
          </a:prstGeom>
          <a:noFill/>
          <a:ln w="22225">
            <a:solidFill>
              <a:schemeClr val="accent6"/>
            </a:solidFill>
            <a:prstDash val="solid"/>
            <a:tailEnd type="triangle"/>
          </a:ln>
        </p:spPr>
      </p:sp>
      <p:sp>
        <p:nvSpPr>
          <p:cNvPr id="10" name="Shape 7"/>
          <p:cNvSpPr/>
          <p:nvPr/>
        </p:nvSpPr>
        <p:spPr>
          <a:xfrm>
            <a:off x="3447288" y="2148840"/>
            <a:ext cx="2377440" cy="1463040"/>
          </a:xfrm>
          <a:prstGeom prst="roundRect">
            <a:avLst>
              <a:gd name="adj" fmla="val 7500"/>
            </a:avLst>
          </a:prstGeom>
          <a:solidFill>
            <a:srgbClr val="DDF2E6"/>
          </a:solidFill>
          <a:ln w="15875">
            <a:solidFill>
              <a:srgbClr val="00754A"/>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3630168" y="2331720"/>
            <a:ext cx="2011680" cy="365760"/>
          </a:xfrm>
          <a:prstGeom prst="rect">
            <a:avLst/>
          </a:prstGeom>
          <a:noFill/>
          <a:ln/>
        </p:spPr>
        <p:txBody>
          <a:bodyPr wrap="square" lIns="0" tIns="0" rIns="0" bIns="0" rtlCol="0" anchor="t"/>
          <a:lstStyle/>
          <a:p>
            <a:pPr indent="0" marL="0">
              <a:buNone/>
            </a:pPr>
            <a:r>
              <a:rPr lang="en-US" sz="1600" b="1" dirty="0">
                <a:solidFill>
                  <a:schemeClr val="accent1"/>
                </a:solidFill>
              </a:rPr>
              <a:t>QGAN 생성자</a:t>
            </a:r>
            <a:endParaRPr lang="en-US" sz="1600" dirty="0"/>
          </a:p>
        </p:txBody>
      </p:sp>
      <p:sp>
        <p:nvSpPr>
          <p:cNvPr id="12" name="Text 9"/>
          <p:cNvSpPr txBox="1"/>
          <p:nvPr/>
        </p:nvSpPr>
        <p:spPr>
          <a:xfrm>
            <a:off x="3630168" y="2788920"/>
            <a:ext cx="2011680" cy="731520"/>
          </a:xfrm>
          <a:prstGeom prst="rect">
            <a:avLst/>
          </a:prstGeom>
          <a:noFill/>
          <a:ln/>
        </p:spPr>
        <p:txBody>
          <a:bodyPr wrap="square" lIns="0" tIns="0" rIns="0" bIns="0" rtlCol="0" anchor="t"/>
          <a:lstStyle/>
          <a:p>
            <a:pPr indent="0" marL="0">
              <a:buNone/>
            </a:pPr>
            <a:r>
              <a:rPr lang="en-US" sz="1300" dirty="0">
                <a:solidFill>
                  <a:schemeClr val="accent6"/>
                </a:solidFill>
              </a:rPr>
              <a:t>sub-generator 4개</a:t>
            </a:r>
            <a:endParaRPr lang="en-US" sz="1300" dirty="0"/>
          </a:p>
          <a:p>
            <a:pPr indent="0" marL="0">
              <a:buNone/>
            </a:pPr>
            <a:r>
              <a:rPr lang="en-US" sz="1300" dirty="0">
                <a:solidFill>
                  <a:schemeClr val="accent6"/>
                </a:solidFill>
              </a:rPr>
              <a:t>7큐빗 · depth 10</a:t>
            </a:r>
            <a:endParaRPr lang="en-US" sz="1300" dirty="0"/>
          </a:p>
        </p:txBody>
      </p:sp>
      <p:sp>
        <p:nvSpPr>
          <p:cNvPr id="13" name="Shape 10"/>
          <p:cNvSpPr/>
          <p:nvPr/>
        </p:nvSpPr>
        <p:spPr>
          <a:xfrm>
            <a:off x="5870448" y="2880360"/>
            <a:ext cx="429768" cy="0"/>
          </a:xfrm>
          <a:prstGeom prst="line">
            <a:avLst/>
          </a:prstGeom>
          <a:noFill/>
          <a:ln w="22225">
            <a:solidFill>
              <a:schemeClr val="accent6"/>
            </a:solidFill>
            <a:prstDash val="solid"/>
            <a:tailEnd type="triangle"/>
          </a:ln>
        </p:spPr>
      </p:sp>
      <p:sp>
        <p:nvSpPr>
          <p:cNvPr id="14" name="Shape 11"/>
          <p:cNvSpPr/>
          <p:nvPr/>
        </p:nvSpPr>
        <p:spPr>
          <a:xfrm>
            <a:off x="6345936" y="2148840"/>
            <a:ext cx="2377440" cy="1463040"/>
          </a:xfrm>
          <a:prstGeom prst="roundRect">
            <a:avLst>
              <a:gd name="adj" fmla="val 7500"/>
            </a:avLst>
          </a:prstGeom>
          <a:solidFill>
            <a:srgbClr val="F2F0EB"/>
          </a:solidFill>
          <a:ln/>
          <a:effectLst>
            <a:outerShdw sx="100000" sy="100000" kx="0" ky="0" algn="bl" rotWithShape="0" blurRad="76200" dist="25400" dir="5400000">
              <a:srgbClr val="000000">
                <a:alpha val="12000"/>
              </a:srgbClr>
            </a:outerShdw>
          </a:effectLst>
        </p:spPr>
      </p:sp>
      <p:sp>
        <p:nvSpPr>
          <p:cNvPr id="15" name="Text 12"/>
          <p:cNvSpPr txBox="1"/>
          <p:nvPr/>
        </p:nvSpPr>
        <p:spPr>
          <a:xfrm>
            <a:off x="6528816" y="2331720"/>
            <a:ext cx="2011680" cy="365760"/>
          </a:xfrm>
          <a:prstGeom prst="rect">
            <a:avLst/>
          </a:prstGeom>
          <a:noFill/>
          <a:ln/>
        </p:spPr>
        <p:txBody>
          <a:bodyPr wrap="square" lIns="0" tIns="0" rIns="0" bIns="0" rtlCol="0" anchor="t"/>
          <a:lstStyle/>
          <a:p>
            <a:pPr indent="0" marL="0">
              <a:buNone/>
            </a:pPr>
            <a:r>
              <a:rPr lang="en-US" sz="1600" b="1" dirty="0">
                <a:solidFill>
                  <a:schemeClr val="tx1"/>
                </a:solidFill>
              </a:rPr>
              <a:t>학습</a:t>
            </a:r>
            <a:endParaRPr lang="en-US" sz="1600" dirty="0"/>
          </a:p>
        </p:txBody>
      </p:sp>
      <p:sp>
        <p:nvSpPr>
          <p:cNvPr id="16" name="Text 13"/>
          <p:cNvSpPr txBox="1"/>
          <p:nvPr/>
        </p:nvSpPr>
        <p:spPr>
          <a:xfrm>
            <a:off x="6528816" y="2788920"/>
            <a:ext cx="2011680" cy="731520"/>
          </a:xfrm>
          <a:prstGeom prst="rect">
            <a:avLst/>
          </a:prstGeom>
          <a:noFill/>
          <a:ln/>
        </p:spPr>
        <p:txBody>
          <a:bodyPr wrap="square" lIns="0" tIns="0" rIns="0" bIns="0" rtlCol="0" anchor="t"/>
          <a:lstStyle/>
          <a:p>
            <a:pPr indent="0" marL="0">
              <a:buNone/>
            </a:pPr>
            <a:r>
              <a:rPr lang="en-US" sz="1300" dirty="0">
                <a:solidFill>
                  <a:schemeClr val="accent6"/>
                </a:solidFill>
              </a:rPr>
              <a:t>판별자 Table 4</a:t>
            </a:r>
            <a:endParaRPr lang="en-US" sz="1300" dirty="0"/>
          </a:p>
          <a:p>
            <a:pPr indent="0" marL="0">
              <a:buNone/>
            </a:pPr>
            <a:r>
              <a:rPr lang="en-US" sz="1300" dirty="0">
                <a:solidFill>
                  <a:schemeClr val="accent6"/>
                </a:solidFill>
              </a:rPr>
              <a:t>400 / 600 step</a:t>
            </a:r>
            <a:endParaRPr lang="en-US" sz="1300" dirty="0"/>
          </a:p>
        </p:txBody>
      </p:sp>
      <p:sp>
        <p:nvSpPr>
          <p:cNvPr id="17" name="Shape 14"/>
          <p:cNvSpPr/>
          <p:nvPr/>
        </p:nvSpPr>
        <p:spPr>
          <a:xfrm>
            <a:off x="8769096" y="2880360"/>
            <a:ext cx="429768" cy="0"/>
          </a:xfrm>
          <a:prstGeom prst="line">
            <a:avLst/>
          </a:prstGeom>
          <a:noFill/>
          <a:ln w="22225">
            <a:solidFill>
              <a:schemeClr val="accent6"/>
            </a:solidFill>
            <a:prstDash val="solid"/>
            <a:tailEnd type="triangle"/>
          </a:ln>
        </p:spPr>
      </p:sp>
      <p:sp>
        <p:nvSpPr>
          <p:cNvPr id="18" name="Shape 15"/>
          <p:cNvSpPr/>
          <p:nvPr/>
        </p:nvSpPr>
        <p:spPr>
          <a:xfrm>
            <a:off x="9244584" y="2148840"/>
            <a:ext cx="2377440" cy="1463040"/>
          </a:xfrm>
          <a:prstGeom prst="roundRect">
            <a:avLst>
              <a:gd name="adj" fmla="val 7500"/>
            </a:avLst>
          </a:prstGeom>
          <a:solidFill>
            <a:srgbClr val="F2F0EB"/>
          </a:solidFill>
          <a:ln/>
          <a:effectLst>
            <a:outerShdw sx="100000" sy="100000" kx="0" ky="0" algn="bl" rotWithShape="0" blurRad="76200" dist="25400" dir="5400000">
              <a:srgbClr val="000000">
                <a:alpha val="12000"/>
              </a:srgbClr>
            </a:outerShdw>
          </a:effectLst>
        </p:spPr>
      </p:sp>
      <p:sp>
        <p:nvSpPr>
          <p:cNvPr id="19" name="Text 16"/>
          <p:cNvSpPr txBox="1"/>
          <p:nvPr/>
        </p:nvSpPr>
        <p:spPr>
          <a:xfrm>
            <a:off x="9427464" y="2331720"/>
            <a:ext cx="2011680" cy="365760"/>
          </a:xfrm>
          <a:prstGeom prst="rect">
            <a:avLst/>
          </a:prstGeom>
          <a:noFill/>
          <a:ln/>
        </p:spPr>
        <p:txBody>
          <a:bodyPr wrap="square" lIns="0" tIns="0" rIns="0" bIns="0" rtlCol="0" anchor="t"/>
          <a:lstStyle/>
          <a:p>
            <a:pPr indent="0" marL="0">
              <a:buNone/>
            </a:pPr>
            <a:r>
              <a:rPr lang="en-US" sz="1600" b="1" dirty="0">
                <a:solidFill>
                  <a:schemeClr val="tx1"/>
                </a:solidFill>
              </a:rPr>
              <a:t>지표 4종</a:t>
            </a:r>
            <a:endParaRPr lang="en-US" sz="1600" dirty="0"/>
          </a:p>
        </p:txBody>
      </p:sp>
      <p:sp>
        <p:nvSpPr>
          <p:cNvPr id="20" name="Text 17"/>
          <p:cNvSpPr txBox="1"/>
          <p:nvPr/>
        </p:nvSpPr>
        <p:spPr>
          <a:xfrm>
            <a:off x="9427464" y="2788920"/>
            <a:ext cx="2011680" cy="731520"/>
          </a:xfrm>
          <a:prstGeom prst="rect">
            <a:avLst/>
          </a:prstGeom>
          <a:noFill/>
          <a:ln/>
        </p:spPr>
        <p:txBody>
          <a:bodyPr wrap="square" lIns="0" tIns="0" rIns="0" bIns="0" rtlCol="0" anchor="t"/>
          <a:lstStyle/>
          <a:p>
            <a:pPr indent="0" marL="0">
              <a:buNone/>
            </a:pPr>
            <a:r>
              <a:rPr lang="en-US" sz="1300" dirty="0">
                <a:solidFill>
                  <a:schemeClr val="accent6"/>
                </a:solidFill>
              </a:rPr>
              <a:t>상관 · 최근접</a:t>
            </a:r>
            <a:endParaRPr lang="en-US" sz="1300" dirty="0"/>
          </a:p>
          <a:p>
            <a:pPr indent="0" marL="0">
              <a:buNone/>
            </a:pPr>
            <a:r>
              <a:rPr lang="en-US" sz="1300" dirty="0">
                <a:solidFill>
                  <a:schemeClr val="accent6"/>
                </a:solidFill>
              </a:rPr>
              <a:t>다양성 · 분포</a:t>
            </a:r>
            <a:endParaRPr lang="en-US" sz="1300" dirty="0"/>
          </a:p>
        </p:txBody>
      </p:sp>
      <p:sp>
        <p:nvSpPr>
          <p:cNvPr id="21" name="Shape 18"/>
          <p:cNvSpPr/>
          <p:nvPr/>
        </p:nvSpPr>
        <p:spPr>
          <a:xfrm>
            <a:off x="548640" y="3931920"/>
            <a:ext cx="11064240" cy="2103120"/>
          </a:xfrm>
          <a:prstGeom prst="roundRect">
            <a:avLst>
              <a:gd name="adj" fmla="val 5217"/>
            </a:avLst>
          </a:prstGeom>
          <a:solidFill>
            <a:srgbClr val="F2F0EB"/>
          </a:solidFill>
          <a:ln/>
        </p:spPr>
      </p:sp>
      <p:sp>
        <p:nvSpPr>
          <p:cNvPr id="22" name="Text 19"/>
          <p:cNvSpPr txBox="1"/>
          <p:nvPr/>
        </p:nvSpPr>
        <p:spPr>
          <a:xfrm>
            <a:off x="777240" y="4069080"/>
            <a:ext cx="10607040" cy="365760"/>
          </a:xfrm>
          <a:prstGeom prst="rect">
            <a:avLst/>
          </a:prstGeom>
          <a:noFill/>
          <a:ln/>
        </p:spPr>
        <p:txBody>
          <a:bodyPr wrap="square" lIns="0" tIns="0" rIns="0" bIns="0" rtlCol="0" anchor="t"/>
          <a:lstStyle/>
          <a:p>
            <a:pPr indent="0" marL="0">
              <a:buNone/>
            </a:pPr>
            <a:r>
              <a:rPr lang="en-US" sz="1500" b="1" dirty="0">
                <a:solidFill>
                  <a:schemeClr val="accent1"/>
                </a:solidFill>
              </a:rPr>
              <a:t>오늘 바뀌는 것과 그대로인 것</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4526280"/>
          <a:ext cx="10607040" cy="914400"/>
        </p:xfrm>
        <a:graphic>
          <a:graphicData uri="http://schemas.openxmlformats.org/drawingml/2006/table">
            <a:tbl>
              <a:tblPr/>
              <a:tblGrid>
                <a:gridCol w="2377440"/>
                <a:gridCol w="4114800"/>
                <a:gridCol w="4114800"/>
              </a:tblGrid>
              <a:tr h="411480">
                <a:tc>
                  <a:txBody>
                    <a:bodyPr/>
                    <a:lstStyle/>
                    <a:p>
                      <a:pPr indent="0" marL="0">
                        <a:buNone/>
                      </a:pP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2일차</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3일차</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생성자</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QGAN - 생성자 전체가 양자회로</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MediQ-GAN - 고전 stream + 양자 stream</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데이터 · 판별자 · 지표</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DF 115장 · Table 4 · 지표 4종</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동일</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0 · 노트북 §2 코드</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checkpoint 불러오기</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config로 같은 구조를 먼저 만들고, 학습된 가중치를 덮어씀</a:t>
            </a:r>
            <a:endParaRPr lang="en-US" sz="1400" dirty="0"/>
          </a:p>
        </p:txBody>
      </p:sp>
      <p:sp>
        <p:nvSpPr>
          <p:cNvPr id="6" name="Shape 3"/>
          <p:cNvSpPr/>
          <p:nvPr/>
        </p:nvSpPr>
        <p:spPr>
          <a:xfrm>
            <a:off x="548640" y="2011680"/>
            <a:ext cx="6309360" cy="3566160"/>
          </a:xfrm>
          <a:prstGeom prst="roundRect">
            <a:avLst>
              <a:gd name="adj" fmla="val 2564"/>
            </a:avLst>
          </a:prstGeom>
          <a:solidFill>
            <a:schemeClr val="tx2"/>
          </a:solidFill>
          <a:ln/>
        </p:spPr>
      </p:sp>
      <p:sp>
        <p:nvSpPr>
          <p:cNvPr id="7" name="Text 4"/>
          <p:cNvSpPr txBox="1"/>
          <p:nvPr/>
        </p:nvSpPr>
        <p:spPr>
          <a:xfrm>
            <a:off x="777240" y="2194560"/>
            <a:ext cx="5852160" cy="3200400"/>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ckpt_path = f"{ASSET_DIR}/qgan_df_{IMG_SIZE}px.pt"</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checkpoint = torch.load(ckpt_path, map_location="cpu")</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cfg = checkpoint["config"]</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gen = PatchQuantumGenerator(</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n_generators=cfg["n_generators"],</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n_data_qubits=cfg["n_data_qubits"],</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n_ancillas=cfg["n_ancillas"], q_depth=cfg["q_depth"])</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gen.load_state_dict(checkpoint["generator_state_dict"])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gen.eval()</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132320" y="2011680"/>
          <a:ext cx="4480560" cy="914400"/>
        </p:xfrm>
        <a:graphic>
          <a:graphicData uri="http://schemas.openxmlformats.org/drawingml/2006/table">
            <a:tbl>
              <a:tblPr/>
              <a:tblGrid>
                <a:gridCol w="2194560"/>
                <a:gridCol w="2286000"/>
              </a:tblGrid>
              <a:tr h="457200">
                <a:tc>
                  <a:txBody>
                    <a:bodyPr/>
                    <a:lstStyle/>
                    <a:p>
                      <a:pPr indent="0" marL="0">
                        <a:buNone/>
                      </a:pPr>
                      <a:r>
                        <a:rPr lang="en-US" sz="1200" b="1" dirty="0">
                          <a:solidFill>
                            <a:schemeClr val="bg1"/>
                          </a:solidFill>
                        </a:rPr>
                        <a:t>checkpoint 키</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내용</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generator_state_dict</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생성자 가중치 (회전각 등)</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discriminator_state_dict</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판별자 가중치 (MediQ-GAN만)</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config</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모델 재구성에 필요한 설정</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history</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step별 loss_g · loss_d</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epoch</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학습한 epoch 수 (MediQ-GAN)</a:t>
                      </a:r>
                      <a:endParaRPr lang="en-US" sz="12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bl>
          </a:graphicData>
        </a:graphic>
      </p:graphicFrame>
      <p:sp>
        <p:nvSpPr>
          <p:cNvPr id="9" name="Shape 5"/>
          <p:cNvSpPr/>
          <p:nvPr/>
        </p:nvSpPr>
        <p:spPr>
          <a:xfrm>
            <a:off x="7132320" y="4937760"/>
            <a:ext cx="4480560" cy="1097280"/>
          </a:xfrm>
          <a:prstGeom prst="roundRect">
            <a:avLst>
              <a:gd name="adj" fmla="val 10000"/>
            </a:avLst>
          </a:prstGeom>
          <a:solidFill>
            <a:srgbClr val="FAF6EE"/>
          </a:solidFill>
          <a:ln/>
        </p:spPr>
      </p:sp>
      <p:sp>
        <p:nvSpPr>
          <p:cNvPr id="10" name="Text 6"/>
          <p:cNvSpPr txBox="1"/>
          <p:nvPr/>
        </p:nvSpPr>
        <p:spPr>
          <a:xfrm>
            <a:off x="7315200" y="4937760"/>
            <a:ext cx="4114800" cy="1097280"/>
          </a:xfrm>
          <a:prstGeom prst="rect">
            <a:avLst/>
          </a:prstGeom>
          <a:noFill/>
          <a:ln/>
        </p:spPr>
        <p:txBody>
          <a:bodyPr wrap="square" lIns="0" tIns="0" rIns="0" bIns="0" rtlCol="0" anchor="ctr"/>
          <a:lstStyle/>
          <a:p>
            <a:pPr indent="0" marL="0">
              <a:buNone/>
            </a:pPr>
            <a:r>
              <a:rPr lang="en-US" sz="1300" b="1" dirty="0">
                <a:solidFill>
                  <a:schemeClr val="accent4"/>
                </a:solidFill>
              </a:rPr>
              <a:t>QGAN config  </a:t>
            </a:r>
            <a:pPr indent="0" marL="0">
              <a:buNone/>
            </a:pPr>
            <a:r>
              <a:rPr lang="en-US" sz="1300" dirty="0">
                <a:solidFill>
                  <a:schemeClr val="tx1"/>
                </a:solidFill>
              </a:rPr>
              <a:t>sub-generator 4 · 데이터 6 + ancilla 1 · depth 10 · 600 step</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0 · 노트북 §2</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QGAN 기준선</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강사 checkpoint(600 step)를 지표 4종으로 평가한 값 - 뒤에서 MediQ-GAN과 나란히 놓음</a:t>
            </a:r>
            <a:endParaRPr lang="en-US" sz="1400" dirty="0"/>
          </a:p>
        </p:txBody>
      </p:sp>
      <p:sp>
        <p:nvSpPr>
          <p:cNvPr id="6" name="Shape 3"/>
          <p:cNvSpPr/>
          <p:nvPr/>
        </p:nvSpPr>
        <p:spPr>
          <a:xfrm>
            <a:off x="548640" y="2103120"/>
            <a:ext cx="3520440" cy="1828800"/>
          </a:xfrm>
          <a:prstGeom prst="roundRect">
            <a:avLst>
              <a:gd name="adj" fmla="val 6000"/>
            </a:avLst>
          </a:prstGeom>
          <a:solidFill>
            <a:srgbClr val="DDF2E6"/>
          </a:solidFill>
          <a:ln w="15875">
            <a:solidFill>
              <a:srgbClr val="00754A"/>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777240" y="2194560"/>
            <a:ext cx="3108960" cy="914400"/>
          </a:xfrm>
          <a:prstGeom prst="rect">
            <a:avLst/>
          </a:prstGeom>
          <a:noFill/>
          <a:ln/>
        </p:spPr>
        <p:txBody>
          <a:bodyPr wrap="square" lIns="0" tIns="0" rIns="0" bIns="0" rtlCol="0" anchor="t"/>
          <a:lstStyle/>
          <a:p>
            <a:pPr indent="0" marL="0">
              <a:buNone/>
            </a:pPr>
            <a:r>
              <a:rPr lang="en-US" sz="4800" b="1" dirty="0">
                <a:solidFill>
                  <a:schemeClr val="accent1"/>
                </a:solidFill>
              </a:rPr>
              <a:t>0.195</a:t>
            </a:r>
            <a:endParaRPr lang="en-US" sz="4800" dirty="0"/>
          </a:p>
        </p:txBody>
      </p:sp>
      <p:sp>
        <p:nvSpPr>
          <p:cNvPr id="8" name="Text 5"/>
          <p:cNvSpPr txBox="1"/>
          <p:nvPr/>
        </p:nvSpPr>
        <p:spPr>
          <a:xfrm>
            <a:off x="777240" y="3154680"/>
            <a:ext cx="3108960" cy="320040"/>
          </a:xfrm>
          <a:prstGeom prst="rect">
            <a:avLst/>
          </a:prstGeom>
          <a:noFill/>
          <a:ln/>
        </p:spPr>
        <p:txBody>
          <a:bodyPr wrap="square" lIns="0" tIns="0" rIns="0" bIns="0" rtlCol="0" anchor="t"/>
          <a:lstStyle/>
          <a:p>
            <a:pPr indent="0" marL="0">
              <a:buNone/>
            </a:pPr>
            <a:r>
              <a:rPr lang="en-US" sz="1400" b="1" dirty="0">
                <a:solidFill>
                  <a:schemeClr val="tx1"/>
                </a:solidFill>
              </a:rPr>
              <a:t>② 클래스 평균 상관</a:t>
            </a:r>
            <a:endParaRPr lang="en-US" sz="1400" dirty="0"/>
          </a:p>
        </p:txBody>
      </p:sp>
      <p:sp>
        <p:nvSpPr>
          <p:cNvPr id="9" name="Text 6"/>
          <p:cNvSpPr txBox="1"/>
          <p:nvPr/>
        </p:nvSpPr>
        <p:spPr>
          <a:xfrm>
            <a:off x="777240" y="3520440"/>
            <a:ext cx="3108960" cy="320040"/>
          </a:xfrm>
          <a:prstGeom prst="rect">
            <a:avLst/>
          </a:prstGeom>
          <a:noFill/>
          <a:ln/>
        </p:spPr>
        <p:txBody>
          <a:bodyPr wrap="square" lIns="0" tIns="0" rIns="0" bIns="0" rtlCol="0" anchor="t"/>
          <a:lstStyle/>
          <a:p>
            <a:pPr indent="0" marL="0">
              <a:buNone/>
            </a:pPr>
            <a:r>
              <a:rPr lang="en-US" sz="1200" dirty="0">
                <a:solidFill>
                  <a:schemeClr val="accent6"/>
                </a:solidFill>
              </a:rPr>
              <a:t>± 0.012 (64장 × 10시드)</a:t>
            </a:r>
            <a:endParaRPr lang="en-US" sz="1200" dirty="0"/>
          </a:p>
        </p:txBody>
      </p:sp>
      <p:sp>
        <p:nvSpPr>
          <p:cNvPr id="10" name="Shape 7"/>
          <p:cNvSpPr/>
          <p:nvPr/>
        </p:nvSpPr>
        <p:spPr>
          <a:xfrm>
            <a:off x="4297680" y="2103120"/>
            <a:ext cx="3520440" cy="1828800"/>
          </a:xfrm>
          <a:prstGeom prst="roundRect">
            <a:avLst>
              <a:gd name="adj" fmla="val 6000"/>
            </a:avLst>
          </a:prstGeom>
          <a:solidFill>
            <a:srgbClr val="F2F0EB"/>
          </a:solidFill>
          <a:ln/>
          <a:effectLst>
            <a:outerShdw sx="100000" sy="100000" kx="0" ky="0" algn="bl" rotWithShape="0" blurRad="76200" dist="25400" dir="5400000">
              <a:srgbClr val="000000">
                <a:alpha val="12000"/>
              </a:srgbClr>
            </a:outerShdw>
          </a:effectLst>
        </p:spPr>
      </p:sp>
      <p:sp>
        <p:nvSpPr>
          <p:cNvPr id="11" name="Text 8"/>
          <p:cNvSpPr txBox="1"/>
          <p:nvPr/>
        </p:nvSpPr>
        <p:spPr>
          <a:xfrm>
            <a:off x="4526280" y="2194560"/>
            <a:ext cx="3108960" cy="914400"/>
          </a:xfrm>
          <a:prstGeom prst="rect">
            <a:avLst/>
          </a:prstGeom>
          <a:noFill/>
          <a:ln/>
        </p:spPr>
        <p:txBody>
          <a:bodyPr wrap="square" lIns="0" tIns="0" rIns="0" bIns="0" rtlCol="0" anchor="t"/>
          <a:lstStyle/>
          <a:p>
            <a:pPr indent="0" marL="0">
              <a:buNone/>
            </a:pPr>
            <a:r>
              <a:rPr lang="en-US" sz="4800" b="1" dirty="0">
                <a:solidFill>
                  <a:schemeClr val="tx1"/>
                </a:solidFill>
              </a:rPr>
              <a:t>1.64</a:t>
            </a:r>
            <a:endParaRPr lang="en-US" sz="4800" dirty="0"/>
          </a:p>
        </p:txBody>
      </p:sp>
      <p:sp>
        <p:nvSpPr>
          <p:cNvPr id="12" name="Text 9"/>
          <p:cNvSpPr txBox="1"/>
          <p:nvPr/>
        </p:nvSpPr>
        <p:spPr>
          <a:xfrm>
            <a:off x="4526280" y="3154680"/>
            <a:ext cx="3108960" cy="320040"/>
          </a:xfrm>
          <a:prstGeom prst="rect">
            <a:avLst/>
          </a:prstGeom>
          <a:noFill/>
          <a:ln/>
        </p:spPr>
        <p:txBody>
          <a:bodyPr wrap="square" lIns="0" tIns="0" rIns="0" bIns="0" rtlCol="0" anchor="t"/>
          <a:lstStyle/>
          <a:p>
            <a:pPr indent="0" marL="0">
              <a:buNone/>
            </a:pPr>
            <a:r>
              <a:rPr lang="en-US" sz="1400" b="1" dirty="0">
                <a:solidFill>
                  <a:schemeClr val="tx1"/>
                </a:solidFill>
              </a:rPr>
              <a:t>③ 최근접 실제 거리</a:t>
            </a:r>
            <a:endParaRPr lang="en-US" sz="1400" dirty="0"/>
          </a:p>
        </p:txBody>
      </p:sp>
      <p:sp>
        <p:nvSpPr>
          <p:cNvPr id="13" name="Text 10"/>
          <p:cNvSpPr txBox="1"/>
          <p:nvPr/>
        </p:nvSpPr>
        <p:spPr>
          <a:xfrm>
            <a:off x="4526280" y="3520440"/>
            <a:ext cx="3108960" cy="320040"/>
          </a:xfrm>
          <a:prstGeom prst="rect">
            <a:avLst/>
          </a:prstGeom>
          <a:noFill/>
          <a:ln/>
        </p:spPr>
        <p:txBody>
          <a:bodyPr wrap="square" lIns="0" tIns="0" rIns="0" bIns="0" rtlCol="0" anchor="t"/>
          <a:lstStyle/>
          <a:p>
            <a:pPr indent="0" marL="0">
              <a:buNone/>
            </a:pPr>
            <a:r>
              <a:rPr lang="en-US" sz="1200" dirty="0">
                <a:solidFill>
                  <a:schemeClr val="accent6"/>
                </a:solidFill>
              </a:rPr>
              <a:t>0에 가깝지 않음 - 암기 아님</a:t>
            </a:r>
            <a:endParaRPr lang="en-US" sz="1200" dirty="0"/>
          </a:p>
        </p:txBody>
      </p:sp>
      <p:sp>
        <p:nvSpPr>
          <p:cNvPr id="14" name="Shape 11"/>
          <p:cNvSpPr/>
          <p:nvPr/>
        </p:nvSpPr>
        <p:spPr>
          <a:xfrm>
            <a:off x="8046720" y="2103120"/>
            <a:ext cx="3520440" cy="1828800"/>
          </a:xfrm>
          <a:prstGeom prst="roundRect">
            <a:avLst>
              <a:gd name="adj" fmla="val 6000"/>
            </a:avLst>
          </a:prstGeom>
          <a:solidFill>
            <a:srgbClr val="F2F0EB"/>
          </a:solidFill>
          <a:ln/>
          <a:effectLst>
            <a:outerShdw sx="100000" sy="100000" kx="0" ky="0" algn="bl" rotWithShape="0" blurRad="76200" dist="25400" dir="5400000">
              <a:srgbClr val="000000">
                <a:alpha val="12000"/>
              </a:srgbClr>
            </a:outerShdw>
          </a:effectLst>
        </p:spPr>
      </p:sp>
      <p:sp>
        <p:nvSpPr>
          <p:cNvPr id="15" name="Text 12"/>
          <p:cNvSpPr txBox="1"/>
          <p:nvPr/>
        </p:nvSpPr>
        <p:spPr>
          <a:xfrm>
            <a:off x="8275320" y="2194560"/>
            <a:ext cx="3108960" cy="914400"/>
          </a:xfrm>
          <a:prstGeom prst="rect">
            <a:avLst/>
          </a:prstGeom>
          <a:noFill/>
          <a:ln/>
        </p:spPr>
        <p:txBody>
          <a:bodyPr wrap="square" lIns="0" tIns="0" rIns="0" bIns="0" rtlCol="0" anchor="t"/>
          <a:lstStyle/>
          <a:p>
            <a:pPr indent="0" marL="0">
              <a:buNone/>
            </a:pPr>
            <a:r>
              <a:rPr lang="en-US" sz="4800" b="1" dirty="0">
                <a:solidFill>
                  <a:schemeClr val="tx1"/>
                </a:solidFill>
              </a:rPr>
              <a:t>1.92</a:t>
            </a:r>
            <a:endParaRPr lang="en-US" sz="4800" dirty="0"/>
          </a:p>
        </p:txBody>
      </p:sp>
      <p:sp>
        <p:nvSpPr>
          <p:cNvPr id="16" name="Text 13"/>
          <p:cNvSpPr txBox="1"/>
          <p:nvPr/>
        </p:nvSpPr>
        <p:spPr>
          <a:xfrm>
            <a:off x="8275320" y="3154680"/>
            <a:ext cx="3108960" cy="320040"/>
          </a:xfrm>
          <a:prstGeom prst="rect">
            <a:avLst/>
          </a:prstGeom>
          <a:noFill/>
          <a:ln/>
        </p:spPr>
        <p:txBody>
          <a:bodyPr wrap="square" lIns="0" tIns="0" rIns="0" bIns="0" rtlCol="0" anchor="t"/>
          <a:lstStyle/>
          <a:p>
            <a:pPr indent="0" marL="0">
              <a:buNone/>
            </a:pPr>
            <a:r>
              <a:rPr lang="en-US" sz="1400" b="1" dirty="0">
                <a:solidFill>
                  <a:schemeClr val="tx1"/>
                </a:solidFill>
              </a:rPr>
              <a:t>④ 샘플 간 거리</a:t>
            </a:r>
            <a:endParaRPr lang="en-US" sz="1400" dirty="0"/>
          </a:p>
        </p:txBody>
      </p:sp>
      <p:sp>
        <p:nvSpPr>
          <p:cNvPr id="17" name="Text 14"/>
          <p:cNvSpPr txBox="1"/>
          <p:nvPr/>
        </p:nvSpPr>
        <p:spPr>
          <a:xfrm>
            <a:off x="8275320" y="3520440"/>
            <a:ext cx="3108960" cy="320040"/>
          </a:xfrm>
          <a:prstGeom prst="rect">
            <a:avLst/>
          </a:prstGeom>
          <a:noFill/>
          <a:ln/>
        </p:spPr>
        <p:txBody>
          <a:bodyPr wrap="square" lIns="0" tIns="0" rIns="0" bIns="0" rtlCol="0" anchor="t"/>
          <a:lstStyle/>
          <a:p>
            <a:pPr indent="0" marL="0">
              <a:buNone/>
            </a:pPr>
            <a:r>
              <a:rPr lang="en-US" sz="1200" dirty="0">
                <a:solidFill>
                  <a:schemeClr val="accent6"/>
                </a:solidFill>
              </a:rPr>
              <a:t>실제 DF 2.505의 약 77%</a:t>
            </a:r>
            <a:endParaRPr lang="en-US" sz="1200" dirty="0"/>
          </a:p>
        </p:txBody>
      </p:sp>
      <p:sp>
        <p:nvSpPr>
          <p:cNvPr id="18" name="Shape 15"/>
          <p:cNvSpPr/>
          <p:nvPr/>
        </p:nvSpPr>
        <p:spPr>
          <a:xfrm>
            <a:off x="548640" y="4251960"/>
            <a:ext cx="6949440" cy="1188720"/>
          </a:xfrm>
          <a:prstGeom prst="roundRect">
            <a:avLst>
              <a:gd name="adj" fmla="val 7692"/>
            </a:avLst>
          </a:prstGeom>
          <a:solidFill>
            <a:schemeClr val="tx2"/>
          </a:solidFill>
          <a:ln/>
        </p:spPr>
      </p:sp>
      <p:sp>
        <p:nvSpPr>
          <p:cNvPr id="19" name="Text 16"/>
          <p:cNvSpPr txBox="1"/>
          <p:nvPr/>
        </p:nvSpPr>
        <p:spPr>
          <a:xfrm>
            <a:off x="777240" y="4434840"/>
            <a:ext cx="6492240" cy="822960"/>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with torch.no_grad():</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qgan_fake = gen(batch_size=64).numpy().reshape(64, 16, 16)</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qgan_scores = gm.evaluate(qgan_fake, df_imgs, "prob")</a:t>
            </a:r>
            <a:endParaRPr lang="en-US" sz="1200" dirty="0"/>
          </a:p>
        </p:txBody>
      </p:sp>
      <p:sp>
        <p:nvSpPr>
          <p:cNvPr id="20" name="Shape 17"/>
          <p:cNvSpPr/>
          <p:nvPr/>
        </p:nvSpPr>
        <p:spPr>
          <a:xfrm>
            <a:off x="7772400" y="4251960"/>
            <a:ext cx="3840480" cy="1188720"/>
          </a:xfrm>
          <a:prstGeom prst="roundRect">
            <a:avLst>
              <a:gd name="adj" fmla="val 9231"/>
            </a:avLst>
          </a:prstGeom>
          <a:solidFill>
            <a:srgbClr val="FAF6EE"/>
          </a:solidFill>
          <a:ln/>
        </p:spPr>
      </p:sp>
      <p:sp>
        <p:nvSpPr>
          <p:cNvPr id="21" name="Text 18"/>
          <p:cNvSpPr txBox="1"/>
          <p:nvPr/>
        </p:nvSpPr>
        <p:spPr>
          <a:xfrm>
            <a:off x="7955280" y="4343400"/>
            <a:ext cx="3474720" cy="1005840"/>
          </a:xfrm>
          <a:prstGeom prst="rect">
            <a:avLst/>
          </a:prstGeom>
          <a:noFill/>
          <a:ln/>
        </p:spPr>
        <p:txBody>
          <a:bodyPr wrap="square" lIns="0" tIns="0" rIns="0" bIns="0" rtlCol="0" anchor="t"/>
          <a:lstStyle/>
          <a:p>
            <a:pPr indent="0" marL="0">
              <a:buNone/>
            </a:pPr>
            <a:r>
              <a:rPr lang="en-US" sz="1300" b="1" dirty="0">
                <a:solidFill>
                  <a:schemeClr val="accent4"/>
                </a:solidFill>
              </a:rPr>
              <a:t>읽는 법  </a:t>
            </a:r>
            <a:pPr indent="0" marL="0">
              <a:buNone/>
            </a:pPr>
            <a:r>
              <a:rPr lang="en-US" sz="1300" dirty="0">
                <a:solidFill>
                  <a:schemeClr val="tx1"/>
                </a:solidFill>
              </a:rPr>
              <a:t>생성 호출마다 새 난수를 쓰므로 실행할 때마다 값이 조금씩 달라짐. 소수점보다 모델 간 격차를 봄</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p>
            <a:pPr indent="0" marL="0">
              <a:buNone/>
            </a:pPr>
            <a:r>
              <a:rPr lang="en-US" sz="1200" b="1" spc="100" kern="0" dirty="0">
                <a:solidFill>
                  <a:schemeClr val="accent3"/>
                </a:solidFill>
              </a:rPr>
              <a:t>PART 1 · 노트북 §3 직전</a:t>
            </a: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p>
            <a:pPr algn="l" indent="0" marL="0">
              <a:buNone/>
            </a:pPr>
            <a:r>
              <a:rPr lang="en-US" sz="3600" b="1" dirty="0">
                <a:solidFill>
                  <a:schemeClr val="bg1"/>
                </a:solidFill>
              </a:rPr>
              <a:t>MediQ-GAN 구조</a:t>
            </a: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p>
            <a:pPr indent="0" marL="0">
              <a:buNone/>
            </a:pPr>
            <a:r>
              <a:rPr lang="en-US" sz="1500" dirty="0">
                <a:solidFill>
                  <a:schemeClr val="bg2"/>
                </a:solidFill>
              </a:rPr>
              <a:t>생성자 안에서 고전 stream과 양자 stream이 병렬로 돌고 하나로 합쳐짐</a:t>
            </a:r>
            <a:endParaRPr lang="en-US" sz="1500" dirty="0"/>
          </a:p>
        </p:txBody>
      </p:sp>
      <p:sp>
        <p:nvSpPr>
          <p:cNvPr id="6" name="Text 3"/>
          <p:cNvSpPr txBox="1"/>
          <p:nvPr/>
        </p:nvSpPr>
        <p:spPr>
          <a:xfrm>
            <a:off x="822960" y="297180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이 파트의 코드</a:t>
            </a:r>
            <a:endParaRPr lang="en-US" sz="1400" dirty="0"/>
          </a:p>
        </p:txBody>
      </p:sp>
      <p:sp>
        <p:nvSpPr>
          <p:cNvPr id="7" name="Text 4"/>
          <p:cNvSpPr txBox="1"/>
          <p:nvPr/>
        </p:nvSpPr>
        <p:spPr>
          <a:xfrm>
            <a:off x="3291840" y="2971800"/>
            <a:ext cx="8046720" cy="548640"/>
          </a:xfrm>
          <a:prstGeom prst="rect">
            <a:avLst/>
          </a:prstGeom>
          <a:noFill/>
          <a:ln/>
        </p:spPr>
        <p:txBody>
          <a:bodyPr wrap="square" lIns="0" tIns="0" rIns="0" bIns="0" rtlCol="0" anchor="t"/>
          <a:lstStyle/>
          <a:p>
            <a:pPr indent="0" marL="0">
              <a:buNone/>
            </a:pPr>
            <a:r>
              <a:rPr lang="en-US" sz="1500" dirty="0">
                <a:solidFill>
                  <a:schemeClr val="bg1"/>
                </a:solidFill>
              </a:rPr>
              <a:t>ToyDualStreamGenerator · q_circuit · quantum_stream · forward</a:t>
            </a:r>
            <a:endParaRPr lang="en-US" sz="1500" dirty="0"/>
          </a:p>
        </p:txBody>
      </p:sp>
      <p:sp>
        <p:nvSpPr>
          <p:cNvPr id="8" name="Text 5"/>
          <p:cNvSpPr txBox="1"/>
          <p:nvPr/>
        </p:nvSpPr>
        <p:spPr>
          <a:xfrm>
            <a:off x="822960" y="384048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핵심 질문</a:t>
            </a:r>
            <a:endParaRPr lang="en-US" sz="1400" dirty="0"/>
          </a:p>
        </p:txBody>
      </p:sp>
      <p:sp>
        <p:nvSpPr>
          <p:cNvPr id="9" name="Text 6"/>
          <p:cNvSpPr txBox="1"/>
          <p:nvPr/>
        </p:nvSpPr>
        <p:spPr>
          <a:xfrm>
            <a:off x="3291840" y="3840480"/>
            <a:ext cx="8046720" cy="548640"/>
          </a:xfrm>
          <a:prstGeom prst="rect">
            <a:avLst/>
          </a:prstGeom>
          <a:noFill/>
          <a:ln/>
        </p:spPr>
        <p:txBody>
          <a:bodyPr wrap="square" lIns="0" tIns="0" rIns="0" bIns="0" rtlCol="0" anchor="t"/>
          <a:lstStyle/>
          <a:p>
            <a:pPr indent="0" marL="0">
              <a:buNone/>
            </a:pPr>
            <a:r>
              <a:rPr lang="en-US" sz="1500" dirty="0">
                <a:solidFill>
                  <a:schemeClr val="bg1"/>
                </a:solidFill>
              </a:rPr>
              <a:t>'어디까지가 양자인가' / 입력이 어떻게 나뉘고 합쳐지는가 / 양자 부분은 전체의 몇 %인가</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1일차 복습</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hybrid 수준 - 어디까지가 양자인가</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QGAN은 생성자 전체가 양자회로, MediQ-GAN은 생성자 내부의 한 갈래만 양자회로</a:t>
            </a:r>
            <a:endParaRPr lang="en-US" sz="1400" dirty="0"/>
          </a:p>
        </p:txBody>
      </p:sp>
      <p:sp>
        <p:nvSpPr>
          <p:cNvPr id="6" name="Shape 3"/>
          <p:cNvSpPr/>
          <p:nvPr/>
        </p:nvSpPr>
        <p:spPr>
          <a:xfrm>
            <a:off x="548640" y="2103120"/>
            <a:ext cx="5394960" cy="3931920"/>
          </a:xfrm>
          <a:prstGeom prst="roundRect">
            <a:avLst>
              <a:gd name="adj" fmla="val 2791"/>
            </a:avLst>
          </a:prstGeom>
          <a:solidFill>
            <a:srgbClr val="DDF2E6"/>
          </a:solidFill>
          <a:ln w="15875">
            <a:solidFill>
              <a:srgbClr val="00754A"/>
            </a:solidFill>
            <a:prstDash val="solid"/>
          </a:ln>
        </p:spPr>
      </p:sp>
      <p:sp>
        <p:nvSpPr>
          <p:cNvPr id="7" name="Text 4"/>
          <p:cNvSpPr txBox="1"/>
          <p:nvPr/>
        </p:nvSpPr>
        <p:spPr>
          <a:xfrm>
            <a:off x="777240" y="2286000"/>
            <a:ext cx="4937760" cy="365760"/>
          </a:xfrm>
          <a:prstGeom prst="rect">
            <a:avLst/>
          </a:prstGeom>
          <a:noFill/>
          <a:ln/>
        </p:spPr>
        <p:txBody>
          <a:bodyPr wrap="square" lIns="0" tIns="0" rIns="0" bIns="0" rtlCol="0" anchor="t"/>
          <a:lstStyle/>
          <a:p>
            <a:pPr indent="0" marL="0">
              <a:buNone/>
            </a:pPr>
            <a:r>
              <a:rPr lang="en-US" sz="1700" b="1" dirty="0">
                <a:solidFill>
                  <a:schemeClr val="accent1"/>
                </a:solidFill>
              </a:rPr>
              <a:t>QGAN - model-level hybrid</a:t>
            </a:r>
            <a:endParaRPr lang="en-US" sz="1700" dirty="0"/>
          </a:p>
        </p:txBody>
      </p:sp>
      <p:sp>
        <p:nvSpPr>
          <p:cNvPr id="8" name="Text 5"/>
          <p:cNvSpPr txBox="1"/>
          <p:nvPr/>
        </p:nvSpPr>
        <p:spPr>
          <a:xfrm>
            <a:off x="777240" y="2651760"/>
            <a:ext cx="4937760" cy="320040"/>
          </a:xfrm>
          <a:prstGeom prst="rect">
            <a:avLst/>
          </a:prstGeom>
          <a:noFill/>
          <a:ln/>
        </p:spPr>
        <p:txBody>
          <a:bodyPr wrap="square" lIns="0" tIns="0" rIns="0" bIns="0" rtlCol="0" anchor="t"/>
          <a:lstStyle/>
          <a:p>
            <a:pPr indent="0" marL="0">
              <a:buNone/>
            </a:pPr>
            <a:r>
              <a:rPr lang="en-US" sz="1200" dirty="0">
                <a:solidFill>
                  <a:schemeClr val="accent6"/>
                </a:solidFill>
              </a:rPr>
              <a:t>Andra et al., 2025 · 2일차 실습</a:t>
            </a:r>
            <a:endParaRPr lang="en-US" sz="1200" dirty="0"/>
          </a:p>
        </p:txBody>
      </p:sp>
      <p:sp>
        <p:nvSpPr>
          <p:cNvPr id="9" name="Text 6"/>
          <p:cNvSpPr txBox="1"/>
          <p:nvPr/>
        </p:nvSpPr>
        <p:spPr>
          <a:xfrm>
            <a:off x="777240" y="315468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생성자 = 양자회로 (sub-generator 4개)</a:t>
            </a:r>
            <a:endParaRPr lang="en-US" sz="1400" dirty="0"/>
          </a:p>
          <a:p>
            <a:pPr marL="342900" indent="-342900">
              <a:spcAft>
                <a:spcPts val="800"/>
              </a:spcAft>
              <a:buSzPct val="100000"/>
              <a:buChar char="•"/>
            </a:pPr>
            <a:r>
              <a:rPr lang="en-US" sz="1400" dirty="0">
                <a:solidFill>
                  <a:schemeClr val="tx1"/>
                </a:solidFill>
              </a:rPr>
              <a:t>patch를 나눠 만들고 이어붙임</a:t>
            </a:r>
            <a:endParaRPr lang="en-US" sz="1400" dirty="0"/>
          </a:p>
          <a:p>
            <a:pPr marL="342900" indent="-342900">
              <a:spcAft>
                <a:spcPts val="800"/>
              </a:spcAft>
              <a:buSzPct val="100000"/>
              <a:buChar char="•"/>
            </a:pPr>
            <a:r>
              <a:rPr lang="en-US" sz="1400" dirty="0">
                <a:solidFill>
                  <a:schemeClr val="tx1"/>
                </a:solidFill>
              </a:rPr>
              <a:t>출력 = 측정 확률 (patch별 합 0 ~ 1)</a:t>
            </a:r>
            <a:endParaRPr lang="en-US" sz="1400" dirty="0"/>
          </a:p>
          <a:p>
            <a:pPr marL="342900" indent="-342900">
              <a:spcAft>
                <a:spcPts val="800"/>
              </a:spcAft>
              <a:buSzPct val="100000"/>
              <a:buChar char="•"/>
            </a:pPr>
            <a:r>
              <a:rPr lang="en-US" sz="1400" dirty="0">
                <a:solidFill>
                  <a:schemeClr val="tx1"/>
                </a:solidFill>
              </a:rPr>
              <a:t>판별자만 고전</a:t>
            </a:r>
            <a:endParaRPr lang="en-US" sz="1400" dirty="0"/>
          </a:p>
        </p:txBody>
      </p:sp>
      <p:sp>
        <p:nvSpPr>
          <p:cNvPr id="10" name="Shape 7"/>
          <p:cNvSpPr/>
          <p:nvPr/>
        </p:nvSpPr>
        <p:spPr>
          <a:xfrm>
            <a:off x="777240" y="5166360"/>
            <a:ext cx="4937760" cy="548640"/>
          </a:xfrm>
          <a:prstGeom prst="roundRect">
            <a:avLst>
              <a:gd name="adj" fmla="val 13333"/>
            </a:avLst>
          </a:prstGeom>
          <a:solidFill>
            <a:schemeClr val="accent1"/>
          </a:solidFill>
          <a:ln/>
        </p:spPr>
      </p:sp>
      <p:sp>
        <p:nvSpPr>
          <p:cNvPr id="11" name="Text 8"/>
          <p:cNvSpPr txBox="1"/>
          <p:nvPr/>
        </p:nvSpPr>
        <p:spPr>
          <a:xfrm>
            <a:off x="777240" y="5166360"/>
            <a:ext cx="4937760" cy="548640"/>
          </a:xfrm>
          <a:prstGeom prst="rect">
            <a:avLst/>
          </a:prstGeom>
          <a:noFill/>
          <a:ln/>
        </p:spPr>
        <p:txBody>
          <a:bodyPr wrap="square" lIns="635" tIns="635" rIns="635" bIns="635" rtlCol="0" anchor="ctr"/>
          <a:lstStyle/>
          <a:p>
            <a:pPr algn="ctr" indent="0" marL="0">
              <a:buNone/>
            </a:pPr>
            <a:r>
              <a:rPr lang="en-US" sz="1300" b="1" dirty="0">
                <a:solidFill>
                  <a:schemeClr val="bg1"/>
                </a:solidFill>
              </a:rPr>
              <a:t>z → [양자회로 × 4] → 이미지</a:t>
            </a:r>
            <a:endParaRPr lang="en-US" sz="1300" dirty="0"/>
          </a:p>
        </p:txBody>
      </p:sp>
      <p:sp>
        <p:nvSpPr>
          <p:cNvPr id="12" name="Shape 9"/>
          <p:cNvSpPr/>
          <p:nvPr/>
        </p:nvSpPr>
        <p:spPr>
          <a:xfrm>
            <a:off x="6217920" y="2103120"/>
            <a:ext cx="5394960" cy="3931920"/>
          </a:xfrm>
          <a:prstGeom prst="roundRect">
            <a:avLst>
              <a:gd name="adj" fmla="val 2791"/>
            </a:avLst>
          </a:prstGeom>
          <a:solidFill>
            <a:srgbClr val="EDE7F5"/>
          </a:solidFill>
          <a:ln w="15875">
            <a:solidFill>
              <a:srgbClr val="B9B3D6"/>
            </a:solidFill>
            <a:prstDash val="solid"/>
          </a:ln>
        </p:spPr>
      </p:sp>
      <p:sp>
        <p:nvSpPr>
          <p:cNvPr id="13" name="Text 10"/>
          <p:cNvSpPr txBox="1"/>
          <p:nvPr/>
        </p:nvSpPr>
        <p:spPr>
          <a:xfrm>
            <a:off x="6446520" y="2286000"/>
            <a:ext cx="4937760" cy="365760"/>
          </a:xfrm>
          <a:prstGeom prst="rect">
            <a:avLst/>
          </a:prstGeom>
          <a:noFill/>
          <a:ln/>
        </p:spPr>
        <p:txBody>
          <a:bodyPr wrap="square" lIns="0" tIns="0" rIns="0" bIns="0" rtlCol="0" anchor="t"/>
          <a:lstStyle/>
          <a:p>
            <a:pPr indent="0" marL="0">
              <a:buNone/>
            </a:pPr>
            <a:r>
              <a:rPr lang="en-US" sz="1700" b="1" dirty="0">
                <a:solidFill>
                  <a:schemeClr val="accent2"/>
                </a:solidFill>
              </a:rPr>
              <a:t>MediQ-GAN - layer-level hybrid</a:t>
            </a:r>
            <a:endParaRPr lang="en-US" sz="1700" dirty="0"/>
          </a:p>
        </p:txBody>
      </p:sp>
      <p:sp>
        <p:nvSpPr>
          <p:cNvPr id="14" name="Text 11"/>
          <p:cNvSpPr txBox="1"/>
          <p:nvPr/>
        </p:nvSpPr>
        <p:spPr>
          <a:xfrm>
            <a:off x="6446520" y="2651760"/>
            <a:ext cx="4937760" cy="320040"/>
          </a:xfrm>
          <a:prstGeom prst="rect">
            <a:avLst/>
          </a:prstGeom>
          <a:noFill/>
          <a:ln/>
        </p:spPr>
        <p:txBody>
          <a:bodyPr wrap="square" lIns="0" tIns="0" rIns="0" bIns="0" rtlCol="0" anchor="t"/>
          <a:lstStyle/>
          <a:p>
            <a:pPr indent="0" marL="0">
              <a:buNone/>
            </a:pPr>
            <a:r>
              <a:rPr lang="en-US" sz="1200" dirty="0">
                <a:solidFill>
                  <a:schemeClr val="accent6"/>
                </a:solidFill>
              </a:rPr>
              <a:t>Jiao et al., 2025 · 3일차 실습</a:t>
            </a:r>
            <a:endParaRPr lang="en-US" sz="1200" dirty="0"/>
          </a:p>
        </p:txBody>
      </p:sp>
      <p:sp>
        <p:nvSpPr>
          <p:cNvPr id="15" name="Text 12"/>
          <p:cNvSpPr txBox="1"/>
          <p:nvPr/>
        </p:nvSpPr>
        <p:spPr>
          <a:xfrm>
            <a:off x="6446520" y="315468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생성자 = 고전 stream + 양자 stream</a:t>
            </a:r>
            <a:endParaRPr lang="en-US" sz="1400" dirty="0"/>
          </a:p>
          <a:p>
            <a:pPr marL="342900" indent="-342900">
              <a:spcAft>
                <a:spcPts val="800"/>
              </a:spcAft>
              <a:buSzPct val="100000"/>
              <a:buChar char="•"/>
            </a:pPr>
            <a:r>
              <a:rPr lang="en-US" sz="1400" dirty="0">
                <a:solidFill>
                  <a:schemeClr val="tx1"/>
                </a:solidFill>
              </a:rPr>
              <a:t>입력을 절반씩 나눠 병렬 처리 후 concat</a:t>
            </a:r>
            <a:endParaRPr lang="en-US" sz="1400" dirty="0"/>
          </a:p>
          <a:p>
            <a:pPr marL="342900" indent="-342900">
              <a:spcAft>
                <a:spcPts val="800"/>
              </a:spcAft>
              <a:buSzPct val="100000"/>
              <a:buChar char="•"/>
            </a:pPr>
            <a:r>
              <a:rPr lang="en-US" sz="1400" dirty="0">
                <a:solidFill>
                  <a:schemeClr val="tx1"/>
                </a:solidFill>
              </a:rPr>
              <a:t>출력 = 고전 decoder → Tanh (-1 ~ 1)</a:t>
            </a:r>
            <a:endParaRPr lang="en-US" sz="1400" dirty="0"/>
          </a:p>
          <a:p>
            <a:pPr marL="342900" indent="-342900">
              <a:spcAft>
                <a:spcPts val="800"/>
              </a:spcAft>
              <a:buSzPct val="100000"/>
              <a:buChar char="•"/>
            </a:pPr>
            <a:r>
              <a:rPr lang="en-US" sz="1400" dirty="0">
                <a:solidFill>
                  <a:schemeClr val="tx1"/>
                </a:solidFill>
              </a:rPr>
              <a:t>양자 stream은 원 논문 스펙(16큐빗 × 5, depth 8)</a:t>
            </a:r>
            <a:endParaRPr lang="en-US" sz="1400" dirty="0"/>
          </a:p>
        </p:txBody>
      </p:sp>
      <p:sp>
        <p:nvSpPr>
          <p:cNvPr id="16" name="Shape 13"/>
          <p:cNvSpPr/>
          <p:nvPr/>
        </p:nvSpPr>
        <p:spPr>
          <a:xfrm>
            <a:off x="6446520" y="5166360"/>
            <a:ext cx="4937760" cy="548640"/>
          </a:xfrm>
          <a:prstGeom prst="roundRect">
            <a:avLst>
              <a:gd name="adj" fmla="val 13333"/>
            </a:avLst>
          </a:prstGeom>
          <a:solidFill>
            <a:schemeClr val="accent2"/>
          </a:solidFill>
          <a:ln/>
        </p:spPr>
      </p:sp>
      <p:sp>
        <p:nvSpPr>
          <p:cNvPr id="17" name="Text 14"/>
          <p:cNvSpPr txBox="1"/>
          <p:nvPr/>
        </p:nvSpPr>
        <p:spPr>
          <a:xfrm>
            <a:off x="6446520" y="5166360"/>
            <a:ext cx="4937760" cy="548640"/>
          </a:xfrm>
          <a:prstGeom prst="rect">
            <a:avLst/>
          </a:prstGeom>
          <a:noFill/>
          <a:ln/>
        </p:spPr>
        <p:txBody>
          <a:bodyPr wrap="square" lIns="635" tIns="635" rIns="635" bIns="635" rtlCol="0" anchor="ctr"/>
          <a:lstStyle/>
          <a:p>
            <a:pPr algn="ctr" indent="0" marL="0">
              <a:buNone/>
            </a:pPr>
            <a:r>
              <a:rPr lang="en-US" sz="1300" b="1" dirty="0">
                <a:solidFill>
                  <a:schemeClr val="bg1"/>
                </a:solidFill>
              </a:rPr>
              <a:t>z → [고전 ∥ 양자] → concat → decoder</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노트북 §3 코드</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dual-stream의 데이터 흐름</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잠재벡터 256차원을 절반씩 나누고, 두 stream의 출력을 이어붙여 decoder로 보냄</a:t>
            </a:r>
            <a:endParaRPr lang="en-US" sz="1400" dirty="0"/>
          </a:p>
        </p:txBody>
      </p:sp>
      <p:sp>
        <p:nvSpPr>
          <p:cNvPr id="6" name="Shape 3"/>
          <p:cNvSpPr/>
          <p:nvPr/>
        </p:nvSpPr>
        <p:spPr>
          <a:xfrm>
            <a:off x="548640" y="2971800"/>
            <a:ext cx="1371600" cy="1097280"/>
          </a:xfrm>
          <a:prstGeom prst="roundRect">
            <a:avLst>
              <a:gd name="adj" fmla="val 6667"/>
            </a:avLst>
          </a:prstGeom>
          <a:solidFill>
            <a:srgbClr val="EDEBE9"/>
          </a:solidFill>
          <a:ln/>
        </p:spPr>
      </p:sp>
      <p:sp>
        <p:nvSpPr>
          <p:cNvPr id="7" name="Text 4"/>
          <p:cNvSpPr txBox="1"/>
          <p:nvPr/>
        </p:nvSpPr>
        <p:spPr>
          <a:xfrm>
            <a:off x="548640" y="2971800"/>
            <a:ext cx="1371600" cy="1097280"/>
          </a:xfrm>
          <a:prstGeom prst="rect">
            <a:avLst/>
          </a:prstGeom>
          <a:noFill/>
          <a:ln/>
        </p:spPr>
        <p:txBody>
          <a:bodyPr wrap="square" lIns="635" tIns="635" rIns="635" bIns="635" rtlCol="0" anchor="ctr"/>
          <a:lstStyle/>
          <a:p>
            <a:pPr algn="ctr" indent="0" marL="0">
              <a:buNone/>
            </a:pPr>
            <a:r>
              <a:rPr lang="en-US" sz="1200" b="1" dirty="0">
                <a:solidFill>
                  <a:schemeClr val="tx1"/>
                </a:solidFill>
              </a:rPr>
              <a:t>잠재벡터 z</a:t>
            </a:r>
            <a:endParaRPr lang="en-US" sz="1200" dirty="0"/>
          </a:p>
          <a:p>
            <a:pPr algn="ctr" indent="0" marL="0">
              <a:buNone/>
            </a:pPr>
            <a:r>
              <a:rPr lang="en-US" sz="1200" b="1" dirty="0">
                <a:solidFill>
                  <a:schemeClr val="tx1"/>
                </a:solidFill>
              </a:rPr>
              <a:t>256차원</a:t>
            </a:r>
            <a:endParaRPr lang="en-US" sz="1200" dirty="0"/>
          </a:p>
          <a:p>
            <a:pPr algn="ctr" indent="0" marL="0">
              <a:buNone/>
            </a:pPr>
            <a:r>
              <a:rPr lang="en-US" sz="1200" b="1" dirty="0">
                <a:solidFill>
                  <a:schemeClr val="tx1"/>
                </a:solidFill>
              </a:rPr>
              <a:t>N(0, 1)</a:t>
            </a:r>
            <a:endParaRPr lang="en-US" sz="1200" dirty="0"/>
          </a:p>
        </p:txBody>
      </p:sp>
      <p:sp>
        <p:nvSpPr>
          <p:cNvPr id="8" name="Shape 5"/>
          <p:cNvSpPr/>
          <p:nvPr/>
        </p:nvSpPr>
        <p:spPr>
          <a:xfrm>
            <a:off x="2331720" y="2057400"/>
            <a:ext cx="1371600" cy="640080"/>
          </a:xfrm>
          <a:prstGeom prst="roundRect">
            <a:avLst>
              <a:gd name="adj" fmla="val 11429"/>
            </a:avLst>
          </a:prstGeom>
          <a:solidFill>
            <a:srgbClr val="FFFFFF"/>
          </a:solidFill>
          <a:ln w="12700">
            <a:solidFill>
              <a:srgbClr val="C9C5BE"/>
            </a:solidFill>
            <a:prstDash val="solid"/>
          </a:ln>
        </p:spPr>
      </p:sp>
      <p:sp>
        <p:nvSpPr>
          <p:cNvPr id="9" name="Text 6"/>
          <p:cNvSpPr txBox="1"/>
          <p:nvPr/>
        </p:nvSpPr>
        <p:spPr>
          <a:xfrm>
            <a:off x="2331720" y="2057400"/>
            <a:ext cx="137160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z[:, :128]</a:t>
            </a:r>
            <a:endParaRPr lang="en-US" sz="1200" dirty="0"/>
          </a:p>
        </p:txBody>
      </p:sp>
      <p:sp>
        <p:nvSpPr>
          <p:cNvPr id="10" name="Shape 7"/>
          <p:cNvSpPr/>
          <p:nvPr/>
        </p:nvSpPr>
        <p:spPr>
          <a:xfrm>
            <a:off x="4069080" y="1965960"/>
            <a:ext cx="2103120" cy="822960"/>
          </a:xfrm>
          <a:prstGeom prst="roundRect">
            <a:avLst>
              <a:gd name="adj" fmla="val 8889"/>
            </a:avLst>
          </a:prstGeom>
          <a:solidFill>
            <a:schemeClr val="tx2"/>
          </a:solidFill>
          <a:ln/>
        </p:spPr>
      </p:sp>
      <p:sp>
        <p:nvSpPr>
          <p:cNvPr id="11" name="Text 8"/>
          <p:cNvSpPr txBox="1"/>
          <p:nvPr/>
        </p:nvSpPr>
        <p:spPr>
          <a:xfrm>
            <a:off x="4069080" y="1965960"/>
            <a:ext cx="2103120" cy="822960"/>
          </a:xfrm>
          <a:prstGeom prst="rect">
            <a:avLst/>
          </a:prstGeom>
          <a:noFill/>
          <a:ln/>
        </p:spPr>
        <p:txBody>
          <a:bodyPr wrap="square" lIns="635" tIns="635" rIns="635" bIns="635" rtlCol="0" anchor="ctr"/>
          <a:lstStyle/>
          <a:p>
            <a:pPr algn="ctr" indent="0" marL="0">
              <a:buNone/>
            </a:pPr>
            <a:r>
              <a:rPr lang="en-US" sz="1200" b="1" dirty="0">
                <a:solidFill>
                  <a:schemeClr val="bg1"/>
                </a:solidFill>
              </a:rPr>
              <a:t>고전 stream</a:t>
            </a:r>
            <a:endParaRPr lang="en-US" sz="1200" dirty="0"/>
          </a:p>
          <a:p>
            <a:pPr algn="ctr" indent="0" marL="0">
              <a:buNone/>
            </a:pPr>
            <a:r>
              <a:rPr lang="en-US" sz="1200" b="1" dirty="0">
                <a:solidFill>
                  <a:schemeClr val="bg1"/>
                </a:solidFill>
              </a:rPr>
              <a:t>MLP 128→32→128</a:t>
            </a:r>
            <a:endParaRPr lang="en-US" sz="1200" dirty="0"/>
          </a:p>
        </p:txBody>
      </p:sp>
      <p:sp>
        <p:nvSpPr>
          <p:cNvPr id="12" name="Shape 9"/>
          <p:cNvSpPr/>
          <p:nvPr/>
        </p:nvSpPr>
        <p:spPr>
          <a:xfrm>
            <a:off x="6537960" y="2057400"/>
            <a:ext cx="822960" cy="640080"/>
          </a:xfrm>
          <a:prstGeom prst="roundRect">
            <a:avLst>
              <a:gd name="adj" fmla="val 11429"/>
            </a:avLst>
          </a:prstGeom>
          <a:solidFill>
            <a:srgbClr val="FFFFFF"/>
          </a:solidFill>
          <a:ln w="12700">
            <a:solidFill>
              <a:srgbClr val="C9C5BE"/>
            </a:solidFill>
            <a:prstDash val="solid"/>
          </a:ln>
        </p:spPr>
      </p:sp>
      <p:sp>
        <p:nvSpPr>
          <p:cNvPr id="13" name="Text 10"/>
          <p:cNvSpPr txBox="1"/>
          <p:nvPr/>
        </p:nvSpPr>
        <p:spPr>
          <a:xfrm>
            <a:off x="6537960" y="2057400"/>
            <a:ext cx="82296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128</a:t>
            </a:r>
            <a:endParaRPr lang="en-US" sz="1200" dirty="0"/>
          </a:p>
        </p:txBody>
      </p:sp>
      <p:sp>
        <p:nvSpPr>
          <p:cNvPr id="14" name="Shape 11"/>
          <p:cNvSpPr/>
          <p:nvPr/>
        </p:nvSpPr>
        <p:spPr>
          <a:xfrm>
            <a:off x="2331720" y="4343400"/>
            <a:ext cx="1371600" cy="640080"/>
          </a:xfrm>
          <a:prstGeom prst="roundRect">
            <a:avLst>
              <a:gd name="adj" fmla="val 11429"/>
            </a:avLst>
          </a:prstGeom>
          <a:solidFill>
            <a:srgbClr val="FFFFFF"/>
          </a:solidFill>
          <a:ln w="12700">
            <a:solidFill>
              <a:srgbClr val="C9C5BE"/>
            </a:solidFill>
            <a:prstDash val="solid"/>
          </a:ln>
        </p:spPr>
      </p:sp>
      <p:sp>
        <p:nvSpPr>
          <p:cNvPr id="15" name="Text 12"/>
          <p:cNvSpPr txBox="1"/>
          <p:nvPr/>
        </p:nvSpPr>
        <p:spPr>
          <a:xfrm>
            <a:off x="2331720" y="4343400"/>
            <a:ext cx="1371600" cy="640080"/>
          </a:xfrm>
          <a:prstGeom prst="rect">
            <a:avLst/>
          </a:prstGeom>
          <a:noFill/>
          <a:ln/>
        </p:spPr>
        <p:txBody>
          <a:bodyPr wrap="square" lIns="635" tIns="635" rIns="635" bIns="635" rtlCol="0" anchor="ctr"/>
          <a:lstStyle/>
          <a:p>
            <a:pPr algn="ctr" indent="0" marL="0">
              <a:buNone/>
            </a:pPr>
            <a:r>
              <a:rPr lang="en-US" sz="1200" b="1" dirty="0">
                <a:solidFill>
                  <a:schemeClr val="tx1"/>
                </a:solidFill>
              </a:rPr>
              <a:t>z[:, 128:]</a:t>
            </a:r>
            <a:endParaRPr lang="en-US" sz="1200" dirty="0"/>
          </a:p>
        </p:txBody>
      </p:sp>
      <p:sp>
        <p:nvSpPr>
          <p:cNvPr id="16" name="Shape 13"/>
          <p:cNvSpPr/>
          <p:nvPr/>
        </p:nvSpPr>
        <p:spPr>
          <a:xfrm>
            <a:off x="4069080" y="4160520"/>
            <a:ext cx="2103120" cy="1005840"/>
          </a:xfrm>
          <a:prstGeom prst="roundRect">
            <a:avLst>
              <a:gd name="adj" fmla="val 7273"/>
            </a:avLst>
          </a:prstGeom>
          <a:solidFill>
            <a:schemeClr val="accent2"/>
          </a:solidFill>
          <a:ln/>
        </p:spPr>
      </p:sp>
      <p:sp>
        <p:nvSpPr>
          <p:cNvPr id="17" name="Text 14"/>
          <p:cNvSpPr txBox="1"/>
          <p:nvPr/>
        </p:nvSpPr>
        <p:spPr>
          <a:xfrm>
            <a:off x="4069080" y="4160520"/>
            <a:ext cx="2103120" cy="1005840"/>
          </a:xfrm>
          <a:prstGeom prst="rect">
            <a:avLst/>
          </a:prstGeom>
          <a:noFill/>
          <a:ln/>
        </p:spPr>
        <p:txBody>
          <a:bodyPr wrap="square" lIns="635" tIns="635" rIns="635" bIns="635" rtlCol="0" anchor="ctr"/>
          <a:lstStyle/>
          <a:p>
            <a:pPr algn="ctr" indent="0" marL="0">
              <a:buNone/>
            </a:pPr>
            <a:r>
              <a:rPr lang="en-US" sz="1200" b="1" dirty="0">
                <a:solidFill>
                  <a:schemeClr val="bg1"/>
                </a:solidFill>
              </a:rPr>
              <a:t>양자 stream</a:t>
            </a:r>
            <a:endParaRPr lang="en-US" sz="1200" dirty="0"/>
          </a:p>
          <a:p>
            <a:pPr algn="ctr" indent="0" marL="0">
              <a:buNone/>
            </a:pPr>
            <a:r>
              <a:rPr lang="en-US" sz="1200" b="1" dirty="0">
                <a:solidFill>
                  <a:schemeClr val="bg1"/>
                </a:solidFill>
              </a:rPr>
              <a:t>16 site → 회로 5개</a:t>
            </a:r>
            <a:endParaRPr lang="en-US" sz="1200" dirty="0"/>
          </a:p>
          <a:p>
            <a:pPr algn="ctr" indent="0" marL="0">
              <a:buNone/>
            </a:pPr>
            <a:r>
              <a:rPr lang="en-US" sz="1200" b="1" dirty="0">
                <a:solidFill>
                  <a:schemeClr val="bg1"/>
                </a:solidFill>
              </a:rPr>
              <a:t>→ 1×1 conv</a:t>
            </a:r>
            <a:endParaRPr lang="en-US" sz="1200" dirty="0"/>
          </a:p>
        </p:txBody>
      </p:sp>
      <p:sp>
        <p:nvSpPr>
          <p:cNvPr id="18" name="Shape 15"/>
          <p:cNvSpPr/>
          <p:nvPr/>
        </p:nvSpPr>
        <p:spPr>
          <a:xfrm>
            <a:off x="6537960" y="4251960"/>
            <a:ext cx="822960" cy="822960"/>
          </a:xfrm>
          <a:prstGeom prst="roundRect">
            <a:avLst>
              <a:gd name="adj" fmla="val 8889"/>
            </a:avLst>
          </a:prstGeom>
          <a:solidFill>
            <a:srgbClr val="FFFFFF"/>
          </a:solidFill>
          <a:ln w="12700">
            <a:solidFill>
              <a:srgbClr val="C9C5BE"/>
            </a:solidFill>
            <a:prstDash val="solid"/>
          </a:ln>
        </p:spPr>
      </p:sp>
      <p:sp>
        <p:nvSpPr>
          <p:cNvPr id="19" name="Text 16"/>
          <p:cNvSpPr txBox="1"/>
          <p:nvPr/>
        </p:nvSpPr>
        <p:spPr>
          <a:xfrm>
            <a:off x="6537960" y="4251960"/>
            <a:ext cx="822960" cy="822960"/>
          </a:xfrm>
          <a:prstGeom prst="rect">
            <a:avLst/>
          </a:prstGeom>
          <a:noFill/>
          <a:ln/>
        </p:spPr>
        <p:txBody>
          <a:bodyPr wrap="square" lIns="635" tIns="635" rIns="635" bIns="635" rtlCol="0" anchor="ctr"/>
          <a:lstStyle/>
          <a:p>
            <a:pPr algn="ctr" indent="0" marL="0">
              <a:buNone/>
            </a:pPr>
            <a:r>
              <a:rPr lang="en-US" sz="1100" b="1" dirty="0">
                <a:solidFill>
                  <a:schemeClr val="tx1"/>
                </a:solidFill>
              </a:rPr>
              <a:t>16 × 4×4</a:t>
            </a:r>
            <a:endParaRPr lang="en-US" sz="1100" dirty="0"/>
          </a:p>
          <a:p>
            <a:pPr algn="ctr" indent="0" marL="0">
              <a:buNone/>
            </a:pPr>
            <a:r>
              <a:rPr lang="en-US" sz="1100" b="1" dirty="0">
                <a:solidFill>
                  <a:schemeClr val="tx1"/>
                </a:solidFill>
              </a:rPr>
              <a:t>= 256</a:t>
            </a:r>
            <a:endParaRPr lang="en-US" sz="1100" dirty="0"/>
          </a:p>
        </p:txBody>
      </p:sp>
      <p:sp>
        <p:nvSpPr>
          <p:cNvPr id="20" name="Shape 17"/>
          <p:cNvSpPr/>
          <p:nvPr/>
        </p:nvSpPr>
        <p:spPr>
          <a:xfrm>
            <a:off x="1938528" y="3337560"/>
            <a:ext cx="374904" cy="-914400"/>
          </a:xfrm>
          <a:prstGeom prst="line">
            <a:avLst/>
          </a:prstGeom>
          <a:noFill/>
          <a:ln w="22225">
            <a:solidFill>
              <a:schemeClr val="accent6"/>
            </a:solidFill>
            <a:prstDash val="solid"/>
            <a:tailEnd type="triangle"/>
          </a:ln>
        </p:spPr>
      </p:sp>
      <p:sp>
        <p:nvSpPr>
          <p:cNvPr id="21" name="Shape 18"/>
          <p:cNvSpPr/>
          <p:nvPr/>
        </p:nvSpPr>
        <p:spPr>
          <a:xfrm>
            <a:off x="1938528" y="3703320"/>
            <a:ext cx="374904" cy="914400"/>
          </a:xfrm>
          <a:prstGeom prst="line">
            <a:avLst/>
          </a:prstGeom>
          <a:noFill/>
          <a:ln w="22225">
            <a:solidFill>
              <a:schemeClr val="accent6"/>
            </a:solidFill>
            <a:prstDash val="solid"/>
            <a:tailEnd type="triangle"/>
          </a:ln>
        </p:spPr>
      </p:sp>
      <p:sp>
        <p:nvSpPr>
          <p:cNvPr id="22" name="Shape 19"/>
          <p:cNvSpPr/>
          <p:nvPr/>
        </p:nvSpPr>
        <p:spPr>
          <a:xfrm>
            <a:off x="3721608" y="2377440"/>
            <a:ext cx="329184" cy="0"/>
          </a:xfrm>
          <a:prstGeom prst="line">
            <a:avLst/>
          </a:prstGeom>
          <a:noFill/>
          <a:ln w="22225">
            <a:solidFill>
              <a:schemeClr val="accent6"/>
            </a:solidFill>
            <a:prstDash val="solid"/>
            <a:tailEnd type="triangle"/>
          </a:ln>
        </p:spPr>
      </p:sp>
      <p:sp>
        <p:nvSpPr>
          <p:cNvPr id="23" name="Shape 20"/>
          <p:cNvSpPr/>
          <p:nvPr/>
        </p:nvSpPr>
        <p:spPr>
          <a:xfrm>
            <a:off x="6190488" y="2377440"/>
            <a:ext cx="329184" cy="0"/>
          </a:xfrm>
          <a:prstGeom prst="line">
            <a:avLst/>
          </a:prstGeom>
          <a:noFill/>
          <a:ln w="22225">
            <a:solidFill>
              <a:schemeClr val="accent6"/>
            </a:solidFill>
            <a:prstDash val="solid"/>
            <a:tailEnd type="triangle"/>
          </a:ln>
        </p:spPr>
      </p:sp>
      <p:sp>
        <p:nvSpPr>
          <p:cNvPr id="24" name="Shape 21"/>
          <p:cNvSpPr/>
          <p:nvPr/>
        </p:nvSpPr>
        <p:spPr>
          <a:xfrm>
            <a:off x="3721608" y="4663440"/>
            <a:ext cx="329184" cy="0"/>
          </a:xfrm>
          <a:prstGeom prst="line">
            <a:avLst/>
          </a:prstGeom>
          <a:noFill/>
          <a:ln w="22225">
            <a:solidFill>
              <a:schemeClr val="accent6"/>
            </a:solidFill>
            <a:prstDash val="solid"/>
            <a:tailEnd type="triangle"/>
          </a:ln>
        </p:spPr>
      </p:sp>
      <p:sp>
        <p:nvSpPr>
          <p:cNvPr id="25" name="Shape 22"/>
          <p:cNvSpPr/>
          <p:nvPr/>
        </p:nvSpPr>
        <p:spPr>
          <a:xfrm>
            <a:off x="6190488" y="4663440"/>
            <a:ext cx="329184" cy="0"/>
          </a:xfrm>
          <a:prstGeom prst="line">
            <a:avLst/>
          </a:prstGeom>
          <a:noFill/>
          <a:ln w="22225">
            <a:solidFill>
              <a:schemeClr val="accent6"/>
            </a:solidFill>
            <a:prstDash val="solid"/>
            <a:tailEnd type="triangle"/>
          </a:ln>
        </p:spPr>
      </p:sp>
      <p:sp>
        <p:nvSpPr>
          <p:cNvPr id="26" name="Shape 23"/>
          <p:cNvSpPr/>
          <p:nvPr/>
        </p:nvSpPr>
        <p:spPr>
          <a:xfrm>
            <a:off x="7772400" y="2971800"/>
            <a:ext cx="1234440" cy="1097280"/>
          </a:xfrm>
          <a:prstGeom prst="roundRect">
            <a:avLst>
              <a:gd name="adj" fmla="val 6667"/>
            </a:avLst>
          </a:prstGeom>
          <a:solidFill>
            <a:srgbClr val="DDF2E6"/>
          </a:solidFill>
          <a:ln w="12700">
            <a:solidFill>
              <a:srgbClr val="00754A"/>
            </a:solidFill>
            <a:prstDash val="solid"/>
          </a:ln>
        </p:spPr>
      </p:sp>
      <p:sp>
        <p:nvSpPr>
          <p:cNvPr id="27" name="Text 24"/>
          <p:cNvSpPr txBox="1"/>
          <p:nvPr/>
        </p:nvSpPr>
        <p:spPr>
          <a:xfrm>
            <a:off x="7772400" y="2971800"/>
            <a:ext cx="1234440" cy="1097280"/>
          </a:xfrm>
          <a:prstGeom prst="rect">
            <a:avLst/>
          </a:prstGeom>
          <a:noFill/>
          <a:ln/>
        </p:spPr>
        <p:txBody>
          <a:bodyPr wrap="square" lIns="635" tIns="635" rIns="635" bIns="635" rtlCol="0" anchor="ctr"/>
          <a:lstStyle/>
          <a:p>
            <a:pPr algn="ctr" indent="0" marL="0">
              <a:buNone/>
            </a:pPr>
            <a:r>
              <a:rPr lang="en-US" sz="1200" b="1" dirty="0">
                <a:solidFill>
                  <a:schemeClr val="tx1"/>
                </a:solidFill>
              </a:rPr>
              <a:t>concat</a:t>
            </a:r>
            <a:endParaRPr lang="en-US" sz="1200" dirty="0"/>
          </a:p>
          <a:p>
            <a:pPr algn="ctr" indent="0" marL="0">
              <a:buNone/>
            </a:pPr>
            <a:r>
              <a:rPr lang="en-US" sz="1200" b="1" dirty="0">
                <a:solidFill>
                  <a:schemeClr val="tx1"/>
                </a:solidFill>
              </a:rPr>
              <a:t>128 + 256</a:t>
            </a:r>
            <a:endParaRPr lang="en-US" sz="1200" dirty="0"/>
          </a:p>
          <a:p>
            <a:pPr algn="ctr" indent="0" marL="0">
              <a:buNone/>
            </a:pPr>
            <a:r>
              <a:rPr lang="en-US" sz="1200" b="1" dirty="0">
                <a:solidFill>
                  <a:schemeClr val="tx1"/>
                </a:solidFill>
              </a:rPr>
              <a:t>= 384</a:t>
            </a:r>
            <a:endParaRPr lang="en-US" sz="1200" dirty="0"/>
          </a:p>
        </p:txBody>
      </p:sp>
      <p:sp>
        <p:nvSpPr>
          <p:cNvPr id="28" name="Shape 25"/>
          <p:cNvSpPr/>
          <p:nvPr/>
        </p:nvSpPr>
        <p:spPr>
          <a:xfrm>
            <a:off x="7379208" y="2377440"/>
            <a:ext cx="484632" cy="576072"/>
          </a:xfrm>
          <a:prstGeom prst="line">
            <a:avLst/>
          </a:prstGeom>
          <a:noFill/>
          <a:ln w="22225">
            <a:solidFill>
              <a:schemeClr val="accent6"/>
            </a:solidFill>
            <a:prstDash val="solid"/>
            <a:tailEnd type="triangle"/>
          </a:ln>
        </p:spPr>
      </p:sp>
      <p:sp>
        <p:nvSpPr>
          <p:cNvPr id="29" name="Shape 26"/>
          <p:cNvSpPr/>
          <p:nvPr/>
        </p:nvSpPr>
        <p:spPr>
          <a:xfrm>
            <a:off x="7379208" y="4663440"/>
            <a:ext cx="484632" cy="-576072"/>
          </a:xfrm>
          <a:prstGeom prst="line">
            <a:avLst/>
          </a:prstGeom>
          <a:noFill/>
          <a:ln w="22225">
            <a:solidFill>
              <a:schemeClr val="accent6"/>
            </a:solidFill>
            <a:prstDash val="solid"/>
            <a:tailEnd type="triangle"/>
          </a:ln>
        </p:spPr>
      </p:sp>
      <p:sp>
        <p:nvSpPr>
          <p:cNvPr id="30" name="Shape 27"/>
          <p:cNvSpPr/>
          <p:nvPr/>
        </p:nvSpPr>
        <p:spPr>
          <a:xfrm>
            <a:off x="9372600" y="2926080"/>
            <a:ext cx="1463040" cy="1188720"/>
          </a:xfrm>
          <a:prstGeom prst="roundRect">
            <a:avLst>
              <a:gd name="adj" fmla="val 6154"/>
            </a:avLst>
          </a:prstGeom>
          <a:solidFill>
            <a:schemeClr val="tx2"/>
          </a:solidFill>
          <a:ln/>
        </p:spPr>
      </p:sp>
      <p:sp>
        <p:nvSpPr>
          <p:cNvPr id="31" name="Text 28"/>
          <p:cNvSpPr txBox="1"/>
          <p:nvPr/>
        </p:nvSpPr>
        <p:spPr>
          <a:xfrm>
            <a:off x="9372600" y="2926080"/>
            <a:ext cx="1463040" cy="1188720"/>
          </a:xfrm>
          <a:prstGeom prst="rect">
            <a:avLst/>
          </a:prstGeom>
          <a:noFill/>
          <a:ln/>
        </p:spPr>
        <p:txBody>
          <a:bodyPr wrap="square" lIns="635" tIns="635" rIns="635" bIns="635" rtlCol="0" anchor="ctr"/>
          <a:lstStyle/>
          <a:p>
            <a:pPr algn="ctr" indent="0" marL="0">
              <a:buNone/>
            </a:pPr>
            <a:r>
              <a:rPr lang="en-US" sz="1200" b="1" dirty="0">
                <a:solidFill>
                  <a:schemeClr val="bg1"/>
                </a:solidFill>
              </a:rPr>
              <a:t>decoder</a:t>
            </a:r>
            <a:endParaRPr lang="en-US" sz="1200" dirty="0"/>
          </a:p>
          <a:p>
            <a:pPr algn="ctr" indent="0" marL="0">
              <a:buNone/>
            </a:pPr>
            <a:r>
              <a:rPr lang="en-US" sz="1200" b="1" dirty="0">
                <a:solidFill>
                  <a:schemeClr val="bg1"/>
                </a:solidFill>
              </a:rPr>
              <a:t>MLP 384→32→256</a:t>
            </a:r>
            <a:endParaRPr lang="en-US" sz="1200" dirty="0"/>
          </a:p>
          <a:p>
            <a:pPr algn="ctr" indent="0" marL="0">
              <a:buNone/>
            </a:pPr>
            <a:r>
              <a:rPr lang="en-US" sz="1200" b="1" dirty="0">
                <a:solidFill>
                  <a:schemeClr val="bg1"/>
                </a:solidFill>
              </a:rPr>
              <a:t>Tanh</a:t>
            </a:r>
            <a:endParaRPr lang="en-US" sz="1200" dirty="0"/>
          </a:p>
        </p:txBody>
      </p:sp>
      <p:sp>
        <p:nvSpPr>
          <p:cNvPr id="32" name="Shape 29"/>
          <p:cNvSpPr/>
          <p:nvPr/>
        </p:nvSpPr>
        <p:spPr>
          <a:xfrm>
            <a:off x="9025128" y="3520440"/>
            <a:ext cx="329184" cy="0"/>
          </a:xfrm>
          <a:prstGeom prst="line">
            <a:avLst/>
          </a:prstGeom>
          <a:noFill/>
          <a:ln w="22225">
            <a:solidFill>
              <a:schemeClr val="accent6"/>
            </a:solidFill>
            <a:prstDash val="solid"/>
            <a:tailEnd type="triangle"/>
          </a:ln>
        </p:spPr>
      </p:sp>
      <p:sp>
        <p:nvSpPr>
          <p:cNvPr id="33" name="Shape 30"/>
          <p:cNvSpPr/>
          <p:nvPr/>
        </p:nvSpPr>
        <p:spPr>
          <a:xfrm>
            <a:off x="11018520" y="3154680"/>
            <a:ext cx="685800" cy="731520"/>
          </a:xfrm>
          <a:prstGeom prst="roundRect">
            <a:avLst>
              <a:gd name="adj" fmla="val 10667"/>
            </a:avLst>
          </a:prstGeom>
          <a:solidFill>
            <a:srgbClr val="EDEBE9"/>
          </a:solidFill>
          <a:ln/>
        </p:spPr>
      </p:sp>
      <p:sp>
        <p:nvSpPr>
          <p:cNvPr id="34" name="Text 31"/>
          <p:cNvSpPr txBox="1"/>
          <p:nvPr/>
        </p:nvSpPr>
        <p:spPr>
          <a:xfrm>
            <a:off x="11018520" y="3154680"/>
            <a:ext cx="685800" cy="731520"/>
          </a:xfrm>
          <a:prstGeom prst="rect">
            <a:avLst/>
          </a:prstGeom>
          <a:noFill/>
          <a:ln/>
        </p:spPr>
        <p:txBody>
          <a:bodyPr wrap="square" lIns="635" tIns="635" rIns="635" bIns="635" rtlCol="0" anchor="ctr"/>
          <a:lstStyle/>
          <a:p>
            <a:pPr algn="ctr" indent="0" marL="0">
              <a:buNone/>
            </a:pPr>
            <a:r>
              <a:rPr lang="en-US" sz="1100" b="1" dirty="0">
                <a:solidFill>
                  <a:schemeClr val="tx1"/>
                </a:solidFill>
              </a:rPr>
              <a:t>16×16</a:t>
            </a:r>
            <a:endParaRPr lang="en-US" sz="1100" dirty="0"/>
          </a:p>
          <a:p>
            <a:pPr algn="ctr" indent="0" marL="0">
              <a:buNone/>
            </a:pPr>
            <a:r>
              <a:rPr lang="en-US" sz="1100" b="1" dirty="0">
                <a:solidFill>
                  <a:schemeClr val="tx1"/>
                </a:solidFill>
              </a:rPr>
              <a:t>-1 ~ 1</a:t>
            </a:r>
            <a:endParaRPr lang="en-US" sz="1100" dirty="0"/>
          </a:p>
        </p:txBody>
      </p:sp>
      <p:sp>
        <p:nvSpPr>
          <p:cNvPr id="35" name="Shape 32"/>
          <p:cNvSpPr/>
          <p:nvPr/>
        </p:nvSpPr>
        <p:spPr>
          <a:xfrm>
            <a:off x="10853928" y="3520440"/>
            <a:ext cx="146304" cy="0"/>
          </a:xfrm>
          <a:prstGeom prst="line">
            <a:avLst/>
          </a:prstGeom>
          <a:noFill/>
          <a:ln w="22225">
            <a:solidFill>
              <a:schemeClr val="accent6"/>
            </a:solidFill>
            <a:prstDash val="solid"/>
            <a:tailEnd type="triangle"/>
          </a:ln>
        </p:spPr>
      </p:sp>
      <p:sp>
        <p:nvSpPr>
          <p:cNvPr id="36" name="Shape 33"/>
          <p:cNvSpPr/>
          <p:nvPr/>
        </p:nvSpPr>
        <p:spPr>
          <a:xfrm>
            <a:off x="548640" y="5230368"/>
            <a:ext cx="11064240" cy="1005840"/>
          </a:xfrm>
          <a:prstGeom prst="roundRect">
            <a:avLst>
              <a:gd name="adj" fmla="val 9091"/>
            </a:avLst>
          </a:prstGeom>
          <a:solidFill>
            <a:schemeClr val="tx2"/>
          </a:solidFill>
          <a:ln/>
        </p:spPr>
      </p:sp>
      <p:sp>
        <p:nvSpPr>
          <p:cNvPr id="37" name="Text 34"/>
          <p:cNvSpPr txBox="1"/>
          <p:nvPr/>
        </p:nvSpPr>
        <p:spPr>
          <a:xfrm>
            <a:off x="777240" y="5413248"/>
            <a:ext cx="10607040" cy="640080"/>
          </a:xfrm>
          <a:prstGeom prst="rect">
            <a:avLst/>
          </a:prstGeom>
          <a:noFill/>
          <a:ln/>
        </p:spPr>
        <p:txBody>
          <a:bodyPr wrap="square" lIns="0" tIns="0" rIns="0" bIns="0" rtlCol="0" anchor="t"/>
          <a:lstStyle/>
          <a:p>
            <a:pPr indent="0" marL="0">
              <a:spcAft>
                <a:spcPts val="200"/>
              </a:spcAft>
              <a:buNone/>
            </a:pPr>
            <a:r>
              <a:rPr lang="en-US" sz="1050" dirty="0">
                <a:solidFill>
                  <a:schemeClr val="bg2"/>
                </a:solidFill>
                <a:latin typeface="Courier New" pitchFamily="34" charset="0"/>
                <a:ea typeface="Courier New" pitchFamily="34" charset="-122"/>
                <a:cs typeface="Courier New" pitchFamily="34" charset="-120"/>
              </a:rPr>
              <a:t>z_c, z_q = z[:, :self.half], z[:, self.half:]</a:t>
            </a:r>
            <a:endParaRPr lang="en-US" sz="1050" dirty="0"/>
          </a:p>
          <a:p>
            <a:pPr indent="0" marL="0">
              <a:spcAft>
                <a:spcPts val="200"/>
              </a:spcAft>
              <a:buNone/>
            </a:pPr>
            <a:r>
              <a:rPr lang="en-US" sz="1050" dirty="0">
                <a:solidFill>
                  <a:schemeClr val="bg2"/>
                </a:solidFill>
                <a:latin typeface="Courier New" pitchFamily="34" charset="0"/>
                <a:ea typeface="Courier New" pitchFamily="34" charset="-122"/>
                <a:cs typeface="Courier New" pitchFamily="34" charset="-120"/>
              </a:rPr>
              <a:t>fused = torch.cat([self.classical_stream(z_c),</a:t>
            </a:r>
            <a:endParaRPr lang="en-US" sz="1050" dirty="0"/>
          </a:p>
          <a:p>
            <a:pPr indent="0" marL="0">
              <a:spcAft>
                <a:spcPts val="200"/>
              </a:spcAft>
              <a:buNone/>
            </a:pPr>
            <a:r>
              <a:rPr lang="en-US" sz="1050" dirty="0">
                <a:solidFill>
                  <a:schemeClr val="bg2"/>
                </a:solidFill>
                <a:latin typeface="Courier New" pitchFamily="34" charset="0"/>
                <a:ea typeface="Courier New" pitchFamily="34" charset="-122"/>
                <a:cs typeface="Courier New" pitchFamily="34" charset="-120"/>
              </a:rPr>
              <a:t>                   self.quantum_stream(z_q)], dim=1)</a:t>
            </a:r>
            <a:endParaRPr lang="en-US" sz="1050" dirty="0"/>
          </a:p>
          <a:p>
            <a:pPr indent="0" marL="0">
              <a:spcAft>
                <a:spcPts val="200"/>
              </a:spcAft>
              <a:buNone/>
            </a:pPr>
            <a:r>
              <a:rPr lang="en-US" sz="1050" dirty="0">
                <a:solidFill>
                  <a:schemeClr val="bg2"/>
                </a:solidFill>
                <a:latin typeface="Courier New" pitchFamily="34" charset="0"/>
                <a:ea typeface="Courier New" pitchFamily="34" charset="-122"/>
                <a:cs typeface="Courier New" pitchFamily="34" charset="-120"/>
              </a:rPr>
              <a:t>return self.decoder(fused)</a:t>
            </a:r>
            <a:endParaRPr lang="en-US" sz="105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노트북 §3 코드</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양자 회로 - 16큐빗, depth 8</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같은 값으로 RY → RX encoding, [학습 RY + 인접 CZ] × 8, 큐빗별 PauliX 기댓값</a:t>
            </a:r>
            <a:endParaRPr lang="en-US" sz="1400" dirty="0"/>
          </a:p>
        </p:txBody>
      </p:sp>
      <p:sp>
        <p:nvSpPr>
          <p:cNvPr id="6" name="Shape 3"/>
          <p:cNvSpPr/>
          <p:nvPr/>
        </p:nvSpPr>
        <p:spPr>
          <a:xfrm>
            <a:off x="548640" y="2011680"/>
            <a:ext cx="6035040" cy="4023360"/>
          </a:xfrm>
          <a:prstGeom prst="roundRect">
            <a:avLst>
              <a:gd name="adj" fmla="val 2273"/>
            </a:avLst>
          </a:prstGeom>
          <a:solidFill>
            <a:schemeClr val="tx2"/>
          </a:solidFill>
          <a:ln/>
        </p:spPr>
      </p:sp>
      <p:sp>
        <p:nvSpPr>
          <p:cNvPr id="7" name="Text 4"/>
          <p:cNvSpPr txBox="1"/>
          <p:nvPr/>
        </p:nvSpPr>
        <p:spPr>
          <a:xfrm>
            <a:off x="777240" y="2194560"/>
            <a:ext cx="5577840" cy="3657600"/>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@qml.qnode(dev, interface="torch", diff_method="adjoint")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def q_circuit(x, weights):</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    for i in range(n_qubits):         # 1 encoding</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qml.RY(x[i], wires=i)</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qml.RX(x[i], wires=i)</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    for layer in range(q_depth):      # 2 x 8</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for i in range(n_qubits):</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qml.RY(weights[layer, i], wires=i)</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for i in range(n_qubits - 1):</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qml.CZ(wires=[i, i + 1])</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    return [qml.expval(qml.PauliX(i))  # 3</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            for i in range(n_qubits)]</a:t>
            </a:r>
            <a:endParaRPr lang="en-US" sz="1200" dirty="0"/>
          </a:p>
        </p:txBody>
      </p:sp>
      <p:sp>
        <p:nvSpPr>
          <p:cNvPr id="8" name="Shape 5"/>
          <p:cNvSpPr/>
          <p:nvPr/>
        </p:nvSpPr>
        <p:spPr>
          <a:xfrm>
            <a:off x="6858000" y="2011680"/>
            <a:ext cx="4754880" cy="4023360"/>
          </a:xfrm>
          <a:prstGeom prst="roundRect">
            <a:avLst>
              <a:gd name="adj" fmla="val 2727"/>
            </a:avLst>
          </a:prstGeom>
          <a:solidFill>
            <a:srgbClr val="F2F0EB"/>
          </a:solidFill>
          <a:ln/>
        </p:spPr>
      </p:sp>
      <p:sp>
        <p:nvSpPr>
          <p:cNvPr id="9" name="Text 6"/>
          <p:cNvSpPr txBox="1"/>
          <p:nvPr/>
        </p:nvSpPr>
        <p:spPr>
          <a:xfrm>
            <a:off x="6967728" y="23317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q0</a:t>
            </a:r>
            <a:endParaRPr lang="en-US" sz="1100" dirty="0"/>
          </a:p>
        </p:txBody>
      </p:sp>
      <p:sp>
        <p:nvSpPr>
          <p:cNvPr id="10" name="Shape 7"/>
          <p:cNvSpPr/>
          <p:nvPr/>
        </p:nvSpPr>
        <p:spPr>
          <a:xfrm>
            <a:off x="7406640" y="2468880"/>
            <a:ext cx="4069080" cy="0"/>
          </a:xfrm>
          <a:prstGeom prst="line">
            <a:avLst/>
          </a:prstGeom>
          <a:noFill/>
          <a:ln w="9525">
            <a:solidFill>
              <a:schemeClr val="accent6"/>
            </a:solidFill>
            <a:prstDash val="solid"/>
          </a:ln>
        </p:spPr>
      </p:sp>
      <p:sp>
        <p:nvSpPr>
          <p:cNvPr id="11" name="Shape 8"/>
          <p:cNvSpPr/>
          <p:nvPr/>
        </p:nvSpPr>
        <p:spPr>
          <a:xfrm>
            <a:off x="7498080" y="2313432"/>
            <a:ext cx="594360" cy="310896"/>
          </a:xfrm>
          <a:prstGeom prst="roundRect">
            <a:avLst>
              <a:gd name="adj" fmla="val 23529"/>
            </a:avLst>
          </a:prstGeom>
          <a:solidFill>
            <a:schemeClr val="accent2"/>
          </a:solidFill>
          <a:ln/>
        </p:spPr>
      </p:sp>
      <p:sp>
        <p:nvSpPr>
          <p:cNvPr id="12" name="Text 9"/>
          <p:cNvSpPr txBox="1"/>
          <p:nvPr/>
        </p:nvSpPr>
        <p:spPr>
          <a:xfrm>
            <a:off x="7498080" y="23134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RY(x)</a:t>
            </a:r>
            <a:endParaRPr lang="en-US" sz="900" dirty="0"/>
          </a:p>
        </p:txBody>
      </p:sp>
      <p:sp>
        <p:nvSpPr>
          <p:cNvPr id="13" name="Shape 10"/>
          <p:cNvSpPr/>
          <p:nvPr/>
        </p:nvSpPr>
        <p:spPr>
          <a:xfrm>
            <a:off x="8156448" y="2313432"/>
            <a:ext cx="594360" cy="310896"/>
          </a:xfrm>
          <a:prstGeom prst="roundRect">
            <a:avLst>
              <a:gd name="adj" fmla="val 23529"/>
            </a:avLst>
          </a:prstGeom>
          <a:solidFill>
            <a:schemeClr val="accent2"/>
          </a:solidFill>
          <a:ln/>
        </p:spPr>
      </p:sp>
      <p:sp>
        <p:nvSpPr>
          <p:cNvPr id="14" name="Text 11"/>
          <p:cNvSpPr txBox="1"/>
          <p:nvPr/>
        </p:nvSpPr>
        <p:spPr>
          <a:xfrm>
            <a:off x="8156448" y="23134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RX(x)</a:t>
            </a:r>
            <a:endParaRPr lang="en-US" sz="900" dirty="0"/>
          </a:p>
        </p:txBody>
      </p:sp>
      <p:sp>
        <p:nvSpPr>
          <p:cNvPr id="15" name="Shape 12"/>
          <p:cNvSpPr/>
          <p:nvPr/>
        </p:nvSpPr>
        <p:spPr>
          <a:xfrm>
            <a:off x="9052560" y="2313432"/>
            <a:ext cx="640080" cy="310896"/>
          </a:xfrm>
          <a:prstGeom prst="roundRect">
            <a:avLst>
              <a:gd name="adj" fmla="val 23529"/>
            </a:avLst>
          </a:prstGeom>
          <a:solidFill>
            <a:schemeClr val="accent1"/>
          </a:solidFill>
          <a:ln/>
        </p:spPr>
      </p:sp>
      <p:sp>
        <p:nvSpPr>
          <p:cNvPr id="16" name="Text 13"/>
          <p:cNvSpPr txBox="1"/>
          <p:nvPr/>
        </p:nvSpPr>
        <p:spPr>
          <a:xfrm>
            <a:off x="9052560" y="2313432"/>
            <a:ext cx="64008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RY(θ)</a:t>
            </a:r>
            <a:endParaRPr lang="en-US" sz="900" dirty="0"/>
          </a:p>
        </p:txBody>
      </p:sp>
      <p:sp>
        <p:nvSpPr>
          <p:cNvPr id="17" name="Shape 14"/>
          <p:cNvSpPr/>
          <p:nvPr/>
        </p:nvSpPr>
        <p:spPr>
          <a:xfrm>
            <a:off x="10972800" y="2313432"/>
            <a:ext cx="457200" cy="310896"/>
          </a:xfrm>
          <a:prstGeom prst="roundRect">
            <a:avLst>
              <a:gd name="adj" fmla="val 23529"/>
            </a:avLst>
          </a:prstGeom>
          <a:solidFill>
            <a:schemeClr val="accent4"/>
          </a:solidFill>
          <a:ln/>
        </p:spPr>
      </p:sp>
      <p:sp>
        <p:nvSpPr>
          <p:cNvPr id="18" name="Text 15"/>
          <p:cNvSpPr txBox="1"/>
          <p:nvPr/>
        </p:nvSpPr>
        <p:spPr>
          <a:xfrm>
            <a:off x="10972800" y="2313432"/>
            <a:ext cx="457200" cy="310896"/>
          </a:xfrm>
          <a:prstGeom prst="rect">
            <a:avLst/>
          </a:prstGeom>
          <a:noFill/>
          <a:ln/>
        </p:spPr>
        <p:txBody>
          <a:bodyPr wrap="square" lIns="635" tIns="635" rIns="635" bIns="635" rtlCol="0" anchor="ctr"/>
          <a:lstStyle/>
          <a:p>
            <a:pPr algn="ctr" indent="0" marL="0">
              <a:buNone/>
            </a:pPr>
            <a:r>
              <a:rPr lang="en-US" sz="1000" b="1" dirty="0">
                <a:solidFill>
                  <a:schemeClr val="bg1"/>
                </a:solidFill>
              </a:rPr>
              <a:t>⟨X⟩</a:t>
            </a:r>
            <a:endParaRPr lang="en-US" sz="1000" dirty="0"/>
          </a:p>
        </p:txBody>
      </p:sp>
      <p:sp>
        <p:nvSpPr>
          <p:cNvPr id="19" name="Text 16"/>
          <p:cNvSpPr txBox="1"/>
          <p:nvPr/>
        </p:nvSpPr>
        <p:spPr>
          <a:xfrm>
            <a:off x="6967728" y="27889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q1</a:t>
            </a:r>
            <a:endParaRPr lang="en-US" sz="1100" dirty="0"/>
          </a:p>
        </p:txBody>
      </p:sp>
      <p:sp>
        <p:nvSpPr>
          <p:cNvPr id="20" name="Shape 17"/>
          <p:cNvSpPr/>
          <p:nvPr/>
        </p:nvSpPr>
        <p:spPr>
          <a:xfrm>
            <a:off x="7406640" y="2926080"/>
            <a:ext cx="4069080" cy="0"/>
          </a:xfrm>
          <a:prstGeom prst="line">
            <a:avLst/>
          </a:prstGeom>
          <a:noFill/>
          <a:ln w="9525">
            <a:solidFill>
              <a:schemeClr val="accent6"/>
            </a:solidFill>
            <a:prstDash val="solid"/>
          </a:ln>
        </p:spPr>
      </p:sp>
      <p:sp>
        <p:nvSpPr>
          <p:cNvPr id="21" name="Shape 18"/>
          <p:cNvSpPr/>
          <p:nvPr/>
        </p:nvSpPr>
        <p:spPr>
          <a:xfrm>
            <a:off x="7498080" y="2770632"/>
            <a:ext cx="594360" cy="310896"/>
          </a:xfrm>
          <a:prstGeom prst="roundRect">
            <a:avLst>
              <a:gd name="adj" fmla="val 23529"/>
            </a:avLst>
          </a:prstGeom>
          <a:solidFill>
            <a:schemeClr val="accent2"/>
          </a:solidFill>
          <a:ln/>
        </p:spPr>
      </p:sp>
      <p:sp>
        <p:nvSpPr>
          <p:cNvPr id="22" name="Text 19"/>
          <p:cNvSpPr txBox="1"/>
          <p:nvPr/>
        </p:nvSpPr>
        <p:spPr>
          <a:xfrm>
            <a:off x="7498080" y="27706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RY(x)</a:t>
            </a:r>
            <a:endParaRPr lang="en-US" sz="900" dirty="0"/>
          </a:p>
        </p:txBody>
      </p:sp>
      <p:sp>
        <p:nvSpPr>
          <p:cNvPr id="23" name="Shape 20"/>
          <p:cNvSpPr/>
          <p:nvPr/>
        </p:nvSpPr>
        <p:spPr>
          <a:xfrm>
            <a:off x="8156448" y="2770632"/>
            <a:ext cx="594360" cy="310896"/>
          </a:xfrm>
          <a:prstGeom prst="roundRect">
            <a:avLst>
              <a:gd name="adj" fmla="val 23529"/>
            </a:avLst>
          </a:prstGeom>
          <a:solidFill>
            <a:schemeClr val="accent2"/>
          </a:solidFill>
          <a:ln/>
        </p:spPr>
      </p:sp>
      <p:sp>
        <p:nvSpPr>
          <p:cNvPr id="24" name="Text 21"/>
          <p:cNvSpPr txBox="1"/>
          <p:nvPr/>
        </p:nvSpPr>
        <p:spPr>
          <a:xfrm>
            <a:off x="8156448" y="27706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RX(x)</a:t>
            </a:r>
            <a:endParaRPr lang="en-US" sz="900" dirty="0"/>
          </a:p>
        </p:txBody>
      </p:sp>
      <p:sp>
        <p:nvSpPr>
          <p:cNvPr id="25" name="Shape 22"/>
          <p:cNvSpPr/>
          <p:nvPr/>
        </p:nvSpPr>
        <p:spPr>
          <a:xfrm>
            <a:off x="9052560" y="2770632"/>
            <a:ext cx="640080" cy="310896"/>
          </a:xfrm>
          <a:prstGeom prst="roundRect">
            <a:avLst>
              <a:gd name="adj" fmla="val 23529"/>
            </a:avLst>
          </a:prstGeom>
          <a:solidFill>
            <a:schemeClr val="accent1"/>
          </a:solidFill>
          <a:ln/>
        </p:spPr>
      </p:sp>
      <p:sp>
        <p:nvSpPr>
          <p:cNvPr id="26" name="Text 23"/>
          <p:cNvSpPr txBox="1"/>
          <p:nvPr/>
        </p:nvSpPr>
        <p:spPr>
          <a:xfrm>
            <a:off x="9052560" y="2770632"/>
            <a:ext cx="64008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RY(θ)</a:t>
            </a:r>
            <a:endParaRPr lang="en-US" sz="900" dirty="0"/>
          </a:p>
        </p:txBody>
      </p:sp>
      <p:sp>
        <p:nvSpPr>
          <p:cNvPr id="27" name="Shape 24"/>
          <p:cNvSpPr/>
          <p:nvPr/>
        </p:nvSpPr>
        <p:spPr>
          <a:xfrm>
            <a:off x="10972800" y="2770632"/>
            <a:ext cx="457200" cy="310896"/>
          </a:xfrm>
          <a:prstGeom prst="roundRect">
            <a:avLst>
              <a:gd name="adj" fmla="val 23529"/>
            </a:avLst>
          </a:prstGeom>
          <a:solidFill>
            <a:schemeClr val="accent4"/>
          </a:solidFill>
          <a:ln/>
        </p:spPr>
      </p:sp>
      <p:sp>
        <p:nvSpPr>
          <p:cNvPr id="28" name="Text 25"/>
          <p:cNvSpPr txBox="1"/>
          <p:nvPr/>
        </p:nvSpPr>
        <p:spPr>
          <a:xfrm>
            <a:off x="10972800" y="2770632"/>
            <a:ext cx="457200" cy="310896"/>
          </a:xfrm>
          <a:prstGeom prst="rect">
            <a:avLst/>
          </a:prstGeom>
          <a:noFill/>
          <a:ln/>
        </p:spPr>
        <p:txBody>
          <a:bodyPr wrap="square" lIns="635" tIns="635" rIns="635" bIns="635" rtlCol="0" anchor="ctr"/>
          <a:lstStyle/>
          <a:p>
            <a:pPr algn="ctr" indent="0" marL="0">
              <a:buNone/>
            </a:pPr>
            <a:r>
              <a:rPr lang="en-US" sz="1000" b="1" dirty="0">
                <a:solidFill>
                  <a:schemeClr val="bg1"/>
                </a:solidFill>
              </a:rPr>
              <a:t>⟨X⟩</a:t>
            </a:r>
            <a:endParaRPr lang="en-US" sz="1000" dirty="0"/>
          </a:p>
        </p:txBody>
      </p:sp>
      <p:sp>
        <p:nvSpPr>
          <p:cNvPr id="29" name="Text 26"/>
          <p:cNvSpPr txBox="1"/>
          <p:nvPr/>
        </p:nvSpPr>
        <p:spPr>
          <a:xfrm>
            <a:off x="6967728" y="32461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q2</a:t>
            </a:r>
            <a:endParaRPr lang="en-US" sz="1100" dirty="0"/>
          </a:p>
        </p:txBody>
      </p:sp>
      <p:sp>
        <p:nvSpPr>
          <p:cNvPr id="30" name="Shape 27"/>
          <p:cNvSpPr/>
          <p:nvPr/>
        </p:nvSpPr>
        <p:spPr>
          <a:xfrm>
            <a:off x="7406640" y="3383280"/>
            <a:ext cx="4069080" cy="0"/>
          </a:xfrm>
          <a:prstGeom prst="line">
            <a:avLst/>
          </a:prstGeom>
          <a:noFill/>
          <a:ln w="9525">
            <a:solidFill>
              <a:schemeClr val="accent6"/>
            </a:solidFill>
            <a:prstDash val="solid"/>
          </a:ln>
        </p:spPr>
      </p:sp>
      <p:sp>
        <p:nvSpPr>
          <p:cNvPr id="31" name="Shape 28"/>
          <p:cNvSpPr/>
          <p:nvPr/>
        </p:nvSpPr>
        <p:spPr>
          <a:xfrm>
            <a:off x="7498080" y="3227832"/>
            <a:ext cx="594360" cy="310896"/>
          </a:xfrm>
          <a:prstGeom prst="roundRect">
            <a:avLst>
              <a:gd name="adj" fmla="val 23529"/>
            </a:avLst>
          </a:prstGeom>
          <a:solidFill>
            <a:schemeClr val="accent2"/>
          </a:solidFill>
          <a:ln/>
        </p:spPr>
      </p:sp>
      <p:sp>
        <p:nvSpPr>
          <p:cNvPr id="32" name="Text 29"/>
          <p:cNvSpPr txBox="1"/>
          <p:nvPr/>
        </p:nvSpPr>
        <p:spPr>
          <a:xfrm>
            <a:off x="7498080" y="32278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RY(x)</a:t>
            </a:r>
            <a:endParaRPr lang="en-US" sz="900" dirty="0"/>
          </a:p>
        </p:txBody>
      </p:sp>
      <p:sp>
        <p:nvSpPr>
          <p:cNvPr id="33" name="Shape 30"/>
          <p:cNvSpPr/>
          <p:nvPr/>
        </p:nvSpPr>
        <p:spPr>
          <a:xfrm>
            <a:off x="8156448" y="3227832"/>
            <a:ext cx="594360" cy="310896"/>
          </a:xfrm>
          <a:prstGeom prst="roundRect">
            <a:avLst>
              <a:gd name="adj" fmla="val 23529"/>
            </a:avLst>
          </a:prstGeom>
          <a:solidFill>
            <a:schemeClr val="accent2"/>
          </a:solidFill>
          <a:ln/>
        </p:spPr>
      </p:sp>
      <p:sp>
        <p:nvSpPr>
          <p:cNvPr id="34" name="Text 31"/>
          <p:cNvSpPr txBox="1"/>
          <p:nvPr/>
        </p:nvSpPr>
        <p:spPr>
          <a:xfrm>
            <a:off x="8156448" y="32278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RX(x)</a:t>
            </a:r>
            <a:endParaRPr lang="en-US" sz="900" dirty="0"/>
          </a:p>
        </p:txBody>
      </p:sp>
      <p:sp>
        <p:nvSpPr>
          <p:cNvPr id="35" name="Shape 32"/>
          <p:cNvSpPr/>
          <p:nvPr/>
        </p:nvSpPr>
        <p:spPr>
          <a:xfrm>
            <a:off x="9052560" y="3227832"/>
            <a:ext cx="640080" cy="310896"/>
          </a:xfrm>
          <a:prstGeom prst="roundRect">
            <a:avLst>
              <a:gd name="adj" fmla="val 23529"/>
            </a:avLst>
          </a:prstGeom>
          <a:solidFill>
            <a:schemeClr val="accent1"/>
          </a:solidFill>
          <a:ln/>
        </p:spPr>
      </p:sp>
      <p:sp>
        <p:nvSpPr>
          <p:cNvPr id="36" name="Text 33"/>
          <p:cNvSpPr txBox="1"/>
          <p:nvPr/>
        </p:nvSpPr>
        <p:spPr>
          <a:xfrm>
            <a:off x="9052560" y="3227832"/>
            <a:ext cx="64008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RY(θ)</a:t>
            </a:r>
            <a:endParaRPr lang="en-US" sz="900" dirty="0"/>
          </a:p>
        </p:txBody>
      </p:sp>
      <p:sp>
        <p:nvSpPr>
          <p:cNvPr id="37" name="Shape 34"/>
          <p:cNvSpPr/>
          <p:nvPr/>
        </p:nvSpPr>
        <p:spPr>
          <a:xfrm>
            <a:off x="10972800" y="3227832"/>
            <a:ext cx="457200" cy="310896"/>
          </a:xfrm>
          <a:prstGeom prst="roundRect">
            <a:avLst>
              <a:gd name="adj" fmla="val 23529"/>
            </a:avLst>
          </a:prstGeom>
          <a:solidFill>
            <a:schemeClr val="accent4"/>
          </a:solidFill>
          <a:ln/>
        </p:spPr>
      </p:sp>
      <p:sp>
        <p:nvSpPr>
          <p:cNvPr id="38" name="Text 35"/>
          <p:cNvSpPr txBox="1"/>
          <p:nvPr/>
        </p:nvSpPr>
        <p:spPr>
          <a:xfrm>
            <a:off x="10972800" y="3227832"/>
            <a:ext cx="457200" cy="310896"/>
          </a:xfrm>
          <a:prstGeom prst="rect">
            <a:avLst/>
          </a:prstGeom>
          <a:noFill/>
          <a:ln/>
        </p:spPr>
        <p:txBody>
          <a:bodyPr wrap="square" lIns="635" tIns="635" rIns="635" bIns="635" rtlCol="0" anchor="ctr"/>
          <a:lstStyle/>
          <a:p>
            <a:pPr algn="ctr" indent="0" marL="0">
              <a:buNone/>
            </a:pPr>
            <a:r>
              <a:rPr lang="en-US" sz="1000" b="1" dirty="0">
                <a:solidFill>
                  <a:schemeClr val="bg1"/>
                </a:solidFill>
              </a:rPr>
              <a:t>⟨X⟩</a:t>
            </a:r>
            <a:endParaRPr lang="en-US" sz="1000" dirty="0"/>
          </a:p>
        </p:txBody>
      </p:sp>
      <p:sp>
        <p:nvSpPr>
          <p:cNvPr id="39" name="Text 36"/>
          <p:cNvSpPr txBox="1"/>
          <p:nvPr/>
        </p:nvSpPr>
        <p:spPr>
          <a:xfrm>
            <a:off x="6967728" y="37033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a:t>
            </a:r>
            <a:endParaRPr lang="en-US" sz="1100" dirty="0"/>
          </a:p>
        </p:txBody>
      </p:sp>
      <p:sp>
        <p:nvSpPr>
          <p:cNvPr id="40" name="Text 37"/>
          <p:cNvSpPr txBox="1"/>
          <p:nvPr/>
        </p:nvSpPr>
        <p:spPr>
          <a:xfrm>
            <a:off x="6967728" y="41605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q14</a:t>
            </a:r>
            <a:endParaRPr lang="en-US" sz="1100" dirty="0"/>
          </a:p>
        </p:txBody>
      </p:sp>
      <p:sp>
        <p:nvSpPr>
          <p:cNvPr id="41" name="Shape 38"/>
          <p:cNvSpPr/>
          <p:nvPr/>
        </p:nvSpPr>
        <p:spPr>
          <a:xfrm>
            <a:off x="7406640" y="4297680"/>
            <a:ext cx="4069080" cy="0"/>
          </a:xfrm>
          <a:prstGeom prst="line">
            <a:avLst/>
          </a:prstGeom>
          <a:noFill/>
          <a:ln w="9525">
            <a:solidFill>
              <a:schemeClr val="accent6"/>
            </a:solidFill>
            <a:prstDash val="solid"/>
          </a:ln>
        </p:spPr>
      </p:sp>
      <p:sp>
        <p:nvSpPr>
          <p:cNvPr id="42" name="Shape 39"/>
          <p:cNvSpPr/>
          <p:nvPr/>
        </p:nvSpPr>
        <p:spPr>
          <a:xfrm>
            <a:off x="7498080" y="4142232"/>
            <a:ext cx="594360" cy="310896"/>
          </a:xfrm>
          <a:prstGeom prst="roundRect">
            <a:avLst>
              <a:gd name="adj" fmla="val 23529"/>
            </a:avLst>
          </a:prstGeom>
          <a:solidFill>
            <a:schemeClr val="accent2"/>
          </a:solidFill>
          <a:ln/>
        </p:spPr>
      </p:sp>
      <p:sp>
        <p:nvSpPr>
          <p:cNvPr id="43" name="Text 40"/>
          <p:cNvSpPr txBox="1"/>
          <p:nvPr/>
        </p:nvSpPr>
        <p:spPr>
          <a:xfrm>
            <a:off x="7498080" y="41422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RY(x)</a:t>
            </a:r>
            <a:endParaRPr lang="en-US" sz="900" dirty="0"/>
          </a:p>
        </p:txBody>
      </p:sp>
      <p:sp>
        <p:nvSpPr>
          <p:cNvPr id="44" name="Shape 41"/>
          <p:cNvSpPr/>
          <p:nvPr/>
        </p:nvSpPr>
        <p:spPr>
          <a:xfrm>
            <a:off x="8156448" y="4142232"/>
            <a:ext cx="594360" cy="310896"/>
          </a:xfrm>
          <a:prstGeom prst="roundRect">
            <a:avLst>
              <a:gd name="adj" fmla="val 23529"/>
            </a:avLst>
          </a:prstGeom>
          <a:solidFill>
            <a:schemeClr val="accent2"/>
          </a:solidFill>
          <a:ln/>
        </p:spPr>
      </p:sp>
      <p:sp>
        <p:nvSpPr>
          <p:cNvPr id="45" name="Text 42"/>
          <p:cNvSpPr txBox="1"/>
          <p:nvPr/>
        </p:nvSpPr>
        <p:spPr>
          <a:xfrm>
            <a:off x="8156448" y="41422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RX(x)</a:t>
            </a:r>
            <a:endParaRPr lang="en-US" sz="900" dirty="0"/>
          </a:p>
        </p:txBody>
      </p:sp>
      <p:sp>
        <p:nvSpPr>
          <p:cNvPr id="46" name="Shape 43"/>
          <p:cNvSpPr/>
          <p:nvPr/>
        </p:nvSpPr>
        <p:spPr>
          <a:xfrm>
            <a:off x="9052560" y="4142232"/>
            <a:ext cx="640080" cy="310896"/>
          </a:xfrm>
          <a:prstGeom prst="roundRect">
            <a:avLst>
              <a:gd name="adj" fmla="val 23529"/>
            </a:avLst>
          </a:prstGeom>
          <a:solidFill>
            <a:schemeClr val="accent1"/>
          </a:solidFill>
          <a:ln/>
        </p:spPr>
      </p:sp>
      <p:sp>
        <p:nvSpPr>
          <p:cNvPr id="47" name="Text 44"/>
          <p:cNvSpPr txBox="1"/>
          <p:nvPr/>
        </p:nvSpPr>
        <p:spPr>
          <a:xfrm>
            <a:off x="9052560" y="4142232"/>
            <a:ext cx="64008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RY(θ)</a:t>
            </a:r>
            <a:endParaRPr lang="en-US" sz="900" dirty="0"/>
          </a:p>
        </p:txBody>
      </p:sp>
      <p:sp>
        <p:nvSpPr>
          <p:cNvPr id="48" name="Shape 45"/>
          <p:cNvSpPr/>
          <p:nvPr/>
        </p:nvSpPr>
        <p:spPr>
          <a:xfrm>
            <a:off x="10972800" y="4142232"/>
            <a:ext cx="457200" cy="310896"/>
          </a:xfrm>
          <a:prstGeom prst="roundRect">
            <a:avLst>
              <a:gd name="adj" fmla="val 23529"/>
            </a:avLst>
          </a:prstGeom>
          <a:solidFill>
            <a:schemeClr val="accent4"/>
          </a:solidFill>
          <a:ln/>
        </p:spPr>
      </p:sp>
      <p:sp>
        <p:nvSpPr>
          <p:cNvPr id="49" name="Text 46"/>
          <p:cNvSpPr txBox="1"/>
          <p:nvPr/>
        </p:nvSpPr>
        <p:spPr>
          <a:xfrm>
            <a:off x="10972800" y="4142232"/>
            <a:ext cx="457200" cy="310896"/>
          </a:xfrm>
          <a:prstGeom prst="rect">
            <a:avLst/>
          </a:prstGeom>
          <a:noFill/>
          <a:ln/>
        </p:spPr>
        <p:txBody>
          <a:bodyPr wrap="square" lIns="635" tIns="635" rIns="635" bIns="635" rtlCol="0" anchor="ctr"/>
          <a:lstStyle/>
          <a:p>
            <a:pPr algn="ctr" indent="0" marL="0">
              <a:buNone/>
            </a:pPr>
            <a:r>
              <a:rPr lang="en-US" sz="1000" b="1" dirty="0">
                <a:solidFill>
                  <a:schemeClr val="bg1"/>
                </a:solidFill>
              </a:rPr>
              <a:t>⟨X⟩</a:t>
            </a:r>
            <a:endParaRPr lang="en-US" sz="1000" dirty="0"/>
          </a:p>
        </p:txBody>
      </p:sp>
      <p:sp>
        <p:nvSpPr>
          <p:cNvPr id="50" name="Text 47"/>
          <p:cNvSpPr txBox="1"/>
          <p:nvPr/>
        </p:nvSpPr>
        <p:spPr>
          <a:xfrm>
            <a:off x="6967728" y="4617720"/>
            <a:ext cx="457200" cy="274320"/>
          </a:xfrm>
          <a:prstGeom prst="rect">
            <a:avLst/>
          </a:prstGeom>
          <a:noFill/>
          <a:ln/>
        </p:spPr>
        <p:txBody>
          <a:bodyPr wrap="square" lIns="0" tIns="0" rIns="0" bIns="0" rtlCol="0" anchor="ctr"/>
          <a:lstStyle/>
          <a:p>
            <a:pPr indent="0" marL="0">
              <a:buNone/>
            </a:pPr>
            <a:r>
              <a:rPr lang="en-US" sz="1100" b="1" dirty="0">
                <a:solidFill>
                  <a:schemeClr val="tx1"/>
                </a:solidFill>
              </a:rPr>
              <a:t>q15</a:t>
            </a:r>
            <a:endParaRPr lang="en-US" sz="1100" dirty="0"/>
          </a:p>
        </p:txBody>
      </p:sp>
      <p:sp>
        <p:nvSpPr>
          <p:cNvPr id="51" name="Shape 48"/>
          <p:cNvSpPr/>
          <p:nvPr/>
        </p:nvSpPr>
        <p:spPr>
          <a:xfrm>
            <a:off x="7406640" y="4754880"/>
            <a:ext cx="4069080" cy="0"/>
          </a:xfrm>
          <a:prstGeom prst="line">
            <a:avLst/>
          </a:prstGeom>
          <a:noFill/>
          <a:ln w="9525">
            <a:solidFill>
              <a:schemeClr val="accent6"/>
            </a:solidFill>
            <a:prstDash val="solid"/>
          </a:ln>
        </p:spPr>
      </p:sp>
      <p:sp>
        <p:nvSpPr>
          <p:cNvPr id="52" name="Shape 49"/>
          <p:cNvSpPr/>
          <p:nvPr/>
        </p:nvSpPr>
        <p:spPr>
          <a:xfrm>
            <a:off x="7498080" y="4599432"/>
            <a:ext cx="594360" cy="310896"/>
          </a:xfrm>
          <a:prstGeom prst="roundRect">
            <a:avLst>
              <a:gd name="adj" fmla="val 23529"/>
            </a:avLst>
          </a:prstGeom>
          <a:solidFill>
            <a:schemeClr val="accent2"/>
          </a:solidFill>
          <a:ln/>
        </p:spPr>
      </p:sp>
      <p:sp>
        <p:nvSpPr>
          <p:cNvPr id="53" name="Text 50"/>
          <p:cNvSpPr txBox="1"/>
          <p:nvPr/>
        </p:nvSpPr>
        <p:spPr>
          <a:xfrm>
            <a:off x="7498080" y="45994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RY(x)</a:t>
            </a:r>
            <a:endParaRPr lang="en-US" sz="900" dirty="0"/>
          </a:p>
        </p:txBody>
      </p:sp>
      <p:sp>
        <p:nvSpPr>
          <p:cNvPr id="54" name="Shape 51"/>
          <p:cNvSpPr/>
          <p:nvPr/>
        </p:nvSpPr>
        <p:spPr>
          <a:xfrm>
            <a:off x="8156448" y="4599432"/>
            <a:ext cx="594360" cy="310896"/>
          </a:xfrm>
          <a:prstGeom prst="roundRect">
            <a:avLst>
              <a:gd name="adj" fmla="val 23529"/>
            </a:avLst>
          </a:prstGeom>
          <a:solidFill>
            <a:schemeClr val="accent2"/>
          </a:solidFill>
          <a:ln/>
        </p:spPr>
      </p:sp>
      <p:sp>
        <p:nvSpPr>
          <p:cNvPr id="55" name="Text 52"/>
          <p:cNvSpPr txBox="1"/>
          <p:nvPr/>
        </p:nvSpPr>
        <p:spPr>
          <a:xfrm>
            <a:off x="8156448" y="4599432"/>
            <a:ext cx="59436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RX(x)</a:t>
            </a:r>
            <a:endParaRPr lang="en-US" sz="900" dirty="0"/>
          </a:p>
        </p:txBody>
      </p:sp>
      <p:sp>
        <p:nvSpPr>
          <p:cNvPr id="56" name="Shape 53"/>
          <p:cNvSpPr/>
          <p:nvPr/>
        </p:nvSpPr>
        <p:spPr>
          <a:xfrm>
            <a:off x="9052560" y="4599432"/>
            <a:ext cx="640080" cy="310896"/>
          </a:xfrm>
          <a:prstGeom prst="roundRect">
            <a:avLst>
              <a:gd name="adj" fmla="val 23529"/>
            </a:avLst>
          </a:prstGeom>
          <a:solidFill>
            <a:schemeClr val="accent1"/>
          </a:solidFill>
          <a:ln/>
        </p:spPr>
      </p:sp>
      <p:sp>
        <p:nvSpPr>
          <p:cNvPr id="57" name="Text 54"/>
          <p:cNvSpPr txBox="1"/>
          <p:nvPr/>
        </p:nvSpPr>
        <p:spPr>
          <a:xfrm>
            <a:off x="9052560" y="4599432"/>
            <a:ext cx="640080" cy="310896"/>
          </a:xfrm>
          <a:prstGeom prst="rect">
            <a:avLst/>
          </a:prstGeom>
          <a:noFill/>
          <a:ln/>
        </p:spPr>
        <p:txBody>
          <a:bodyPr wrap="square" lIns="635" tIns="635" rIns="635" bIns="635" rtlCol="0" anchor="ctr"/>
          <a:lstStyle/>
          <a:p>
            <a:pPr algn="ctr" indent="0" marL="0">
              <a:buNone/>
            </a:pPr>
            <a:r>
              <a:rPr lang="en-US" sz="900" b="1" dirty="0">
                <a:solidFill>
                  <a:schemeClr val="bg1"/>
                </a:solidFill>
              </a:rPr>
              <a:t>RY(θ)</a:t>
            </a:r>
            <a:endParaRPr lang="en-US" sz="900" dirty="0"/>
          </a:p>
        </p:txBody>
      </p:sp>
      <p:sp>
        <p:nvSpPr>
          <p:cNvPr id="58" name="Shape 55"/>
          <p:cNvSpPr/>
          <p:nvPr/>
        </p:nvSpPr>
        <p:spPr>
          <a:xfrm>
            <a:off x="10972800" y="4599432"/>
            <a:ext cx="457200" cy="310896"/>
          </a:xfrm>
          <a:prstGeom prst="roundRect">
            <a:avLst>
              <a:gd name="adj" fmla="val 23529"/>
            </a:avLst>
          </a:prstGeom>
          <a:solidFill>
            <a:schemeClr val="accent4"/>
          </a:solidFill>
          <a:ln/>
        </p:spPr>
      </p:sp>
      <p:sp>
        <p:nvSpPr>
          <p:cNvPr id="59" name="Text 56"/>
          <p:cNvSpPr txBox="1"/>
          <p:nvPr/>
        </p:nvSpPr>
        <p:spPr>
          <a:xfrm>
            <a:off x="10972800" y="4599432"/>
            <a:ext cx="457200" cy="310896"/>
          </a:xfrm>
          <a:prstGeom prst="rect">
            <a:avLst/>
          </a:prstGeom>
          <a:noFill/>
          <a:ln/>
        </p:spPr>
        <p:txBody>
          <a:bodyPr wrap="square" lIns="635" tIns="635" rIns="635" bIns="635" rtlCol="0" anchor="ctr"/>
          <a:lstStyle/>
          <a:p>
            <a:pPr algn="ctr" indent="0" marL="0">
              <a:buNone/>
            </a:pPr>
            <a:r>
              <a:rPr lang="en-US" sz="1000" b="1" dirty="0">
                <a:solidFill>
                  <a:schemeClr val="bg1"/>
                </a:solidFill>
              </a:rPr>
              <a:t>⟨X⟩</a:t>
            </a:r>
            <a:endParaRPr lang="en-US" sz="1000" dirty="0"/>
          </a:p>
        </p:txBody>
      </p:sp>
      <p:sp>
        <p:nvSpPr>
          <p:cNvPr id="60" name="Shape 57"/>
          <p:cNvSpPr/>
          <p:nvPr/>
        </p:nvSpPr>
        <p:spPr>
          <a:xfrm>
            <a:off x="9866376" y="2414016"/>
            <a:ext cx="109728" cy="109728"/>
          </a:xfrm>
          <a:prstGeom prst="ellipse">
            <a:avLst/>
          </a:prstGeom>
          <a:solidFill>
            <a:schemeClr val="tx1"/>
          </a:solidFill>
          <a:ln/>
        </p:spPr>
      </p:sp>
      <p:sp>
        <p:nvSpPr>
          <p:cNvPr id="61" name="Shape 58"/>
          <p:cNvSpPr/>
          <p:nvPr/>
        </p:nvSpPr>
        <p:spPr>
          <a:xfrm>
            <a:off x="9866376" y="2871216"/>
            <a:ext cx="109728" cy="109728"/>
          </a:xfrm>
          <a:prstGeom prst="ellipse">
            <a:avLst/>
          </a:prstGeom>
          <a:solidFill>
            <a:schemeClr val="tx1"/>
          </a:solidFill>
          <a:ln/>
        </p:spPr>
      </p:sp>
      <p:sp>
        <p:nvSpPr>
          <p:cNvPr id="62" name="Shape 59"/>
          <p:cNvSpPr/>
          <p:nvPr/>
        </p:nvSpPr>
        <p:spPr>
          <a:xfrm>
            <a:off x="9921240" y="2468880"/>
            <a:ext cx="0" cy="457200"/>
          </a:xfrm>
          <a:prstGeom prst="line">
            <a:avLst/>
          </a:prstGeom>
          <a:noFill/>
          <a:ln w="15875">
            <a:solidFill>
              <a:schemeClr val="tx1"/>
            </a:solidFill>
            <a:prstDash val="solid"/>
          </a:ln>
        </p:spPr>
      </p:sp>
      <p:sp>
        <p:nvSpPr>
          <p:cNvPr id="63" name="Shape 60"/>
          <p:cNvSpPr/>
          <p:nvPr/>
        </p:nvSpPr>
        <p:spPr>
          <a:xfrm>
            <a:off x="10158984" y="2871216"/>
            <a:ext cx="109728" cy="109728"/>
          </a:xfrm>
          <a:prstGeom prst="ellipse">
            <a:avLst/>
          </a:prstGeom>
          <a:solidFill>
            <a:schemeClr val="tx1"/>
          </a:solidFill>
          <a:ln/>
        </p:spPr>
      </p:sp>
      <p:sp>
        <p:nvSpPr>
          <p:cNvPr id="64" name="Shape 61"/>
          <p:cNvSpPr/>
          <p:nvPr/>
        </p:nvSpPr>
        <p:spPr>
          <a:xfrm>
            <a:off x="10158984" y="3328416"/>
            <a:ext cx="109728" cy="109728"/>
          </a:xfrm>
          <a:prstGeom prst="ellipse">
            <a:avLst/>
          </a:prstGeom>
          <a:solidFill>
            <a:schemeClr val="tx1"/>
          </a:solidFill>
          <a:ln/>
        </p:spPr>
      </p:sp>
      <p:sp>
        <p:nvSpPr>
          <p:cNvPr id="65" name="Shape 62"/>
          <p:cNvSpPr/>
          <p:nvPr/>
        </p:nvSpPr>
        <p:spPr>
          <a:xfrm>
            <a:off x="10213848" y="2926080"/>
            <a:ext cx="0" cy="457200"/>
          </a:xfrm>
          <a:prstGeom prst="line">
            <a:avLst/>
          </a:prstGeom>
          <a:noFill/>
          <a:ln w="15875">
            <a:solidFill>
              <a:schemeClr val="tx1"/>
            </a:solidFill>
            <a:prstDash val="solid"/>
          </a:ln>
        </p:spPr>
      </p:sp>
      <p:sp>
        <p:nvSpPr>
          <p:cNvPr id="66" name="Shape 63"/>
          <p:cNvSpPr/>
          <p:nvPr/>
        </p:nvSpPr>
        <p:spPr>
          <a:xfrm>
            <a:off x="10451592" y="4242816"/>
            <a:ext cx="109728" cy="109728"/>
          </a:xfrm>
          <a:prstGeom prst="ellipse">
            <a:avLst/>
          </a:prstGeom>
          <a:solidFill>
            <a:schemeClr val="tx1"/>
          </a:solidFill>
          <a:ln/>
        </p:spPr>
      </p:sp>
      <p:sp>
        <p:nvSpPr>
          <p:cNvPr id="67" name="Shape 64"/>
          <p:cNvSpPr/>
          <p:nvPr/>
        </p:nvSpPr>
        <p:spPr>
          <a:xfrm>
            <a:off x="10451592" y="4700016"/>
            <a:ext cx="109728" cy="109728"/>
          </a:xfrm>
          <a:prstGeom prst="ellipse">
            <a:avLst/>
          </a:prstGeom>
          <a:solidFill>
            <a:schemeClr val="tx1"/>
          </a:solidFill>
          <a:ln/>
        </p:spPr>
      </p:sp>
      <p:sp>
        <p:nvSpPr>
          <p:cNvPr id="68" name="Shape 65"/>
          <p:cNvSpPr/>
          <p:nvPr/>
        </p:nvSpPr>
        <p:spPr>
          <a:xfrm>
            <a:off x="10506456" y="4297680"/>
            <a:ext cx="0" cy="457200"/>
          </a:xfrm>
          <a:prstGeom prst="line">
            <a:avLst/>
          </a:prstGeom>
          <a:noFill/>
          <a:ln w="15875">
            <a:solidFill>
              <a:schemeClr val="tx1"/>
            </a:solidFill>
            <a:prstDash val="solid"/>
          </a:ln>
        </p:spPr>
      </p:sp>
      <p:sp>
        <p:nvSpPr>
          <p:cNvPr id="69" name="Shape 66"/>
          <p:cNvSpPr/>
          <p:nvPr/>
        </p:nvSpPr>
        <p:spPr>
          <a:xfrm>
            <a:off x="8915400" y="2240280"/>
            <a:ext cx="1920240" cy="2834640"/>
          </a:xfrm>
          <a:prstGeom prst="roundRect">
            <a:avLst>
              <a:gd name="adj" fmla="val 4762"/>
            </a:avLst>
          </a:prstGeom>
          <a:ln w="15875">
            <a:solidFill>
              <a:schemeClr val="accent1"/>
            </a:solidFill>
            <a:prstDash val="dash"/>
          </a:ln>
        </p:spPr>
      </p:sp>
      <p:sp>
        <p:nvSpPr>
          <p:cNvPr id="70" name="Text 67"/>
          <p:cNvSpPr txBox="1"/>
          <p:nvPr/>
        </p:nvSpPr>
        <p:spPr>
          <a:xfrm>
            <a:off x="7406640" y="5257800"/>
            <a:ext cx="1463040" cy="274320"/>
          </a:xfrm>
          <a:prstGeom prst="rect">
            <a:avLst/>
          </a:prstGeom>
          <a:noFill/>
          <a:ln/>
        </p:spPr>
        <p:txBody>
          <a:bodyPr wrap="square" lIns="0" tIns="0" rIns="0" bIns="0" rtlCol="0" anchor="t"/>
          <a:lstStyle/>
          <a:p>
            <a:pPr algn="ctr" indent="0" marL="0">
              <a:buNone/>
            </a:pPr>
            <a:r>
              <a:rPr lang="en-US" sz="1100" b="1" dirty="0">
                <a:solidFill>
                  <a:schemeClr val="accent2"/>
                </a:solidFill>
              </a:rPr>
              <a:t>① encoding</a:t>
            </a:r>
            <a:endParaRPr lang="en-US" sz="1100" dirty="0"/>
          </a:p>
        </p:txBody>
      </p:sp>
      <p:sp>
        <p:nvSpPr>
          <p:cNvPr id="71" name="Text 68"/>
          <p:cNvSpPr txBox="1"/>
          <p:nvPr/>
        </p:nvSpPr>
        <p:spPr>
          <a:xfrm>
            <a:off x="8915400" y="5257800"/>
            <a:ext cx="1920240" cy="274320"/>
          </a:xfrm>
          <a:prstGeom prst="rect">
            <a:avLst/>
          </a:prstGeom>
          <a:noFill/>
          <a:ln/>
        </p:spPr>
        <p:txBody>
          <a:bodyPr wrap="square" lIns="0" tIns="0" rIns="0" bIns="0" rtlCol="0" anchor="t"/>
          <a:lstStyle/>
          <a:p>
            <a:pPr algn="ctr" indent="0" marL="0">
              <a:buNone/>
            </a:pPr>
            <a:r>
              <a:rPr lang="en-US" sz="1100" b="1" dirty="0">
                <a:solidFill>
                  <a:schemeClr val="accent1"/>
                </a:solidFill>
              </a:rPr>
              <a:t>② × 8 (RY + CZ 사슬)</a:t>
            </a:r>
            <a:endParaRPr lang="en-US" sz="1100" dirty="0"/>
          </a:p>
        </p:txBody>
      </p:sp>
      <p:sp>
        <p:nvSpPr>
          <p:cNvPr id="72" name="Text 69"/>
          <p:cNvSpPr txBox="1"/>
          <p:nvPr/>
        </p:nvSpPr>
        <p:spPr>
          <a:xfrm>
            <a:off x="10835640" y="5257800"/>
            <a:ext cx="731520" cy="274320"/>
          </a:xfrm>
          <a:prstGeom prst="rect">
            <a:avLst/>
          </a:prstGeom>
          <a:noFill/>
          <a:ln/>
        </p:spPr>
        <p:txBody>
          <a:bodyPr wrap="square" lIns="0" tIns="0" rIns="0" bIns="0" rtlCol="0" anchor="t"/>
          <a:lstStyle/>
          <a:p>
            <a:pPr algn="ctr" indent="0" marL="0">
              <a:buNone/>
            </a:pPr>
            <a:r>
              <a:rPr lang="en-US" sz="1100" b="1" dirty="0">
                <a:solidFill>
                  <a:schemeClr val="accent4"/>
                </a:solidFill>
              </a:rPr>
              <a:t>③ 측정</a:t>
            </a:r>
            <a:endParaRPr lang="en-US" sz="1100" dirty="0"/>
          </a:p>
        </p:txBody>
      </p:sp>
      <p:sp>
        <p:nvSpPr>
          <p:cNvPr id="73" name="Text 70"/>
          <p:cNvSpPr txBox="1"/>
          <p:nvPr/>
        </p:nvSpPr>
        <p:spPr>
          <a:xfrm>
            <a:off x="7086600" y="5596128"/>
            <a:ext cx="4297680" cy="320040"/>
          </a:xfrm>
          <a:prstGeom prst="rect">
            <a:avLst/>
          </a:prstGeom>
          <a:noFill/>
          <a:ln/>
        </p:spPr>
        <p:txBody>
          <a:bodyPr wrap="square" lIns="0" tIns="0" rIns="0" bIns="0" rtlCol="0" anchor="t"/>
          <a:lstStyle/>
          <a:p>
            <a:pPr algn="ctr" indent="0" marL="0">
              <a:buNone/>
            </a:pPr>
            <a:r>
              <a:rPr lang="en-US" sz="1200" dirty="0">
                <a:solidFill>
                  <a:schemeClr val="tx1"/>
                </a:solidFill>
              </a:rPr>
              <a:t>출력: 큐빗 16개의 기댓값 → 평균 → site당 스칼라 1개</a:t>
            </a:r>
            <a:endParaRPr lang="en-US" sz="12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노트북 §3 코드</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양자 stream - 16 site 중 5개만 회로로</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양자 쪽 입력을 4×4 = 16 site로 보고, 고른 5개 site만 sub-generator 회로가 처리함</a:t>
            </a:r>
            <a:endParaRPr lang="en-US" sz="1400" dirty="0"/>
          </a:p>
        </p:txBody>
      </p:sp>
      <p:sp>
        <p:nvSpPr>
          <p:cNvPr id="6" name="Shape 3"/>
          <p:cNvSpPr/>
          <p:nvPr/>
        </p:nvSpPr>
        <p:spPr>
          <a:xfrm>
            <a:off x="822960" y="2194560"/>
            <a:ext cx="749808" cy="749808"/>
          </a:xfrm>
          <a:prstGeom prst="rect">
            <a:avLst/>
          </a:prstGeom>
          <a:solidFill>
            <a:srgbClr val="5B3E8C"/>
          </a:solidFill>
          <a:ln w="25400">
            <a:solidFill>
              <a:srgbClr val="FFFFFF"/>
            </a:solidFill>
            <a:prstDash val="solid"/>
          </a:ln>
        </p:spPr>
      </p:sp>
      <p:sp>
        <p:nvSpPr>
          <p:cNvPr id="7" name="Text 4"/>
          <p:cNvSpPr txBox="1"/>
          <p:nvPr/>
        </p:nvSpPr>
        <p:spPr>
          <a:xfrm>
            <a:off x="822960" y="2194560"/>
            <a:ext cx="749808" cy="749808"/>
          </a:xfrm>
          <a:prstGeom prst="rect">
            <a:avLst/>
          </a:prstGeom>
          <a:noFill/>
          <a:ln/>
        </p:spPr>
        <p:txBody>
          <a:bodyPr wrap="square" lIns="0" tIns="0" rIns="0" bIns="0" rtlCol="0" anchor="ctr"/>
          <a:lstStyle/>
          <a:p>
            <a:pPr algn="ctr" indent="0" marL="0">
              <a:buNone/>
            </a:pPr>
            <a:r>
              <a:rPr lang="en-US" sz="1000" b="1" dirty="0">
                <a:solidFill>
                  <a:schemeClr val="bg1"/>
                </a:solidFill>
              </a:rPr>
              <a:t>site 0</a:t>
            </a:r>
            <a:endParaRPr lang="en-US" sz="1000" dirty="0"/>
          </a:p>
          <a:p>
            <a:pPr algn="ctr" indent="0" marL="0">
              <a:buNone/>
            </a:pPr>
            <a:r>
              <a:rPr lang="en-US" sz="1000" b="1" dirty="0">
                <a:solidFill>
                  <a:schemeClr val="bg1"/>
                </a:solidFill>
              </a:rPr>
              <a:t>gen 1</a:t>
            </a:r>
            <a:endParaRPr lang="en-US" sz="1000" dirty="0"/>
          </a:p>
        </p:txBody>
      </p:sp>
      <p:sp>
        <p:nvSpPr>
          <p:cNvPr id="8" name="Shape 5"/>
          <p:cNvSpPr/>
          <p:nvPr/>
        </p:nvSpPr>
        <p:spPr>
          <a:xfrm>
            <a:off x="1572768" y="2194560"/>
            <a:ext cx="749808" cy="749808"/>
          </a:xfrm>
          <a:prstGeom prst="rect">
            <a:avLst/>
          </a:prstGeom>
          <a:solidFill>
            <a:srgbClr val="F2F0EB"/>
          </a:solidFill>
          <a:ln w="25400">
            <a:solidFill>
              <a:srgbClr val="FFFFFF"/>
            </a:solidFill>
            <a:prstDash val="solid"/>
          </a:ln>
        </p:spPr>
      </p:sp>
      <p:sp>
        <p:nvSpPr>
          <p:cNvPr id="9" name="Text 6"/>
          <p:cNvSpPr txBox="1"/>
          <p:nvPr/>
        </p:nvSpPr>
        <p:spPr>
          <a:xfrm>
            <a:off x="1572768" y="2194560"/>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1</a:t>
            </a:r>
            <a:endParaRPr lang="en-US" sz="1000" dirty="0"/>
          </a:p>
          <a:p>
            <a:pPr algn="ctr" indent="0" marL="0">
              <a:buNone/>
            </a:pPr>
            <a:r>
              <a:rPr lang="en-US" sz="1000" dirty="0">
                <a:solidFill>
                  <a:schemeClr val="accent6"/>
                </a:solidFill>
              </a:rPr>
              <a:t>0</a:t>
            </a:r>
            <a:endParaRPr lang="en-US" sz="1000" dirty="0"/>
          </a:p>
        </p:txBody>
      </p:sp>
      <p:sp>
        <p:nvSpPr>
          <p:cNvPr id="10" name="Shape 7"/>
          <p:cNvSpPr/>
          <p:nvPr/>
        </p:nvSpPr>
        <p:spPr>
          <a:xfrm>
            <a:off x="2322576" y="2194560"/>
            <a:ext cx="749808" cy="749808"/>
          </a:xfrm>
          <a:prstGeom prst="rect">
            <a:avLst/>
          </a:prstGeom>
          <a:solidFill>
            <a:srgbClr val="F2F0EB"/>
          </a:solidFill>
          <a:ln w="25400">
            <a:solidFill>
              <a:srgbClr val="FFFFFF"/>
            </a:solidFill>
            <a:prstDash val="solid"/>
          </a:ln>
        </p:spPr>
      </p:sp>
      <p:sp>
        <p:nvSpPr>
          <p:cNvPr id="11" name="Text 8"/>
          <p:cNvSpPr txBox="1"/>
          <p:nvPr/>
        </p:nvSpPr>
        <p:spPr>
          <a:xfrm>
            <a:off x="2322576" y="2194560"/>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2</a:t>
            </a:r>
            <a:endParaRPr lang="en-US" sz="1000" dirty="0"/>
          </a:p>
          <a:p>
            <a:pPr algn="ctr" indent="0" marL="0">
              <a:buNone/>
            </a:pPr>
            <a:r>
              <a:rPr lang="en-US" sz="1000" dirty="0">
                <a:solidFill>
                  <a:schemeClr val="accent6"/>
                </a:solidFill>
              </a:rPr>
              <a:t>0</a:t>
            </a:r>
            <a:endParaRPr lang="en-US" sz="1000" dirty="0"/>
          </a:p>
        </p:txBody>
      </p:sp>
      <p:sp>
        <p:nvSpPr>
          <p:cNvPr id="12" name="Shape 9"/>
          <p:cNvSpPr/>
          <p:nvPr/>
        </p:nvSpPr>
        <p:spPr>
          <a:xfrm>
            <a:off x="3072384" y="2194560"/>
            <a:ext cx="749808" cy="749808"/>
          </a:xfrm>
          <a:prstGeom prst="rect">
            <a:avLst/>
          </a:prstGeom>
          <a:solidFill>
            <a:srgbClr val="F2F0EB"/>
          </a:solidFill>
          <a:ln w="25400">
            <a:solidFill>
              <a:srgbClr val="FFFFFF"/>
            </a:solidFill>
            <a:prstDash val="solid"/>
          </a:ln>
        </p:spPr>
      </p:sp>
      <p:sp>
        <p:nvSpPr>
          <p:cNvPr id="13" name="Text 10"/>
          <p:cNvSpPr txBox="1"/>
          <p:nvPr/>
        </p:nvSpPr>
        <p:spPr>
          <a:xfrm>
            <a:off x="3072384" y="2194560"/>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3</a:t>
            </a:r>
            <a:endParaRPr lang="en-US" sz="1000" dirty="0"/>
          </a:p>
          <a:p>
            <a:pPr algn="ctr" indent="0" marL="0">
              <a:buNone/>
            </a:pPr>
            <a:r>
              <a:rPr lang="en-US" sz="1000" dirty="0">
                <a:solidFill>
                  <a:schemeClr val="accent6"/>
                </a:solidFill>
              </a:rPr>
              <a:t>0</a:t>
            </a:r>
            <a:endParaRPr lang="en-US" sz="1000" dirty="0"/>
          </a:p>
        </p:txBody>
      </p:sp>
      <p:sp>
        <p:nvSpPr>
          <p:cNvPr id="14" name="Shape 11"/>
          <p:cNvSpPr/>
          <p:nvPr/>
        </p:nvSpPr>
        <p:spPr>
          <a:xfrm>
            <a:off x="822960" y="2944368"/>
            <a:ext cx="749808" cy="749808"/>
          </a:xfrm>
          <a:prstGeom prst="rect">
            <a:avLst/>
          </a:prstGeom>
          <a:solidFill>
            <a:srgbClr val="5B3E8C"/>
          </a:solidFill>
          <a:ln w="25400">
            <a:solidFill>
              <a:srgbClr val="FFFFFF"/>
            </a:solidFill>
            <a:prstDash val="solid"/>
          </a:ln>
        </p:spPr>
      </p:sp>
      <p:sp>
        <p:nvSpPr>
          <p:cNvPr id="15" name="Text 12"/>
          <p:cNvSpPr txBox="1"/>
          <p:nvPr/>
        </p:nvSpPr>
        <p:spPr>
          <a:xfrm>
            <a:off x="822960" y="2944368"/>
            <a:ext cx="749808" cy="749808"/>
          </a:xfrm>
          <a:prstGeom prst="rect">
            <a:avLst/>
          </a:prstGeom>
          <a:noFill/>
          <a:ln/>
        </p:spPr>
        <p:txBody>
          <a:bodyPr wrap="square" lIns="0" tIns="0" rIns="0" bIns="0" rtlCol="0" anchor="ctr"/>
          <a:lstStyle/>
          <a:p>
            <a:pPr algn="ctr" indent="0" marL="0">
              <a:buNone/>
            </a:pPr>
            <a:r>
              <a:rPr lang="en-US" sz="1000" b="1" dirty="0">
                <a:solidFill>
                  <a:schemeClr val="bg1"/>
                </a:solidFill>
              </a:rPr>
              <a:t>site 4</a:t>
            </a:r>
            <a:endParaRPr lang="en-US" sz="1000" dirty="0"/>
          </a:p>
          <a:p>
            <a:pPr algn="ctr" indent="0" marL="0">
              <a:buNone/>
            </a:pPr>
            <a:r>
              <a:rPr lang="en-US" sz="1000" b="1" dirty="0">
                <a:solidFill>
                  <a:schemeClr val="bg1"/>
                </a:solidFill>
              </a:rPr>
              <a:t>gen 2</a:t>
            </a:r>
            <a:endParaRPr lang="en-US" sz="1000" dirty="0"/>
          </a:p>
        </p:txBody>
      </p:sp>
      <p:sp>
        <p:nvSpPr>
          <p:cNvPr id="16" name="Shape 13"/>
          <p:cNvSpPr/>
          <p:nvPr/>
        </p:nvSpPr>
        <p:spPr>
          <a:xfrm>
            <a:off x="1572768" y="2944368"/>
            <a:ext cx="749808" cy="749808"/>
          </a:xfrm>
          <a:prstGeom prst="rect">
            <a:avLst/>
          </a:prstGeom>
          <a:solidFill>
            <a:srgbClr val="F2F0EB"/>
          </a:solidFill>
          <a:ln w="25400">
            <a:solidFill>
              <a:srgbClr val="FFFFFF"/>
            </a:solidFill>
            <a:prstDash val="solid"/>
          </a:ln>
        </p:spPr>
      </p:sp>
      <p:sp>
        <p:nvSpPr>
          <p:cNvPr id="17" name="Text 14"/>
          <p:cNvSpPr txBox="1"/>
          <p:nvPr/>
        </p:nvSpPr>
        <p:spPr>
          <a:xfrm>
            <a:off x="1572768" y="2944368"/>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5</a:t>
            </a:r>
            <a:endParaRPr lang="en-US" sz="1000" dirty="0"/>
          </a:p>
          <a:p>
            <a:pPr algn="ctr" indent="0" marL="0">
              <a:buNone/>
            </a:pPr>
            <a:r>
              <a:rPr lang="en-US" sz="1000" dirty="0">
                <a:solidFill>
                  <a:schemeClr val="accent6"/>
                </a:solidFill>
              </a:rPr>
              <a:t>0</a:t>
            </a:r>
            <a:endParaRPr lang="en-US" sz="1000" dirty="0"/>
          </a:p>
        </p:txBody>
      </p:sp>
      <p:sp>
        <p:nvSpPr>
          <p:cNvPr id="18" name="Shape 15"/>
          <p:cNvSpPr/>
          <p:nvPr/>
        </p:nvSpPr>
        <p:spPr>
          <a:xfrm>
            <a:off x="2322576" y="2944368"/>
            <a:ext cx="749808" cy="749808"/>
          </a:xfrm>
          <a:prstGeom prst="rect">
            <a:avLst/>
          </a:prstGeom>
          <a:solidFill>
            <a:srgbClr val="F2F0EB"/>
          </a:solidFill>
          <a:ln w="25400">
            <a:solidFill>
              <a:srgbClr val="FFFFFF"/>
            </a:solidFill>
            <a:prstDash val="solid"/>
          </a:ln>
        </p:spPr>
      </p:sp>
      <p:sp>
        <p:nvSpPr>
          <p:cNvPr id="19" name="Text 16"/>
          <p:cNvSpPr txBox="1"/>
          <p:nvPr/>
        </p:nvSpPr>
        <p:spPr>
          <a:xfrm>
            <a:off x="2322576" y="2944368"/>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6</a:t>
            </a:r>
            <a:endParaRPr lang="en-US" sz="1000" dirty="0"/>
          </a:p>
          <a:p>
            <a:pPr algn="ctr" indent="0" marL="0">
              <a:buNone/>
            </a:pPr>
            <a:r>
              <a:rPr lang="en-US" sz="1000" dirty="0">
                <a:solidFill>
                  <a:schemeClr val="accent6"/>
                </a:solidFill>
              </a:rPr>
              <a:t>0</a:t>
            </a:r>
            <a:endParaRPr lang="en-US" sz="1000" dirty="0"/>
          </a:p>
        </p:txBody>
      </p:sp>
      <p:sp>
        <p:nvSpPr>
          <p:cNvPr id="20" name="Shape 17"/>
          <p:cNvSpPr/>
          <p:nvPr/>
        </p:nvSpPr>
        <p:spPr>
          <a:xfrm>
            <a:off x="3072384" y="2944368"/>
            <a:ext cx="749808" cy="749808"/>
          </a:xfrm>
          <a:prstGeom prst="rect">
            <a:avLst/>
          </a:prstGeom>
          <a:solidFill>
            <a:srgbClr val="F2F0EB"/>
          </a:solidFill>
          <a:ln w="25400">
            <a:solidFill>
              <a:srgbClr val="FFFFFF"/>
            </a:solidFill>
            <a:prstDash val="solid"/>
          </a:ln>
        </p:spPr>
      </p:sp>
      <p:sp>
        <p:nvSpPr>
          <p:cNvPr id="21" name="Text 18"/>
          <p:cNvSpPr txBox="1"/>
          <p:nvPr/>
        </p:nvSpPr>
        <p:spPr>
          <a:xfrm>
            <a:off x="3072384" y="2944368"/>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7</a:t>
            </a:r>
            <a:endParaRPr lang="en-US" sz="1000" dirty="0"/>
          </a:p>
          <a:p>
            <a:pPr algn="ctr" indent="0" marL="0">
              <a:buNone/>
            </a:pPr>
            <a:r>
              <a:rPr lang="en-US" sz="1000" dirty="0">
                <a:solidFill>
                  <a:schemeClr val="accent6"/>
                </a:solidFill>
              </a:rPr>
              <a:t>0</a:t>
            </a:r>
            <a:endParaRPr lang="en-US" sz="1000" dirty="0"/>
          </a:p>
        </p:txBody>
      </p:sp>
      <p:sp>
        <p:nvSpPr>
          <p:cNvPr id="22" name="Shape 19"/>
          <p:cNvSpPr/>
          <p:nvPr/>
        </p:nvSpPr>
        <p:spPr>
          <a:xfrm>
            <a:off x="822960" y="3694176"/>
            <a:ext cx="749808" cy="749808"/>
          </a:xfrm>
          <a:prstGeom prst="rect">
            <a:avLst/>
          </a:prstGeom>
          <a:solidFill>
            <a:srgbClr val="5B3E8C"/>
          </a:solidFill>
          <a:ln w="25400">
            <a:solidFill>
              <a:srgbClr val="FFFFFF"/>
            </a:solidFill>
            <a:prstDash val="solid"/>
          </a:ln>
        </p:spPr>
      </p:sp>
      <p:sp>
        <p:nvSpPr>
          <p:cNvPr id="23" name="Text 20"/>
          <p:cNvSpPr txBox="1"/>
          <p:nvPr/>
        </p:nvSpPr>
        <p:spPr>
          <a:xfrm>
            <a:off x="822960" y="3694176"/>
            <a:ext cx="749808" cy="749808"/>
          </a:xfrm>
          <a:prstGeom prst="rect">
            <a:avLst/>
          </a:prstGeom>
          <a:noFill/>
          <a:ln/>
        </p:spPr>
        <p:txBody>
          <a:bodyPr wrap="square" lIns="0" tIns="0" rIns="0" bIns="0" rtlCol="0" anchor="ctr"/>
          <a:lstStyle/>
          <a:p>
            <a:pPr algn="ctr" indent="0" marL="0">
              <a:buNone/>
            </a:pPr>
            <a:r>
              <a:rPr lang="en-US" sz="1000" b="1" dirty="0">
                <a:solidFill>
                  <a:schemeClr val="bg1"/>
                </a:solidFill>
              </a:rPr>
              <a:t>site 8</a:t>
            </a:r>
            <a:endParaRPr lang="en-US" sz="1000" dirty="0"/>
          </a:p>
          <a:p>
            <a:pPr algn="ctr" indent="0" marL="0">
              <a:buNone/>
            </a:pPr>
            <a:r>
              <a:rPr lang="en-US" sz="1000" b="1" dirty="0">
                <a:solidFill>
                  <a:schemeClr val="bg1"/>
                </a:solidFill>
              </a:rPr>
              <a:t>gen 3</a:t>
            </a:r>
            <a:endParaRPr lang="en-US" sz="1000" dirty="0"/>
          </a:p>
        </p:txBody>
      </p:sp>
      <p:sp>
        <p:nvSpPr>
          <p:cNvPr id="24" name="Shape 21"/>
          <p:cNvSpPr/>
          <p:nvPr/>
        </p:nvSpPr>
        <p:spPr>
          <a:xfrm>
            <a:off x="1572768" y="3694176"/>
            <a:ext cx="749808" cy="749808"/>
          </a:xfrm>
          <a:prstGeom prst="rect">
            <a:avLst/>
          </a:prstGeom>
          <a:solidFill>
            <a:srgbClr val="F2F0EB"/>
          </a:solidFill>
          <a:ln w="25400">
            <a:solidFill>
              <a:srgbClr val="FFFFFF"/>
            </a:solidFill>
            <a:prstDash val="solid"/>
          </a:ln>
        </p:spPr>
      </p:sp>
      <p:sp>
        <p:nvSpPr>
          <p:cNvPr id="25" name="Text 22"/>
          <p:cNvSpPr txBox="1"/>
          <p:nvPr/>
        </p:nvSpPr>
        <p:spPr>
          <a:xfrm>
            <a:off x="1572768" y="3694176"/>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9</a:t>
            </a:r>
            <a:endParaRPr lang="en-US" sz="1000" dirty="0"/>
          </a:p>
          <a:p>
            <a:pPr algn="ctr" indent="0" marL="0">
              <a:buNone/>
            </a:pPr>
            <a:r>
              <a:rPr lang="en-US" sz="1000" dirty="0">
                <a:solidFill>
                  <a:schemeClr val="accent6"/>
                </a:solidFill>
              </a:rPr>
              <a:t>0</a:t>
            </a:r>
            <a:endParaRPr lang="en-US" sz="1000" dirty="0"/>
          </a:p>
        </p:txBody>
      </p:sp>
      <p:sp>
        <p:nvSpPr>
          <p:cNvPr id="26" name="Shape 23"/>
          <p:cNvSpPr/>
          <p:nvPr/>
        </p:nvSpPr>
        <p:spPr>
          <a:xfrm>
            <a:off x="2322576" y="3694176"/>
            <a:ext cx="749808" cy="749808"/>
          </a:xfrm>
          <a:prstGeom prst="rect">
            <a:avLst/>
          </a:prstGeom>
          <a:solidFill>
            <a:srgbClr val="F2F0EB"/>
          </a:solidFill>
          <a:ln w="25400">
            <a:solidFill>
              <a:srgbClr val="FFFFFF"/>
            </a:solidFill>
            <a:prstDash val="solid"/>
          </a:ln>
        </p:spPr>
      </p:sp>
      <p:sp>
        <p:nvSpPr>
          <p:cNvPr id="27" name="Text 24"/>
          <p:cNvSpPr txBox="1"/>
          <p:nvPr/>
        </p:nvSpPr>
        <p:spPr>
          <a:xfrm>
            <a:off x="2322576" y="3694176"/>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10</a:t>
            </a:r>
            <a:endParaRPr lang="en-US" sz="1000" dirty="0"/>
          </a:p>
          <a:p>
            <a:pPr algn="ctr" indent="0" marL="0">
              <a:buNone/>
            </a:pPr>
            <a:r>
              <a:rPr lang="en-US" sz="1000" dirty="0">
                <a:solidFill>
                  <a:schemeClr val="accent6"/>
                </a:solidFill>
              </a:rPr>
              <a:t>0</a:t>
            </a:r>
            <a:endParaRPr lang="en-US" sz="1000" dirty="0"/>
          </a:p>
        </p:txBody>
      </p:sp>
      <p:sp>
        <p:nvSpPr>
          <p:cNvPr id="28" name="Shape 25"/>
          <p:cNvSpPr/>
          <p:nvPr/>
        </p:nvSpPr>
        <p:spPr>
          <a:xfrm>
            <a:off x="3072384" y="3694176"/>
            <a:ext cx="749808" cy="749808"/>
          </a:xfrm>
          <a:prstGeom prst="rect">
            <a:avLst/>
          </a:prstGeom>
          <a:solidFill>
            <a:srgbClr val="5B3E8C"/>
          </a:solidFill>
          <a:ln w="25400">
            <a:solidFill>
              <a:srgbClr val="FFFFFF"/>
            </a:solidFill>
            <a:prstDash val="solid"/>
          </a:ln>
        </p:spPr>
      </p:sp>
      <p:sp>
        <p:nvSpPr>
          <p:cNvPr id="29" name="Text 26"/>
          <p:cNvSpPr txBox="1"/>
          <p:nvPr/>
        </p:nvSpPr>
        <p:spPr>
          <a:xfrm>
            <a:off x="3072384" y="3694176"/>
            <a:ext cx="749808" cy="749808"/>
          </a:xfrm>
          <a:prstGeom prst="rect">
            <a:avLst/>
          </a:prstGeom>
          <a:noFill/>
          <a:ln/>
        </p:spPr>
        <p:txBody>
          <a:bodyPr wrap="square" lIns="0" tIns="0" rIns="0" bIns="0" rtlCol="0" anchor="ctr"/>
          <a:lstStyle/>
          <a:p>
            <a:pPr algn="ctr" indent="0" marL="0">
              <a:buNone/>
            </a:pPr>
            <a:r>
              <a:rPr lang="en-US" sz="1000" b="1" dirty="0">
                <a:solidFill>
                  <a:schemeClr val="bg1"/>
                </a:solidFill>
              </a:rPr>
              <a:t>site 11</a:t>
            </a:r>
            <a:endParaRPr lang="en-US" sz="1000" dirty="0"/>
          </a:p>
          <a:p>
            <a:pPr algn="ctr" indent="0" marL="0">
              <a:buNone/>
            </a:pPr>
            <a:r>
              <a:rPr lang="en-US" sz="1000" b="1" dirty="0">
                <a:solidFill>
                  <a:schemeClr val="bg1"/>
                </a:solidFill>
              </a:rPr>
              <a:t>gen 4</a:t>
            </a:r>
            <a:endParaRPr lang="en-US" sz="1000" dirty="0"/>
          </a:p>
        </p:txBody>
      </p:sp>
      <p:sp>
        <p:nvSpPr>
          <p:cNvPr id="30" name="Shape 27"/>
          <p:cNvSpPr/>
          <p:nvPr/>
        </p:nvSpPr>
        <p:spPr>
          <a:xfrm>
            <a:off x="822960" y="4443984"/>
            <a:ext cx="749808" cy="749808"/>
          </a:xfrm>
          <a:prstGeom prst="rect">
            <a:avLst/>
          </a:prstGeom>
          <a:solidFill>
            <a:srgbClr val="F2F0EB"/>
          </a:solidFill>
          <a:ln w="25400">
            <a:solidFill>
              <a:srgbClr val="FFFFFF"/>
            </a:solidFill>
            <a:prstDash val="solid"/>
          </a:ln>
        </p:spPr>
      </p:sp>
      <p:sp>
        <p:nvSpPr>
          <p:cNvPr id="31" name="Text 28"/>
          <p:cNvSpPr txBox="1"/>
          <p:nvPr/>
        </p:nvSpPr>
        <p:spPr>
          <a:xfrm>
            <a:off x="822960" y="4443984"/>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12</a:t>
            </a:r>
            <a:endParaRPr lang="en-US" sz="1000" dirty="0"/>
          </a:p>
          <a:p>
            <a:pPr algn="ctr" indent="0" marL="0">
              <a:buNone/>
            </a:pPr>
            <a:r>
              <a:rPr lang="en-US" sz="1000" dirty="0">
                <a:solidFill>
                  <a:schemeClr val="accent6"/>
                </a:solidFill>
              </a:rPr>
              <a:t>0</a:t>
            </a:r>
            <a:endParaRPr lang="en-US" sz="1000" dirty="0"/>
          </a:p>
        </p:txBody>
      </p:sp>
      <p:sp>
        <p:nvSpPr>
          <p:cNvPr id="32" name="Shape 29"/>
          <p:cNvSpPr/>
          <p:nvPr/>
        </p:nvSpPr>
        <p:spPr>
          <a:xfrm>
            <a:off x="1572768" y="4443984"/>
            <a:ext cx="749808" cy="749808"/>
          </a:xfrm>
          <a:prstGeom prst="rect">
            <a:avLst/>
          </a:prstGeom>
          <a:solidFill>
            <a:srgbClr val="F2F0EB"/>
          </a:solidFill>
          <a:ln w="25400">
            <a:solidFill>
              <a:srgbClr val="FFFFFF"/>
            </a:solidFill>
            <a:prstDash val="solid"/>
          </a:ln>
        </p:spPr>
      </p:sp>
      <p:sp>
        <p:nvSpPr>
          <p:cNvPr id="33" name="Text 30"/>
          <p:cNvSpPr txBox="1"/>
          <p:nvPr/>
        </p:nvSpPr>
        <p:spPr>
          <a:xfrm>
            <a:off x="1572768" y="4443984"/>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13</a:t>
            </a:r>
            <a:endParaRPr lang="en-US" sz="1000" dirty="0"/>
          </a:p>
          <a:p>
            <a:pPr algn="ctr" indent="0" marL="0">
              <a:buNone/>
            </a:pPr>
            <a:r>
              <a:rPr lang="en-US" sz="1000" dirty="0">
                <a:solidFill>
                  <a:schemeClr val="accent6"/>
                </a:solidFill>
              </a:rPr>
              <a:t>0</a:t>
            </a:r>
            <a:endParaRPr lang="en-US" sz="1000" dirty="0"/>
          </a:p>
        </p:txBody>
      </p:sp>
      <p:sp>
        <p:nvSpPr>
          <p:cNvPr id="34" name="Shape 31"/>
          <p:cNvSpPr/>
          <p:nvPr/>
        </p:nvSpPr>
        <p:spPr>
          <a:xfrm>
            <a:off x="2322576" y="4443984"/>
            <a:ext cx="749808" cy="749808"/>
          </a:xfrm>
          <a:prstGeom prst="rect">
            <a:avLst/>
          </a:prstGeom>
          <a:solidFill>
            <a:srgbClr val="F2F0EB"/>
          </a:solidFill>
          <a:ln w="25400">
            <a:solidFill>
              <a:srgbClr val="FFFFFF"/>
            </a:solidFill>
            <a:prstDash val="solid"/>
          </a:ln>
        </p:spPr>
      </p:sp>
      <p:sp>
        <p:nvSpPr>
          <p:cNvPr id="35" name="Text 32"/>
          <p:cNvSpPr txBox="1"/>
          <p:nvPr/>
        </p:nvSpPr>
        <p:spPr>
          <a:xfrm>
            <a:off x="2322576" y="4443984"/>
            <a:ext cx="749808" cy="749808"/>
          </a:xfrm>
          <a:prstGeom prst="rect">
            <a:avLst/>
          </a:prstGeom>
          <a:noFill/>
          <a:ln/>
        </p:spPr>
        <p:txBody>
          <a:bodyPr wrap="square" lIns="0" tIns="0" rIns="0" bIns="0" rtlCol="0" anchor="ctr"/>
          <a:lstStyle/>
          <a:p>
            <a:pPr algn="ctr" indent="0" marL="0">
              <a:buNone/>
            </a:pPr>
            <a:r>
              <a:rPr lang="en-US" sz="1000" dirty="0">
                <a:solidFill>
                  <a:schemeClr val="accent6"/>
                </a:solidFill>
              </a:rPr>
              <a:t>site 14</a:t>
            </a:r>
            <a:endParaRPr lang="en-US" sz="1000" dirty="0"/>
          </a:p>
          <a:p>
            <a:pPr algn="ctr" indent="0" marL="0">
              <a:buNone/>
            </a:pPr>
            <a:r>
              <a:rPr lang="en-US" sz="1000" dirty="0">
                <a:solidFill>
                  <a:schemeClr val="accent6"/>
                </a:solidFill>
              </a:rPr>
              <a:t>0</a:t>
            </a:r>
            <a:endParaRPr lang="en-US" sz="1000" dirty="0"/>
          </a:p>
        </p:txBody>
      </p:sp>
      <p:sp>
        <p:nvSpPr>
          <p:cNvPr id="36" name="Shape 33"/>
          <p:cNvSpPr/>
          <p:nvPr/>
        </p:nvSpPr>
        <p:spPr>
          <a:xfrm>
            <a:off x="3072384" y="4443984"/>
            <a:ext cx="749808" cy="749808"/>
          </a:xfrm>
          <a:prstGeom prst="rect">
            <a:avLst/>
          </a:prstGeom>
          <a:solidFill>
            <a:srgbClr val="5B3E8C"/>
          </a:solidFill>
          <a:ln w="25400">
            <a:solidFill>
              <a:srgbClr val="FFFFFF"/>
            </a:solidFill>
            <a:prstDash val="solid"/>
          </a:ln>
        </p:spPr>
      </p:sp>
      <p:sp>
        <p:nvSpPr>
          <p:cNvPr id="37" name="Text 34"/>
          <p:cNvSpPr txBox="1"/>
          <p:nvPr/>
        </p:nvSpPr>
        <p:spPr>
          <a:xfrm>
            <a:off x="3072384" y="4443984"/>
            <a:ext cx="749808" cy="749808"/>
          </a:xfrm>
          <a:prstGeom prst="rect">
            <a:avLst/>
          </a:prstGeom>
          <a:noFill/>
          <a:ln/>
        </p:spPr>
        <p:txBody>
          <a:bodyPr wrap="square" lIns="0" tIns="0" rIns="0" bIns="0" rtlCol="0" anchor="ctr"/>
          <a:lstStyle/>
          <a:p>
            <a:pPr algn="ctr" indent="0" marL="0">
              <a:buNone/>
            </a:pPr>
            <a:r>
              <a:rPr lang="en-US" sz="1000" b="1" dirty="0">
                <a:solidFill>
                  <a:schemeClr val="bg1"/>
                </a:solidFill>
              </a:rPr>
              <a:t>site 15</a:t>
            </a:r>
            <a:endParaRPr lang="en-US" sz="1000" dirty="0"/>
          </a:p>
          <a:p>
            <a:pPr algn="ctr" indent="0" marL="0">
              <a:buNone/>
            </a:pPr>
            <a:r>
              <a:rPr lang="en-US" sz="1000" b="1" dirty="0">
                <a:solidFill>
                  <a:schemeClr val="bg1"/>
                </a:solidFill>
              </a:rPr>
              <a:t>gen 5</a:t>
            </a:r>
            <a:endParaRPr lang="en-US" sz="1000" dirty="0"/>
          </a:p>
        </p:txBody>
      </p:sp>
      <p:sp>
        <p:nvSpPr>
          <p:cNvPr id="38" name="Text 35"/>
          <p:cNvSpPr txBox="1"/>
          <p:nvPr/>
        </p:nvSpPr>
        <p:spPr>
          <a:xfrm>
            <a:off x="640080" y="5303520"/>
            <a:ext cx="3364992" cy="457200"/>
          </a:xfrm>
          <a:prstGeom prst="rect">
            <a:avLst/>
          </a:prstGeom>
          <a:noFill/>
          <a:ln/>
        </p:spPr>
        <p:txBody>
          <a:bodyPr wrap="square" lIns="0" tIns="0" rIns="0" bIns="0" rtlCol="0" anchor="t"/>
          <a:lstStyle/>
          <a:p>
            <a:pPr algn="ctr" indent="0" marL="0">
              <a:buNone/>
            </a:pPr>
            <a:r>
              <a:rPr lang="en-US" sz="1200" dirty="0">
                <a:solidFill>
                  <a:schemeClr val="accent6"/>
                </a:solidFill>
              </a:rPr>
              <a:t>4×4 site 맵 - 보라색 5칸만 회로 출력, 나머지는 0</a:t>
            </a:r>
            <a:endParaRPr lang="en-US" sz="1200" dirty="0"/>
          </a:p>
        </p:txBody>
      </p:sp>
      <p:sp>
        <p:nvSpPr>
          <p:cNvPr id="39" name="Shape 36"/>
          <p:cNvSpPr/>
          <p:nvPr/>
        </p:nvSpPr>
        <p:spPr>
          <a:xfrm>
            <a:off x="4206240" y="2011680"/>
            <a:ext cx="7406640" cy="3611880"/>
          </a:xfrm>
          <a:prstGeom prst="roundRect">
            <a:avLst>
              <a:gd name="adj" fmla="val 2532"/>
            </a:avLst>
          </a:prstGeom>
          <a:solidFill>
            <a:schemeClr val="tx2"/>
          </a:solidFill>
          <a:ln/>
        </p:spPr>
      </p:sp>
      <p:sp>
        <p:nvSpPr>
          <p:cNvPr id="40" name="Text 37"/>
          <p:cNvSpPr txBox="1"/>
          <p:nvPr/>
        </p:nvSpPr>
        <p:spPr>
          <a:xfrm>
            <a:off x="4434840" y="2194560"/>
            <a:ext cx="6949440" cy="3246120"/>
          </a:xfrm>
          <a:prstGeom prst="rect">
            <a:avLst/>
          </a:prstGeom>
          <a:noFill/>
          <a:ln/>
        </p:spPr>
        <p:txBody>
          <a:bodyPr wrap="square" lIns="0" tIns="0" rIns="0" bIns="0" rtlCol="0" anchor="t"/>
          <a:lstStyle/>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sites  = z_quantum.view(B, 16, self.site_dim)   # (B,16,8)</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tokens = self.q_align(sites)                  # (B,16,16)</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q_maps = torch.zeros(B, 5, 4, 4)</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for g, si in enumerate(self.site_idx):  # [0,4,8,11,15]</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    outs = [self.q_circuit(tokens[b, si],</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                           self.q_weights[g])</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for b in range(B)]          # B x 16 expvals</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y, x = divmod(si, 4)</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    q_maps[:, g, y, x] = outs.mean(dim=1)  # scalar</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return self.proj_qexp(q_maps).flatten(1)   # (B, 256)</a:t>
            </a:r>
            <a:endParaRPr lang="en-US" sz="1150" dirty="0"/>
          </a:p>
        </p:txBody>
      </p:sp>
      <p:sp>
        <p:nvSpPr>
          <p:cNvPr id="41" name="Shape 38"/>
          <p:cNvSpPr/>
          <p:nvPr/>
        </p:nvSpPr>
        <p:spPr>
          <a:xfrm>
            <a:off x="4206240" y="5760720"/>
            <a:ext cx="7406640" cy="411480"/>
          </a:xfrm>
          <a:prstGeom prst="roundRect">
            <a:avLst>
              <a:gd name="adj" fmla="val 26667"/>
            </a:avLst>
          </a:prstGeom>
          <a:solidFill>
            <a:srgbClr val="FAF6EE"/>
          </a:solidFill>
          <a:ln/>
        </p:spPr>
      </p:sp>
      <p:sp>
        <p:nvSpPr>
          <p:cNvPr id="42" name="Text 39"/>
          <p:cNvSpPr txBox="1"/>
          <p:nvPr/>
        </p:nvSpPr>
        <p:spPr>
          <a:xfrm>
            <a:off x="4389120" y="5760720"/>
            <a:ext cx="7040880" cy="411480"/>
          </a:xfrm>
          <a:prstGeom prst="rect">
            <a:avLst/>
          </a:prstGeom>
          <a:noFill/>
          <a:ln/>
        </p:spPr>
        <p:txBody>
          <a:bodyPr wrap="square" lIns="0" tIns="0" rIns="0" bIns="0" rtlCol="0" anchor="ctr"/>
          <a:lstStyle/>
          <a:p>
            <a:pPr indent="0" marL="0">
              <a:buNone/>
            </a:pPr>
            <a:r>
              <a:rPr lang="en-US" sz="1300" b="1" dirty="0">
                <a:solidFill>
                  <a:schemeClr val="accent4"/>
                </a:solidFill>
              </a:rPr>
              <a:t>회로 실행 수 = 5 × batch  ·  16큐빗 상태벡터 65,536차원</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파라미터 분포</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양자 부분은 2%, 비용은 대부분</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생성자 파라미터 30,000개 중 양자 회전각은 640개(5 × 8층 × 16큐빗)</a:t>
            </a:r>
            <a:endParaRPr lang="en-US" sz="1400" dirty="0"/>
          </a:p>
        </p:txBody>
      </p:sp>
      <p:sp>
        <p:nvSpPr>
          <p:cNvPr id="6" name="Shape 3"/>
          <p:cNvSpPr/>
          <p:nvPr/>
        </p:nvSpPr>
        <p:spPr>
          <a:xfrm>
            <a:off x="548640" y="2103120"/>
            <a:ext cx="3291840" cy="1828800"/>
          </a:xfrm>
          <a:prstGeom prst="roundRect">
            <a:avLst>
              <a:gd name="adj" fmla="val 6000"/>
            </a:avLst>
          </a:prstGeom>
          <a:solidFill>
            <a:srgbClr val="EDE7F5"/>
          </a:solidFill>
          <a:ln/>
          <a:effectLst>
            <a:outerShdw sx="100000" sy="100000" kx="0" ky="0" algn="bl" rotWithShape="0" blurRad="76200" dist="25400" dir="5400000">
              <a:srgbClr val="000000">
                <a:alpha val="12000"/>
              </a:srgbClr>
            </a:outerShdw>
          </a:effectLst>
        </p:spPr>
      </p:sp>
      <p:sp>
        <p:nvSpPr>
          <p:cNvPr id="7" name="Text 4"/>
          <p:cNvSpPr txBox="1"/>
          <p:nvPr/>
        </p:nvSpPr>
        <p:spPr>
          <a:xfrm>
            <a:off x="777240" y="2240280"/>
            <a:ext cx="2834640" cy="914400"/>
          </a:xfrm>
          <a:prstGeom prst="rect">
            <a:avLst/>
          </a:prstGeom>
          <a:noFill/>
          <a:ln/>
        </p:spPr>
        <p:txBody>
          <a:bodyPr wrap="square" lIns="0" tIns="0" rIns="0" bIns="0" rtlCol="0" anchor="t"/>
          <a:lstStyle/>
          <a:p>
            <a:pPr indent="0" marL="0">
              <a:buNone/>
            </a:pPr>
            <a:r>
              <a:rPr lang="en-US" sz="5400" b="1" dirty="0">
                <a:solidFill>
                  <a:schemeClr val="accent2"/>
                </a:solidFill>
              </a:rPr>
              <a:t>640</a:t>
            </a:r>
            <a:endParaRPr lang="en-US" sz="5400" dirty="0"/>
          </a:p>
        </p:txBody>
      </p:sp>
      <p:sp>
        <p:nvSpPr>
          <p:cNvPr id="8" name="Text 5"/>
          <p:cNvSpPr txBox="1"/>
          <p:nvPr/>
        </p:nvSpPr>
        <p:spPr>
          <a:xfrm>
            <a:off x="777240" y="3154680"/>
            <a:ext cx="2834640" cy="731520"/>
          </a:xfrm>
          <a:prstGeom prst="rect">
            <a:avLst/>
          </a:prstGeom>
          <a:noFill/>
          <a:ln/>
        </p:spPr>
        <p:txBody>
          <a:bodyPr wrap="square" lIns="0" tIns="0" rIns="0" bIns="0" rtlCol="0" anchor="t"/>
          <a:lstStyle/>
          <a:p>
            <a:pPr indent="0" marL="0">
              <a:buNone/>
            </a:pPr>
            <a:r>
              <a:rPr lang="en-US" sz="1300" dirty="0">
                <a:solidFill>
                  <a:schemeClr val="accent6"/>
                </a:solidFill>
              </a:rPr>
              <a:t>양자 회전각 (2.1%)</a:t>
            </a:r>
            <a:endParaRPr lang="en-US" sz="1300" dirty="0"/>
          </a:p>
          <a:p>
            <a:pPr indent="0" marL="0">
              <a:buNone/>
            </a:pPr>
            <a:r>
              <a:rPr lang="en-US" sz="1300" dirty="0">
                <a:solidFill>
                  <a:schemeClr val="accent6"/>
                </a:solidFill>
              </a:rPr>
              <a:t>5 sub-generator × 8 × 16</a:t>
            </a:r>
            <a:endParaRPr lang="en-US" sz="1300" dirty="0"/>
          </a:p>
        </p:txBody>
      </p:sp>
      <p:sp>
        <p:nvSpPr>
          <p:cNvPr id="9" name="Shape 6"/>
          <p:cNvSpPr/>
          <p:nvPr/>
        </p:nvSpPr>
        <p:spPr>
          <a:xfrm>
            <a:off x="548640" y="4160520"/>
            <a:ext cx="3291840" cy="1828800"/>
          </a:xfrm>
          <a:prstGeom prst="roundRect">
            <a:avLst>
              <a:gd name="adj" fmla="val 6000"/>
            </a:avLst>
          </a:prstGeom>
          <a:solidFill>
            <a:srgbClr val="F2F0EB"/>
          </a:solidFill>
          <a:ln/>
          <a:effectLst>
            <a:outerShdw sx="100000" sy="100000" kx="0" ky="0" algn="bl" rotWithShape="0" blurRad="76200" dist="25400" dir="5400000">
              <a:srgbClr val="000000">
                <a:alpha val="12000"/>
              </a:srgbClr>
            </a:outerShdw>
          </a:effectLst>
        </p:spPr>
      </p:sp>
      <p:sp>
        <p:nvSpPr>
          <p:cNvPr id="10" name="Text 7"/>
          <p:cNvSpPr txBox="1"/>
          <p:nvPr/>
        </p:nvSpPr>
        <p:spPr>
          <a:xfrm>
            <a:off x="777240" y="4297680"/>
            <a:ext cx="2834640" cy="914400"/>
          </a:xfrm>
          <a:prstGeom prst="rect">
            <a:avLst/>
          </a:prstGeom>
          <a:noFill/>
          <a:ln/>
        </p:spPr>
        <p:txBody>
          <a:bodyPr wrap="square" lIns="0" tIns="0" rIns="0" bIns="0" rtlCol="0" anchor="t"/>
          <a:lstStyle/>
          <a:p>
            <a:pPr indent="0" marL="0">
              <a:buNone/>
            </a:pPr>
            <a:r>
              <a:rPr lang="en-US" sz="5400" b="1" dirty="0">
                <a:solidFill>
                  <a:schemeClr val="tx1"/>
                </a:solidFill>
              </a:rPr>
              <a:t>30,000</a:t>
            </a:r>
            <a:endParaRPr lang="en-US" sz="5400" dirty="0"/>
          </a:p>
        </p:txBody>
      </p:sp>
      <p:sp>
        <p:nvSpPr>
          <p:cNvPr id="11" name="Text 8"/>
          <p:cNvSpPr txBox="1"/>
          <p:nvPr/>
        </p:nvSpPr>
        <p:spPr>
          <a:xfrm>
            <a:off x="777240" y="5212080"/>
            <a:ext cx="2834640" cy="731520"/>
          </a:xfrm>
          <a:prstGeom prst="rect">
            <a:avLst/>
          </a:prstGeom>
          <a:noFill/>
          <a:ln/>
        </p:spPr>
        <p:txBody>
          <a:bodyPr wrap="square" lIns="0" tIns="0" rIns="0" bIns="0" rtlCol="0" anchor="t"/>
          <a:lstStyle/>
          <a:p>
            <a:pPr indent="0" marL="0">
              <a:buNone/>
            </a:pPr>
            <a:r>
              <a:rPr lang="en-US" sz="1300" dirty="0">
                <a:solidFill>
                  <a:schemeClr val="accent6"/>
                </a:solidFill>
              </a:rPr>
              <a:t>생성자 전체</a:t>
            </a:r>
            <a:endParaRPr lang="en-US" sz="1300" dirty="0"/>
          </a:p>
          <a:p>
            <a:pPr indent="0" marL="0">
              <a:buNone/>
            </a:pPr>
            <a:r>
              <a:rPr lang="en-US" sz="1300" dirty="0">
                <a:solidFill>
                  <a:schemeClr val="accent6"/>
                </a:solidFill>
              </a:rPr>
              <a:t>(2일차 QGAN 생성자 280)</a:t>
            </a:r>
            <a:endParaRPr lang="en-US" sz="1300" dirty="0"/>
          </a:p>
        </p:txBody>
      </p:sp>
      <p:graphicFrame>
        <p:nvGraphicFramePr>
          <p:cNvPr id="12" name="Chart 0" descr=""/>
          <p:cNvGraphicFramePr/>
          <p:nvPr/>
        </p:nvGraphicFramePr>
        <p:xfrm>
          <a:off x="4206240" y="2011680"/>
          <a:ext cx="7406640" cy="4114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1 · 한계</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원 논문과 실습의 차이</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양자 stream은 원 논문 스펙 그대로, 고전 부분과 판별자·평가를 단순화함</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2377440"/>
                <a:gridCol w="2560320"/>
                <a:gridCol w="3291840"/>
                <a:gridCol w="2834640"/>
              </a:tblGrid>
              <a:tr h="502920">
                <a:tc>
                  <a:txBody>
                    <a:bodyPr/>
                    <a:lstStyle/>
                    <a:p>
                      <a:pPr indent="0" marL="0">
                        <a:buNone/>
                      </a:pPr>
                      <a:r>
                        <a:rPr lang="en-US" sz="1300" b="1" dirty="0">
                          <a:solidFill>
                            <a:schemeClr val="bg1"/>
                          </a:solidFill>
                        </a:rPr>
                        <a:t>항목</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원 논문 (Jiao et al.)</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3일차 실습</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비고</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rPr>
                        <a:t>양자 stream</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16큐빗 × 5, depth 8</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동일</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공식 레포와 같은 회로</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rPr>
                        <a:t>고전 encoder / decoder</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conv</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MLP</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16×16 저해상도라 단순화</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502920">
                <a:tc>
                  <a:txBody>
                    <a:bodyPr/>
                    <a:lstStyle/>
                    <a:p>
                      <a:pPr indent="0" marL="0">
                        <a:buNone/>
                      </a:pPr>
                      <a:r>
                        <a:rPr lang="en-US" sz="1300" dirty="0">
                          <a:solidFill>
                            <a:schemeClr val="tx1"/>
                          </a:solidFill>
                        </a:rPr>
                        <a:t>입력 · 출력</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64×64 RGB</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16×16 그레이스케일</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2일차 전처리 자산 사용</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rPr>
                        <a:t>판별자</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WGAN-GP critic</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표준 BCE 판별자 (Table 4)</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QGAN과 같은 판별자</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502920">
                <a:tc>
                  <a:txBody>
                    <a:bodyPr/>
                    <a:lstStyle/>
                    <a:p>
                      <a:pPr indent="0" marL="0">
                        <a:buNone/>
                      </a:pPr>
                      <a:r>
                        <a:rPr lang="en-US" sz="1300" dirty="0">
                          <a:solidFill>
                            <a:schemeClr val="tx1"/>
                          </a:solidFill>
                        </a:rPr>
                        <a:t>학습</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GPU, 전체 학습</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25 epoch 사전학습 + 수업 중 미세조정</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16큐빗 시뮬레이션 비용</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rPr>
                        <a:t>평가</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FID, 분류 성능</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지표 4종</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FID는 16×16에서 의미 없음</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p>
            <a:pPr indent="0" marL="0">
              <a:buNone/>
            </a:pPr>
            <a:r>
              <a:rPr lang="en-US" sz="1200" b="1" spc="100" kern="0" dirty="0">
                <a:solidFill>
                  <a:schemeClr val="accent3"/>
                </a:solidFill>
              </a:rPr>
              <a:t>PART 2 · 노트북 §4 셀 실행 후</a:t>
            </a: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p>
            <a:pPr algn="l" indent="0" marL="0">
              <a:buNone/>
            </a:pPr>
            <a:r>
              <a:rPr lang="en-US" sz="3600" b="1" dirty="0">
                <a:solidFill>
                  <a:schemeClr val="bg1"/>
                </a:solidFill>
              </a:rPr>
              <a:t>라이브 미세조정</a:t>
            </a: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p>
            <a:pPr indent="0" marL="0">
              <a:buNone/>
            </a:pPr>
            <a:r>
              <a:rPr lang="en-US" sz="1500" dirty="0">
                <a:solidFill>
                  <a:schemeClr val="bg2"/>
                </a:solidFill>
              </a:rPr>
              <a:t>덜 학습된 10 epoch checkpoint에서 출발해 20 step을 더 학습함</a:t>
            </a:r>
            <a:endParaRPr lang="en-US" sz="1500" dirty="0"/>
          </a:p>
        </p:txBody>
      </p:sp>
      <p:sp>
        <p:nvSpPr>
          <p:cNvPr id="6" name="Text 3"/>
          <p:cNvSpPr txBox="1"/>
          <p:nvPr/>
        </p:nvSpPr>
        <p:spPr>
          <a:xfrm>
            <a:off x="822960" y="297180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이 파트의 코드</a:t>
            </a:r>
            <a:endParaRPr lang="en-US" sz="1400" dirty="0"/>
          </a:p>
        </p:txBody>
      </p:sp>
      <p:sp>
        <p:nvSpPr>
          <p:cNvPr id="7" name="Text 4"/>
          <p:cNvSpPr txBox="1"/>
          <p:nvPr/>
        </p:nvSpPr>
        <p:spPr>
          <a:xfrm>
            <a:off x="3291840" y="2971800"/>
            <a:ext cx="8046720" cy="548640"/>
          </a:xfrm>
          <a:prstGeom prst="rect">
            <a:avLst/>
          </a:prstGeom>
          <a:noFill/>
          <a:ln/>
        </p:spPr>
        <p:txBody>
          <a:bodyPr wrap="square" lIns="0" tIns="0" rIns="0" bIns="0" rtlCol="0" anchor="t"/>
          <a:lstStyle/>
          <a:p>
            <a:pPr indent="0" marL="0">
              <a:buNone/>
            </a:pPr>
            <a:r>
              <a:rPr lang="en-US" sz="1500" dirty="0">
                <a:solidFill>
                  <a:schemeClr val="bg1"/>
                </a:solidFill>
              </a:rPr>
              <a:t>mediqgan_e010.pt · sample_z · real_tanh · Adam(betas=(0.5, 0.999))</a:t>
            </a:r>
            <a:endParaRPr lang="en-US" sz="1500" dirty="0"/>
          </a:p>
        </p:txBody>
      </p:sp>
      <p:sp>
        <p:nvSpPr>
          <p:cNvPr id="8" name="Text 5"/>
          <p:cNvSpPr txBox="1"/>
          <p:nvPr/>
        </p:nvSpPr>
        <p:spPr>
          <a:xfrm>
            <a:off x="822960" y="384048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핵심 질문</a:t>
            </a:r>
            <a:endParaRPr lang="en-US" sz="1400" dirty="0"/>
          </a:p>
        </p:txBody>
      </p:sp>
      <p:sp>
        <p:nvSpPr>
          <p:cNvPr id="9" name="Text 6"/>
          <p:cNvSpPr txBox="1"/>
          <p:nvPr/>
        </p:nvSpPr>
        <p:spPr>
          <a:xfrm>
            <a:off x="3291840" y="3840480"/>
            <a:ext cx="8046720" cy="548640"/>
          </a:xfrm>
          <a:prstGeom prst="rect">
            <a:avLst/>
          </a:prstGeom>
          <a:noFill/>
          <a:ln/>
        </p:spPr>
        <p:txBody>
          <a:bodyPr wrap="square" lIns="0" tIns="0" rIns="0" bIns="0" rtlCol="0" anchor="t"/>
          <a:lstStyle/>
          <a:p>
            <a:pPr indent="0" marL="0">
              <a:buNone/>
            </a:pPr>
            <a:r>
              <a:rPr lang="en-US" sz="1500" dirty="0">
                <a:solidFill>
                  <a:schemeClr val="bg1"/>
                </a:solidFill>
              </a:rPr>
              <a:t>왜 전체 학습이 아니라 미세조정인가 / 2일차와 학습 설정이 왜 다른가 / 학습이 불안정한 이유는</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2 · 노트북 §4 코드</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미세조정 코드 - 2일차와 무엇이 다른가</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루프 구조는 2일차와 같고, 척도·잠재벡터·optimizer 설정이 다름</a:t>
            </a:r>
            <a:endParaRPr lang="en-US" sz="1400" dirty="0"/>
          </a:p>
        </p:txBody>
      </p:sp>
      <p:sp>
        <p:nvSpPr>
          <p:cNvPr id="6" name="Shape 3"/>
          <p:cNvSpPr/>
          <p:nvPr/>
        </p:nvSpPr>
        <p:spPr>
          <a:xfrm>
            <a:off x="548640" y="2011680"/>
            <a:ext cx="6766560" cy="4069080"/>
          </a:xfrm>
          <a:prstGeom prst="roundRect">
            <a:avLst>
              <a:gd name="adj" fmla="val 2247"/>
            </a:avLst>
          </a:prstGeom>
          <a:solidFill>
            <a:schemeClr val="tx2"/>
          </a:solidFill>
          <a:ln/>
        </p:spPr>
      </p:sp>
      <p:sp>
        <p:nvSpPr>
          <p:cNvPr id="7" name="Text 4"/>
          <p:cNvSpPr txBox="1"/>
          <p:nvPr/>
        </p:nvSpPr>
        <p:spPr>
          <a:xfrm>
            <a:off x="777240" y="2194560"/>
            <a:ext cx="6309360" cy="3703320"/>
          </a:xfrm>
          <a:prstGeom prst="rect">
            <a:avLst/>
          </a:prstGeom>
          <a:noFill/>
          <a:ln/>
        </p:spPr>
        <p:txBody>
          <a:bodyPr wrap="square" lIns="0" tIns="0" rIns="0" bIns="0" rtlCol="0" anchor="t"/>
          <a:lstStyle/>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mq_ckpt = torch.load(f"{ASSET_DIR}/mediqgan_e010.pt")</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mq_disc.load_state_dict(mq_ckpt["discriminator_state_dict"])</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real_tanh = torch.tensor(df_imgs.reshape(115, -1) * 2 - 1)</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def sample_z(n): return torch.randn(n, 256)   # z ~ N(0, 1)</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spcAft>
                <a:spcPts val="200"/>
              </a:spcAft>
              <a:buNone/>
            </a:pPr>
            <a:r>
              <a:rPr lang="en-US" sz="1150" b="1" dirty="0">
                <a:solidFill>
                  <a:schemeClr val="accent3"/>
                </a:solidFill>
                <a:latin typeface="Courier New" pitchFamily="34" charset="0"/>
                <a:ea typeface="Courier New" pitchFamily="34" charset="-122"/>
                <a:cs typeface="Courier New" pitchFamily="34" charset="-120"/>
              </a:rPr>
              <a:t>opt_g = Adam(mq_gen.parameters(),  lr=2e-4, betas=(0.5, 0.999))</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opt_d = Adam(mq_disc.parameters(), lr=2e-4, betas=(0.5, 0.999))</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for step in range(20):       # batch 4, same D/G loop as day 2</a:t>
            </a:r>
            <a:endParaRPr lang="en-US" sz="1150" dirty="0"/>
          </a:p>
          <a:p>
            <a:pPr indent="0" marL="0">
              <a:spcAft>
                <a:spcPts val="200"/>
              </a:spcAft>
              <a:buNone/>
            </a:pPr>
            <a:r>
              <a:rPr lang="en-US" sz="1150" dirty="0">
                <a:solidFill>
                  <a:schemeClr val="bg2"/>
                </a:solidFill>
                <a:latin typeface="Courier New" pitchFamily="34" charset="0"/>
                <a:ea typeface="Courier New" pitchFamily="34" charset="-122"/>
                <a:cs typeface="Courier New" pitchFamily="34" charset="-120"/>
              </a:rPr>
              <a:t>    ...</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589520" y="2011680"/>
          <a:ext cx="4023360" cy="914400"/>
        </p:xfrm>
        <a:graphic>
          <a:graphicData uri="http://schemas.openxmlformats.org/drawingml/2006/table">
            <a:tbl>
              <a:tblPr/>
              <a:tblGrid>
                <a:gridCol w="1188720"/>
                <a:gridCol w="1417320"/>
                <a:gridCol w="1417320"/>
              </a:tblGrid>
              <a:tr h="438912">
                <a:tc>
                  <a:txBody>
                    <a:bodyPr/>
                    <a:lstStyle/>
                    <a:p>
                      <a:pPr indent="0" marL="0">
                        <a:buNone/>
                      </a:pPr>
                      <a:r>
                        <a:rPr lang="en-US" sz="1150" b="1" dirty="0">
                          <a:solidFill>
                            <a:schemeClr val="bg1"/>
                          </a:solidFill>
                        </a:rPr>
                        <a:t>설정</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2일차 QGAN</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3일차 MediQ</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438912">
                <a:tc>
                  <a:txBody>
                    <a:bodyPr/>
                    <a:lstStyle/>
                    <a:p>
                      <a:pPr indent="0" marL="0">
                        <a:buNone/>
                      </a:pPr>
                      <a:r>
                        <a:rPr lang="en-US" sz="1150" dirty="0">
                          <a:solidFill>
                            <a:schemeClr val="tx1"/>
                          </a:solidFill>
                        </a:rPr>
                        <a:t>출력 척도</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확률 (prob)</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Tanh (-1 ~ 1)</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38912">
                <a:tc>
                  <a:txBody>
                    <a:bodyPr/>
                    <a:lstStyle/>
                    <a:p>
                      <a:pPr indent="0" marL="0">
                        <a:buNone/>
                      </a:pPr>
                      <a:r>
                        <a:rPr lang="en-US" sz="1150" dirty="0">
                          <a:solidFill>
                            <a:schemeClr val="tx1"/>
                          </a:solidFill>
                        </a:rPr>
                        <a:t>실제 이미지</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이미지 합 = 1</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2x - 1</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438912">
                <a:tc>
                  <a:txBody>
                    <a:bodyPr/>
                    <a:lstStyle/>
                    <a:p>
                      <a:pPr indent="0" marL="0">
                        <a:buNone/>
                      </a:pPr>
                      <a:r>
                        <a:rPr lang="en-US" sz="1150" dirty="0">
                          <a:solidFill>
                            <a:schemeClr val="tx1"/>
                          </a:solidFill>
                        </a:rPr>
                        <a:t>잠재벡터</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U(0, π) 각도</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N(0, 1)</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38912">
                <a:tc>
                  <a:txBody>
                    <a:bodyPr/>
                    <a:lstStyle/>
                    <a:p>
                      <a:pPr indent="0" marL="0">
                        <a:buNone/>
                      </a:pPr>
                      <a:r>
                        <a:rPr lang="en-US" sz="1150" dirty="0">
                          <a:solidFill>
                            <a:schemeClr val="tx1"/>
                          </a:solidFill>
                        </a:rPr>
                        <a:t>학습률 G / D</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0.05 / 0.001</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2e-4 / 2e-4</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438912">
                <a:tc>
                  <a:txBody>
                    <a:bodyPr/>
                    <a:lstStyle/>
                    <a:p>
                      <a:pPr indent="0" marL="0">
                        <a:buNone/>
                      </a:pPr>
                      <a:r>
                        <a:rPr lang="en-US" sz="1150" dirty="0">
                          <a:solidFill>
                            <a:schemeClr val="tx1"/>
                          </a:solidFill>
                        </a:rPr>
                        <a:t>Adam betas</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(0.9, 0.999)</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(0.5, 0.999)</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38912">
                <a:tc>
                  <a:txBody>
                    <a:bodyPr/>
                    <a:lstStyle/>
                    <a:p>
                      <a:pPr indent="0" marL="0">
                        <a:buNone/>
                      </a:pPr>
                      <a:r>
                        <a:rPr lang="en-US" sz="1150" dirty="0">
                          <a:solidFill>
                            <a:schemeClr val="tx1"/>
                          </a:solidFill>
                        </a:rPr>
                        <a:t>batch · step</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8 · 400</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4 · 20 (미세조정)</a:t>
                      </a:r>
                      <a:endParaRPr lang="en-US" sz="115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bl>
          </a:graphicData>
        </a:graphic>
      </p:graphicFrame>
      <p:sp>
        <p:nvSpPr>
          <p:cNvPr id="9" name="Shape 5"/>
          <p:cNvSpPr/>
          <p:nvPr/>
        </p:nvSpPr>
        <p:spPr>
          <a:xfrm>
            <a:off x="7589520" y="5486400"/>
            <a:ext cx="4023360" cy="594360"/>
          </a:xfrm>
          <a:prstGeom prst="roundRect">
            <a:avLst>
              <a:gd name="adj" fmla="val 18462"/>
            </a:avLst>
          </a:prstGeom>
          <a:solidFill>
            <a:srgbClr val="FAF6EE"/>
          </a:solidFill>
          <a:ln/>
        </p:spPr>
      </p:sp>
      <p:sp>
        <p:nvSpPr>
          <p:cNvPr id="10" name="Text 6"/>
          <p:cNvSpPr txBox="1"/>
          <p:nvPr/>
        </p:nvSpPr>
        <p:spPr>
          <a:xfrm>
            <a:off x="7772400" y="5486400"/>
            <a:ext cx="3657600" cy="594360"/>
          </a:xfrm>
          <a:prstGeom prst="rect">
            <a:avLst/>
          </a:prstGeom>
          <a:noFill/>
          <a:ln/>
        </p:spPr>
        <p:txBody>
          <a:bodyPr wrap="square" lIns="0" tIns="0" rIns="0" bIns="0" rtlCol="0" anchor="ctr"/>
          <a:lstStyle/>
          <a:p>
            <a:pPr indent="0" marL="0">
              <a:buNone/>
            </a:pPr>
            <a:r>
              <a:rPr lang="en-US" sz="1200" b="1" dirty="0">
                <a:solidFill>
                  <a:schemeClr val="accent4"/>
                </a:solidFill>
              </a:rPr>
              <a:t>GAN 관례값(DCGAN): lr 2e-4, beta1 0.5</a:t>
            </a:r>
            <a:endParaRPr lang="en-US" sz="12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2 · 학습 안정성</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25 epoch 동안의 손실 - 판별자가 이기는 구간</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강사 checkpoint의 학습 기록(epoch별 평균). 15 ~ 21 epoch에서 판별자가 우세해졌다가 회복함</a:t>
            </a:r>
            <a:endParaRPr lang="en-US" sz="1400" dirty="0"/>
          </a:p>
        </p:txBody>
      </p:sp>
      <p:graphicFrame>
        <p:nvGraphicFramePr>
          <p:cNvPr id="6" name="Chart 0" descr=""/>
          <p:cNvGraphicFramePr/>
          <p:nvPr/>
        </p:nvGraphicFramePr>
        <p:xfrm>
          <a:off x="548640" y="196596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8138160" y="2057400"/>
            <a:ext cx="3474720" cy="1828800"/>
          </a:xfrm>
          <a:prstGeom prst="roundRect">
            <a:avLst>
              <a:gd name="adj" fmla="val 6000"/>
            </a:avLst>
          </a:prstGeom>
          <a:solidFill>
            <a:srgbClr val="FAF6EE"/>
          </a:solidFill>
          <a:ln/>
          <a:effectLst>
            <a:outerShdw sx="100000" sy="100000" kx="0" ky="0" algn="bl" rotWithShape="0" blurRad="76200" dist="25400" dir="5400000">
              <a:srgbClr val="000000">
                <a:alpha val="12000"/>
              </a:srgbClr>
            </a:outerShdw>
          </a:effectLst>
        </p:spPr>
      </p:sp>
      <p:sp>
        <p:nvSpPr>
          <p:cNvPr id="8" name="Text 4"/>
          <p:cNvSpPr txBox="1"/>
          <p:nvPr/>
        </p:nvSpPr>
        <p:spPr>
          <a:xfrm>
            <a:off x="8366760" y="2194560"/>
            <a:ext cx="3108960" cy="731520"/>
          </a:xfrm>
          <a:prstGeom prst="rect">
            <a:avLst/>
          </a:prstGeom>
          <a:noFill/>
          <a:ln/>
        </p:spPr>
        <p:txBody>
          <a:bodyPr wrap="square" lIns="0" tIns="0" rIns="0" bIns="0" rtlCol="0" anchor="t"/>
          <a:lstStyle/>
          <a:p>
            <a:pPr indent="0" marL="0">
              <a:buNone/>
            </a:pPr>
            <a:r>
              <a:rPr lang="en-US" sz="3200" b="1" dirty="0">
                <a:solidFill>
                  <a:schemeClr val="accent4"/>
                </a:solidFill>
              </a:rPr>
              <a:t>0.0027</a:t>
            </a:r>
            <a:endParaRPr lang="en-US" sz="3200" dirty="0"/>
          </a:p>
        </p:txBody>
      </p:sp>
      <p:sp>
        <p:nvSpPr>
          <p:cNvPr id="9" name="Text 5"/>
          <p:cNvSpPr txBox="1"/>
          <p:nvPr/>
        </p:nvSpPr>
        <p:spPr>
          <a:xfrm>
            <a:off x="8366760" y="2926080"/>
            <a:ext cx="3108960" cy="365760"/>
          </a:xfrm>
          <a:prstGeom prst="rect">
            <a:avLst/>
          </a:prstGeom>
          <a:noFill/>
          <a:ln/>
        </p:spPr>
        <p:txBody>
          <a:bodyPr wrap="square" lIns="0" tIns="0" rIns="0" bIns="0" rtlCol="0" anchor="t"/>
          <a:lstStyle/>
          <a:p>
            <a:pPr indent="0" marL="0">
              <a:buNone/>
            </a:pPr>
            <a:r>
              <a:rPr lang="en-US" sz="1300" b="1" dirty="0">
                <a:solidFill>
                  <a:schemeClr val="tx1"/>
                </a:solidFill>
              </a:rPr>
              <a:t>loss_d (lr_g 0.02, 3 epoch)</a:t>
            </a:r>
            <a:endParaRPr lang="en-US" sz="1300" dirty="0"/>
          </a:p>
        </p:txBody>
      </p:sp>
      <p:sp>
        <p:nvSpPr>
          <p:cNvPr id="10" name="Text 6"/>
          <p:cNvSpPr txBox="1"/>
          <p:nvPr/>
        </p:nvSpPr>
        <p:spPr>
          <a:xfrm>
            <a:off x="8366760" y="3291840"/>
            <a:ext cx="3108960" cy="457200"/>
          </a:xfrm>
          <a:prstGeom prst="rect">
            <a:avLst/>
          </a:prstGeom>
          <a:noFill/>
          <a:ln/>
        </p:spPr>
        <p:txBody>
          <a:bodyPr wrap="square" lIns="0" tIns="0" rIns="0" bIns="0" rtlCol="0" anchor="t"/>
          <a:lstStyle/>
          <a:p>
            <a:pPr indent="0" marL="0">
              <a:buNone/>
            </a:pPr>
            <a:r>
              <a:rPr lang="en-US" sz="1200" dirty="0">
                <a:solidFill>
                  <a:schemeClr val="accent6"/>
                </a:solidFill>
              </a:rPr>
              <a:t>판별자 완승 - 완전 mode collapse</a:t>
            </a:r>
            <a:endParaRPr lang="en-US" sz="1200" dirty="0"/>
          </a:p>
        </p:txBody>
      </p:sp>
      <p:sp>
        <p:nvSpPr>
          <p:cNvPr id="11" name="Shape 7"/>
          <p:cNvSpPr/>
          <p:nvPr/>
        </p:nvSpPr>
        <p:spPr>
          <a:xfrm>
            <a:off x="8138160" y="4114800"/>
            <a:ext cx="3474720" cy="1828800"/>
          </a:xfrm>
          <a:prstGeom prst="roundRect">
            <a:avLst>
              <a:gd name="adj" fmla="val 6000"/>
            </a:avLst>
          </a:prstGeom>
          <a:solidFill>
            <a:srgbClr val="F2F0EB"/>
          </a:solidFill>
          <a:ln/>
          <a:effectLst>
            <a:outerShdw sx="100000" sy="100000" kx="0" ky="0" algn="bl" rotWithShape="0" blurRad="76200" dist="25400" dir="5400000">
              <a:srgbClr val="000000">
                <a:alpha val="12000"/>
              </a:srgbClr>
            </a:outerShdw>
          </a:effectLst>
        </p:spPr>
      </p:sp>
      <p:sp>
        <p:nvSpPr>
          <p:cNvPr id="12" name="Text 8"/>
          <p:cNvSpPr txBox="1"/>
          <p:nvPr/>
        </p:nvSpPr>
        <p:spPr>
          <a:xfrm>
            <a:off x="8366760" y="4251960"/>
            <a:ext cx="3108960" cy="731520"/>
          </a:xfrm>
          <a:prstGeom prst="rect">
            <a:avLst/>
          </a:prstGeom>
          <a:noFill/>
          <a:ln/>
        </p:spPr>
        <p:txBody>
          <a:bodyPr wrap="square" lIns="0" tIns="0" rIns="0" bIns="0" rtlCol="0" anchor="t"/>
          <a:lstStyle/>
          <a:p>
            <a:pPr indent="0" marL="0">
              <a:buNone/>
            </a:pPr>
            <a:r>
              <a:rPr lang="en-US" sz="3200" b="1" dirty="0">
                <a:solidFill>
                  <a:schemeClr val="tx1"/>
                </a:solidFill>
              </a:rPr>
              <a:t>1.39 → 0.74</a:t>
            </a:r>
            <a:endParaRPr lang="en-US" sz="3200" dirty="0"/>
          </a:p>
        </p:txBody>
      </p:sp>
      <p:sp>
        <p:nvSpPr>
          <p:cNvPr id="13" name="Text 9"/>
          <p:cNvSpPr txBox="1"/>
          <p:nvPr/>
        </p:nvSpPr>
        <p:spPr>
          <a:xfrm>
            <a:off x="8366760" y="4983480"/>
            <a:ext cx="3108960" cy="365760"/>
          </a:xfrm>
          <a:prstGeom prst="rect">
            <a:avLst/>
          </a:prstGeom>
          <a:noFill/>
          <a:ln/>
        </p:spPr>
        <p:txBody>
          <a:bodyPr wrap="square" lIns="0" tIns="0" rIns="0" bIns="0" rtlCol="0" anchor="t"/>
          <a:lstStyle/>
          <a:p>
            <a:pPr indent="0" marL="0">
              <a:buNone/>
            </a:pPr>
            <a:r>
              <a:rPr lang="en-US" sz="1300" b="1" dirty="0">
                <a:solidFill>
                  <a:schemeClr val="tx1"/>
                </a:solidFill>
              </a:rPr>
              <a:t>loss_d (관례값, 1 → 19 epoch)</a:t>
            </a:r>
            <a:endParaRPr lang="en-US" sz="1300" dirty="0"/>
          </a:p>
        </p:txBody>
      </p:sp>
      <p:sp>
        <p:nvSpPr>
          <p:cNvPr id="14" name="Text 10"/>
          <p:cNvSpPr txBox="1"/>
          <p:nvPr/>
        </p:nvSpPr>
        <p:spPr>
          <a:xfrm>
            <a:off x="8366760" y="5349240"/>
            <a:ext cx="3108960" cy="457200"/>
          </a:xfrm>
          <a:prstGeom prst="rect">
            <a:avLst/>
          </a:prstGeom>
          <a:noFill/>
          <a:ln/>
        </p:spPr>
        <p:txBody>
          <a:bodyPr wrap="square" lIns="0" tIns="0" rIns="0" bIns="0" rtlCol="0" anchor="t"/>
          <a:lstStyle/>
          <a:p>
            <a:pPr indent="0" marL="0">
              <a:buNone/>
            </a:pPr>
            <a:r>
              <a:rPr lang="en-US" sz="1200" dirty="0">
                <a:solidFill>
                  <a:schemeClr val="accent6"/>
                </a:solidFill>
              </a:rPr>
              <a:t>판별자 우세 구간 후 22 epoch부터 회복</a:t>
            </a:r>
            <a:endParaRPr lang="en-US" sz="12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2 · 계산 비용</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왜 전체 학습 대신 미세조정인가</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16큐빗 회로 시뮬레이션이 비싸, 25 epoch 사전학습에 196분이 걸림</a:t>
            </a:r>
            <a:endParaRPr lang="en-US" sz="1400" dirty="0"/>
          </a:p>
        </p:txBody>
      </p:sp>
      <p:sp>
        <p:nvSpPr>
          <p:cNvPr id="6" name="Shape 3"/>
          <p:cNvSpPr/>
          <p:nvPr/>
        </p:nvSpPr>
        <p:spPr>
          <a:xfrm>
            <a:off x="548640" y="2103120"/>
            <a:ext cx="3520440" cy="16916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7" name="Text 4"/>
          <p:cNvSpPr txBox="1"/>
          <p:nvPr/>
        </p:nvSpPr>
        <p:spPr>
          <a:xfrm>
            <a:off x="777240" y="2194560"/>
            <a:ext cx="3108960" cy="822960"/>
          </a:xfrm>
          <a:prstGeom prst="rect">
            <a:avLst/>
          </a:prstGeom>
          <a:noFill/>
          <a:ln/>
        </p:spPr>
        <p:txBody>
          <a:bodyPr wrap="square" lIns="0" tIns="0" rIns="0" bIns="0" rtlCol="0" anchor="t"/>
          <a:lstStyle/>
          <a:p>
            <a:pPr indent="0" marL="0">
              <a:buNone/>
            </a:pPr>
            <a:r>
              <a:rPr lang="en-US" sz="4400" b="1" dirty="0">
                <a:solidFill>
                  <a:schemeClr val="tx1"/>
                </a:solidFill>
              </a:rPr>
              <a:t>7.8분</a:t>
            </a:r>
            <a:endParaRPr lang="en-US" sz="4400" dirty="0"/>
          </a:p>
        </p:txBody>
      </p:sp>
      <p:sp>
        <p:nvSpPr>
          <p:cNvPr id="8" name="Text 5"/>
          <p:cNvSpPr txBox="1"/>
          <p:nvPr/>
        </p:nvSpPr>
        <p:spPr>
          <a:xfrm>
            <a:off x="777240" y="3017520"/>
            <a:ext cx="3108960" cy="320040"/>
          </a:xfrm>
          <a:prstGeom prst="rect">
            <a:avLst/>
          </a:prstGeom>
          <a:noFill/>
          <a:ln/>
        </p:spPr>
        <p:txBody>
          <a:bodyPr wrap="square" lIns="0" tIns="0" rIns="0" bIns="0" rtlCol="0" anchor="t"/>
          <a:lstStyle/>
          <a:p>
            <a:pPr indent="0" marL="0">
              <a:buNone/>
            </a:pPr>
            <a:r>
              <a:rPr lang="en-US" sz="1400" b="1" dirty="0">
                <a:solidFill>
                  <a:schemeClr val="tx1"/>
                </a:solidFill>
              </a:rPr>
              <a:t>1 epoch (28 step)</a:t>
            </a:r>
            <a:endParaRPr lang="en-US" sz="1400" dirty="0"/>
          </a:p>
        </p:txBody>
      </p:sp>
      <p:sp>
        <p:nvSpPr>
          <p:cNvPr id="9" name="Text 6"/>
          <p:cNvSpPr txBox="1"/>
          <p:nvPr/>
        </p:nvSpPr>
        <p:spPr>
          <a:xfrm>
            <a:off x="777240" y="3364992"/>
            <a:ext cx="3108960" cy="320040"/>
          </a:xfrm>
          <a:prstGeom prst="rect">
            <a:avLst/>
          </a:prstGeom>
          <a:noFill/>
          <a:ln/>
        </p:spPr>
        <p:txBody>
          <a:bodyPr wrap="square" lIns="0" tIns="0" rIns="0" bIns="0" rtlCol="0" anchor="t"/>
          <a:lstStyle/>
          <a:p>
            <a:pPr indent="0" marL="0">
              <a:buNone/>
            </a:pPr>
            <a:r>
              <a:rPr lang="en-US" sz="1200" dirty="0">
                <a:solidFill>
                  <a:schemeClr val="accent6"/>
                </a:solidFill>
              </a:rPr>
              <a:t>checkpoint 기록 평균</a:t>
            </a:r>
            <a:endParaRPr lang="en-US" sz="1200" dirty="0"/>
          </a:p>
        </p:txBody>
      </p:sp>
      <p:sp>
        <p:nvSpPr>
          <p:cNvPr id="10" name="Shape 7"/>
          <p:cNvSpPr/>
          <p:nvPr/>
        </p:nvSpPr>
        <p:spPr>
          <a:xfrm>
            <a:off x="4297680" y="2103120"/>
            <a:ext cx="3520440" cy="1691640"/>
          </a:xfrm>
          <a:prstGeom prst="roundRect">
            <a:avLst>
              <a:gd name="adj" fmla="val 6486"/>
            </a:avLst>
          </a:prstGeom>
          <a:solidFill>
            <a:srgbClr val="DDF2E6"/>
          </a:solidFill>
          <a:ln w="15875">
            <a:solidFill>
              <a:srgbClr val="00754A"/>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4526280" y="2194560"/>
            <a:ext cx="3108960" cy="822960"/>
          </a:xfrm>
          <a:prstGeom prst="rect">
            <a:avLst/>
          </a:prstGeom>
          <a:noFill/>
          <a:ln/>
        </p:spPr>
        <p:txBody>
          <a:bodyPr wrap="square" lIns="0" tIns="0" rIns="0" bIns="0" rtlCol="0" anchor="t"/>
          <a:lstStyle/>
          <a:p>
            <a:pPr indent="0" marL="0">
              <a:buNone/>
            </a:pPr>
            <a:r>
              <a:rPr lang="en-US" sz="4400" b="1" dirty="0">
                <a:solidFill>
                  <a:schemeClr val="accent1"/>
                </a:solidFill>
              </a:rPr>
              <a:t>196분</a:t>
            </a:r>
            <a:endParaRPr lang="en-US" sz="4400" dirty="0"/>
          </a:p>
        </p:txBody>
      </p:sp>
      <p:sp>
        <p:nvSpPr>
          <p:cNvPr id="12" name="Text 9"/>
          <p:cNvSpPr txBox="1"/>
          <p:nvPr/>
        </p:nvSpPr>
        <p:spPr>
          <a:xfrm>
            <a:off x="4526280" y="3017520"/>
            <a:ext cx="3108960" cy="320040"/>
          </a:xfrm>
          <a:prstGeom prst="rect">
            <a:avLst/>
          </a:prstGeom>
          <a:noFill/>
          <a:ln/>
        </p:spPr>
        <p:txBody>
          <a:bodyPr wrap="square" lIns="0" tIns="0" rIns="0" bIns="0" rtlCol="0" anchor="t"/>
          <a:lstStyle/>
          <a:p>
            <a:pPr indent="0" marL="0">
              <a:buNone/>
            </a:pPr>
            <a:r>
              <a:rPr lang="en-US" sz="1400" b="1" dirty="0">
                <a:solidFill>
                  <a:schemeClr val="tx1"/>
                </a:solidFill>
              </a:rPr>
              <a:t>25 epoch 사전학습</a:t>
            </a:r>
            <a:endParaRPr lang="en-US" sz="1400" dirty="0"/>
          </a:p>
        </p:txBody>
      </p:sp>
      <p:sp>
        <p:nvSpPr>
          <p:cNvPr id="13" name="Text 10"/>
          <p:cNvSpPr txBox="1"/>
          <p:nvPr/>
        </p:nvSpPr>
        <p:spPr>
          <a:xfrm>
            <a:off x="4526280" y="3364992"/>
            <a:ext cx="3108960" cy="320040"/>
          </a:xfrm>
          <a:prstGeom prst="rect">
            <a:avLst/>
          </a:prstGeom>
          <a:noFill/>
          <a:ln/>
        </p:spPr>
        <p:txBody>
          <a:bodyPr wrap="square" lIns="0" tIns="0" rIns="0" bIns="0" rtlCol="0" anchor="t"/>
          <a:lstStyle/>
          <a:p>
            <a:pPr indent="0" marL="0">
              <a:buNone/>
            </a:pPr>
            <a:r>
              <a:rPr lang="en-US" sz="1200" dirty="0">
                <a:solidFill>
                  <a:schemeClr val="accent6"/>
                </a:solidFill>
              </a:rPr>
              <a:t>약 3시간 15분</a:t>
            </a:r>
            <a:endParaRPr lang="en-US" sz="1200" dirty="0"/>
          </a:p>
        </p:txBody>
      </p:sp>
      <p:sp>
        <p:nvSpPr>
          <p:cNvPr id="14" name="Shape 11"/>
          <p:cNvSpPr/>
          <p:nvPr/>
        </p:nvSpPr>
        <p:spPr>
          <a:xfrm>
            <a:off x="8046720" y="2103120"/>
            <a:ext cx="3520440" cy="1691640"/>
          </a:xfrm>
          <a:prstGeom prst="roundRect">
            <a:avLst>
              <a:gd name="adj" fmla="val 6486"/>
            </a:avLst>
          </a:prstGeom>
          <a:solidFill>
            <a:srgbClr val="F2F0EB"/>
          </a:solidFill>
          <a:ln/>
          <a:effectLst>
            <a:outerShdw sx="100000" sy="100000" kx="0" ky="0" algn="bl" rotWithShape="0" blurRad="76200" dist="25400" dir="5400000">
              <a:srgbClr val="000000">
                <a:alpha val="12000"/>
              </a:srgbClr>
            </a:outerShdw>
          </a:effectLst>
        </p:spPr>
      </p:sp>
      <p:sp>
        <p:nvSpPr>
          <p:cNvPr id="15" name="Text 12"/>
          <p:cNvSpPr txBox="1"/>
          <p:nvPr/>
        </p:nvSpPr>
        <p:spPr>
          <a:xfrm>
            <a:off x="8275320" y="2194560"/>
            <a:ext cx="3108960" cy="822960"/>
          </a:xfrm>
          <a:prstGeom prst="rect">
            <a:avLst/>
          </a:prstGeom>
          <a:noFill/>
          <a:ln/>
        </p:spPr>
        <p:txBody>
          <a:bodyPr wrap="square" lIns="0" tIns="0" rIns="0" bIns="0" rtlCol="0" anchor="t"/>
          <a:lstStyle/>
          <a:p>
            <a:pPr indent="0" marL="0">
              <a:buNone/>
            </a:pPr>
            <a:r>
              <a:rPr lang="en-US" sz="4400" b="1" dirty="0">
                <a:solidFill>
                  <a:schemeClr val="tx1"/>
                </a:solidFill>
              </a:rPr>
              <a:t>약 20초</a:t>
            </a:r>
            <a:endParaRPr lang="en-US" sz="4400" dirty="0"/>
          </a:p>
        </p:txBody>
      </p:sp>
      <p:sp>
        <p:nvSpPr>
          <p:cNvPr id="16" name="Text 13"/>
          <p:cNvSpPr txBox="1"/>
          <p:nvPr/>
        </p:nvSpPr>
        <p:spPr>
          <a:xfrm>
            <a:off x="8275320" y="3017520"/>
            <a:ext cx="3108960" cy="320040"/>
          </a:xfrm>
          <a:prstGeom prst="rect">
            <a:avLst/>
          </a:prstGeom>
          <a:noFill/>
          <a:ln/>
        </p:spPr>
        <p:txBody>
          <a:bodyPr wrap="square" lIns="0" tIns="0" rIns="0" bIns="0" rtlCol="0" anchor="t"/>
          <a:lstStyle/>
          <a:p>
            <a:pPr indent="0" marL="0">
              <a:buNone/>
            </a:pPr>
            <a:r>
              <a:rPr lang="en-US" sz="1400" b="1" dirty="0">
                <a:solidFill>
                  <a:schemeClr val="tx1"/>
                </a:solidFill>
              </a:rPr>
              <a:t>미세조정 1 step</a:t>
            </a:r>
            <a:endParaRPr lang="en-US" sz="1400" dirty="0"/>
          </a:p>
        </p:txBody>
      </p:sp>
      <p:sp>
        <p:nvSpPr>
          <p:cNvPr id="17" name="Text 14"/>
          <p:cNvSpPr txBox="1"/>
          <p:nvPr/>
        </p:nvSpPr>
        <p:spPr>
          <a:xfrm>
            <a:off x="8275320" y="3364992"/>
            <a:ext cx="3108960" cy="320040"/>
          </a:xfrm>
          <a:prstGeom prst="rect">
            <a:avLst/>
          </a:prstGeom>
          <a:noFill/>
          <a:ln/>
        </p:spPr>
        <p:txBody>
          <a:bodyPr wrap="square" lIns="0" tIns="0" rIns="0" bIns="0" rtlCol="0" anchor="t"/>
          <a:lstStyle/>
          <a:p>
            <a:pPr indent="0" marL="0">
              <a:buNone/>
            </a:pPr>
            <a:r>
              <a:rPr lang="en-US" sz="1200" dirty="0">
                <a:solidFill>
                  <a:schemeClr val="accent6"/>
                </a:solidFill>
              </a:rPr>
              <a:t>batch 4, 로컬 CPU</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11064240" cy="914400"/>
        </p:xfrm>
        <a:graphic>
          <a:graphicData uri="http://schemas.openxmlformats.org/drawingml/2006/table">
            <a:tbl>
              <a:tblPr/>
              <a:tblGrid>
                <a:gridCol w="2743200"/>
                <a:gridCol w="4160520"/>
                <a:gridCol w="4160520"/>
              </a:tblGrid>
              <a:tr h="411480">
                <a:tc>
                  <a:txBody>
                    <a:bodyPr/>
                    <a:lstStyle/>
                    <a:p>
                      <a:pPr indent="0" marL="0">
                        <a:buNone/>
                      </a:pP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2일차 QGAN</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3일차 MediQ-GAN</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큐빗 (회로 하나)</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7</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상태벡터 차원</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2⁷ = 128</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2¹⁶ = 65,536</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411480">
                <a:tc>
                  <a:txBody>
                    <a:bodyPr/>
                    <a:lstStyle/>
                    <a:p>
                      <a:pPr indent="0" marL="0">
                        <a:buNone/>
                      </a:pPr>
                      <a:r>
                        <a:rPr lang="en-US" sz="1300" dirty="0">
                          <a:solidFill>
                            <a:schemeClr val="tx1"/>
                          </a:solidFill>
                        </a:rPr>
                        <a:t>미분 방식</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backprop (default.qubit)</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adjoint (lightning.qubit)</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411480">
                <a:tc>
                  <a:txBody>
                    <a:bodyPr/>
                    <a:lstStyle/>
                    <a:p>
                      <a:pPr indent="0" marL="0">
                        <a:buNone/>
                      </a:pPr>
                      <a:r>
                        <a:rPr lang="en-US" sz="1300" dirty="0">
                          <a:solidFill>
                            <a:schemeClr val="tx1"/>
                          </a:solidFill>
                        </a:rPr>
                        <a:t>수업 중 학습</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처음부터 400 step (Colab 약 35분)</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 epoch에서 20 step 미세조정</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p>
            <a:pPr indent="0" marL="0">
              <a:buNone/>
            </a:pPr>
            <a:r>
              <a:rPr lang="en-US" sz="1200" b="1" spc="100" kern="0" dirty="0">
                <a:solidFill>
                  <a:schemeClr val="accent3"/>
                </a:solidFill>
              </a:rPr>
              <a:t>PART 3 · 노트북 §5 직전</a:t>
            </a: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p>
            <a:pPr algn="l" indent="0" marL="0">
              <a:buNone/>
            </a:pPr>
            <a:r>
              <a:rPr lang="en-US" sz="3600" b="1" dirty="0">
                <a:solidFill>
                  <a:schemeClr val="bg1"/>
                </a:solidFill>
              </a:rPr>
              <a:t>QGAN vs MediQ-GAN</a:t>
            </a: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p>
            <a:pPr indent="0" marL="0">
              <a:buNone/>
            </a:pPr>
            <a:r>
              <a:rPr lang="en-US" sz="1500" dirty="0">
                <a:solidFill>
                  <a:schemeClr val="bg2"/>
                </a:solidFill>
              </a:rPr>
              <a:t>두 모델의 출력을 0 ~ 1로 되돌린 뒤 같은 지표 4종으로 비교함</a:t>
            </a:r>
            <a:endParaRPr lang="en-US" sz="1500" dirty="0"/>
          </a:p>
        </p:txBody>
      </p:sp>
      <p:sp>
        <p:nvSpPr>
          <p:cNvPr id="6" name="Text 3"/>
          <p:cNvSpPr txBox="1"/>
          <p:nvPr/>
        </p:nvSpPr>
        <p:spPr>
          <a:xfrm>
            <a:off x="822960" y="297180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이 파트의 코드</a:t>
            </a:r>
            <a:endParaRPr lang="en-US" sz="1400" dirty="0"/>
          </a:p>
        </p:txBody>
      </p:sp>
      <p:sp>
        <p:nvSpPr>
          <p:cNvPr id="7" name="Text 4"/>
          <p:cNvSpPr txBox="1"/>
          <p:nvPr/>
        </p:nvSpPr>
        <p:spPr>
          <a:xfrm>
            <a:off x="3291840" y="2971800"/>
            <a:ext cx="8046720" cy="548640"/>
          </a:xfrm>
          <a:prstGeom prst="rect">
            <a:avLst/>
          </a:prstGeom>
          <a:noFill/>
          <a:ln/>
        </p:spPr>
        <p:txBody>
          <a:bodyPr wrap="square" lIns="0" tIns="0" rIns="0" bIns="0" rtlCol="0" anchor="t"/>
          <a:lstStyle/>
          <a:p>
            <a:pPr indent="0" marL="0">
              <a:buNone/>
            </a:pPr>
            <a:r>
              <a:rPr lang="en-US" sz="1500" dirty="0">
                <a:solidFill>
                  <a:schemeClr val="bg1"/>
                </a:solidFill>
              </a:rPr>
              <a:t>gm.comparison_table · to_unit_scale(x, 'prob' / 'tanh')</a:t>
            </a:r>
            <a:endParaRPr lang="en-US" sz="1500" dirty="0"/>
          </a:p>
        </p:txBody>
      </p:sp>
      <p:sp>
        <p:nvSpPr>
          <p:cNvPr id="8" name="Text 5"/>
          <p:cNvSpPr txBox="1"/>
          <p:nvPr/>
        </p:nvSpPr>
        <p:spPr>
          <a:xfrm>
            <a:off x="822960" y="384048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핵심 질문</a:t>
            </a:r>
            <a:endParaRPr lang="en-US" sz="1400" dirty="0"/>
          </a:p>
        </p:txBody>
      </p:sp>
      <p:sp>
        <p:nvSpPr>
          <p:cNvPr id="9" name="Text 6"/>
          <p:cNvSpPr txBox="1"/>
          <p:nvPr/>
        </p:nvSpPr>
        <p:spPr>
          <a:xfrm>
            <a:off x="3291840" y="3840480"/>
            <a:ext cx="8046720" cy="548640"/>
          </a:xfrm>
          <a:prstGeom prst="rect">
            <a:avLst/>
          </a:prstGeom>
          <a:noFill/>
          <a:ln/>
        </p:spPr>
        <p:txBody>
          <a:bodyPr wrap="square" lIns="0" tIns="0" rIns="0" bIns="0" rtlCol="0" anchor="t"/>
          <a:lstStyle/>
          <a:p>
            <a:pPr indent="0" marL="0">
              <a:buNone/>
            </a:pPr>
            <a:r>
              <a:rPr lang="en-US" sz="1500" dirty="0">
                <a:solidFill>
                  <a:schemeClr val="bg1"/>
                </a:solidFill>
              </a:rPr>
              <a:t>어느 쪽이 더 좋은 생성모델인가 - 형태 재현과 다양성 중 무엇을 볼 것인가</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3 · 노트북 §5</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형태는 MediQ-GAN, 다양성은 QGAN</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README 결과표 기준. 두 지표를 함께 봐야 '더 좋은 생성모델'에 답할 수 있음</a:t>
            </a:r>
            <a:endParaRPr lang="en-US" sz="1400" dirty="0"/>
          </a:p>
        </p:txBody>
      </p:sp>
      <p:graphicFrame>
        <p:nvGraphicFramePr>
          <p:cNvPr id="6" name="Chart 0" descr=""/>
          <p:cNvGraphicFramePr/>
          <p:nvPr/>
        </p:nvGraphicFramePr>
        <p:xfrm>
          <a:off x="548640" y="196596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217920" y="196596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3 · 결과 해석</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두 모델이 실패하는 방식이 다름</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QGAN은 형태가 약하고, MediQ-GAN은 '평균 이미지'에 가까운 그림을 반복함</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2926080"/>
                <a:gridCol w="2011680"/>
                <a:gridCol w="2194560"/>
                <a:gridCol w="3931920"/>
              </a:tblGrid>
              <a:tr h="502920">
                <a:tc>
                  <a:txBody>
                    <a:bodyPr/>
                    <a:lstStyle/>
                    <a:p>
                      <a:pPr indent="0" marL="0">
                        <a:buNone/>
                      </a:pPr>
                      <a:r>
                        <a:rPr lang="en-US" sz="1300" b="1" dirty="0">
                          <a:solidFill>
                            <a:schemeClr val="bg1"/>
                          </a:solidFill>
                        </a:rPr>
                        <a:t>지표</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QGAN 600 step</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MediQ-GAN 25 epoch</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읽는 법</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rPr>
                        <a:t>② 클래스 평균 상관 ↑</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0.195</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0.365</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평균 형태는 MediQ-GAN이 더 가까움</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rPr>
                        <a:t>③ 최근접 실제 거리</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1.64</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3.44</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MediQ-GAN은 실제 이미지 어느 것과도 멂</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502920">
                <a:tc>
                  <a:txBody>
                    <a:bodyPr/>
                    <a:lstStyle/>
                    <a:p>
                      <a:pPr indent="0" marL="0">
                        <a:buNone/>
                      </a:pPr>
                      <a:r>
                        <a:rPr lang="en-US" sz="1300" dirty="0">
                          <a:solidFill>
                            <a:schemeClr val="tx1"/>
                          </a:solidFill>
                        </a:rPr>
                        <a:t>④ 샘플 간 거리 (실제 2.505)</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1.92</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0.30</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MediQ-GAN은 비슷한 그림을 반복</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bl>
          </a:graphicData>
        </a:graphic>
      </p:graphicFrame>
      <p:sp>
        <p:nvSpPr>
          <p:cNvPr id="7" name="Shape 3"/>
          <p:cNvSpPr/>
          <p:nvPr/>
        </p:nvSpPr>
        <p:spPr>
          <a:xfrm>
            <a:off x="548640" y="4251960"/>
            <a:ext cx="5394960" cy="1463040"/>
          </a:xfrm>
          <a:prstGeom prst="roundRect">
            <a:avLst>
              <a:gd name="adj" fmla="val 7500"/>
            </a:avLst>
          </a:prstGeom>
          <a:solidFill>
            <a:srgbClr val="DDF2E6"/>
          </a:solidFill>
          <a:ln w="15875">
            <a:solidFill>
              <a:srgbClr val="00754A"/>
            </a:solidFill>
            <a:prstDash val="solid"/>
          </a:ln>
        </p:spPr>
      </p:sp>
      <p:sp>
        <p:nvSpPr>
          <p:cNvPr id="8" name="Text 4"/>
          <p:cNvSpPr txBox="1"/>
          <p:nvPr/>
        </p:nvSpPr>
        <p:spPr>
          <a:xfrm>
            <a:off x="777240" y="4389120"/>
            <a:ext cx="4937760" cy="365760"/>
          </a:xfrm>
          <a:prstGeom prst="rect">
            <a:avLst/>
          </a:prstGeom>
          <a:noFill/>
          <a:ln/>
        </p:spPr>
        <p:txBody>
          <a:bodyPr wrap="square" lIns="0" tIns="0" rIns="0" bIns="0" rtlCol="0" anchor="t"/>
          <a:lstStyle/>
          <a:p>
            <a:pPr indent="0" marL="0">
              <a:buNone/>
            </a:pPr>
            <a:r>
              <a:rPr lang="en-US" sz="1600" b="1" dirty="0">
                <a:solidFill>
                  <a:schemeClr val="accent1"/>
                </a:solidFill>
              </a:rPr>
              <a:t>QGAN</a:t>
            </a:r>
            <a:endParaRPr lang="en-US" sz="1600" dirty="0"/>
          </a:p>
        </p:txBody>
      </p:sp>
      <p:sp>
        <p:nvSpPr>
          <p:cNvPr id="9" name="Text 5"/>
          <p:cNvSpPr txBox="1"/>
          <p:nvPr/>
        </p:nvSpPr>
        <p:spPr>
          <a:xfrm>
            <a:off x="777240" y="4800600"/>
            <a:ext cx="4937760" cy="1097280"/>
          </a:xfrm>
          <a:prstGeom prst="rect">
            <a:avLst/>
          </a:prstGeom>
          <a:noFill/>
          <a:ln/>
        </p:spPr>
        <p:txBody>
          <a:bodyPr wrap="square" lIns="0" tIns="0" rIns="0" bIns="0" rtlCol="0" anchor="t"/>
          <a:lstStyle/>
          <a:p>
            <a:pPr indent="0" marL="0">
              <a:buNone/>
            </a:pPr>
            <a:r>
              <a:rPr lang="en-US" sz="1300" dirty="0">
                <a:solidFill>
                  <a:schemeClr val="tx1"/>
                </a:solidFill>
              </a:rPr>
              <a:t>다양성은 실제에 가깝지만 병변 형태 재현이 약함. 각 patch가 독립적으로 만들어져 이미지 전체 구조를 잡기 어려움</a:t>
            </a:r>
            <a:endParaRPr lang="en-US" sz="1300" dirty="0"/>
          </a:p>
        </p:txBody>
      </p:sp>
      <p:sp>
        <p:nvSpPr>
          <p:cNvPr id="10" name="Shape 6"/>
          <p:cNvSpPr/>
          <p:nvPr/>
        </p:nvSpPr>
        <p:spPr>
          <a:xfrm>
            <a:off x="6217920" y="4251960"/>
            <a:ext cx="5394960" cy="1463040"/>
          </a:xfrm>
          <a:prstGeom prst="roundRect">
            <a:avLst>
              <a:gd name="adj" fmla="val 7500"/>
            </a:avLst>
          </a:prstGeom>
          <a:solidFill>
            <a:srgbClr val="EDE7F5"/>
          </a:solidFill>
          <a:ln w="15875">
            <a:solidFill>
              <a:srgbClr val="B9B3D6"/>
            </a:solidFill>
            <a:prstDash val="solid"/>
          </a:ln>
        </p:spPr>
      </p:sp>
      <p:sp>
        <p:nvSpPr>
          <p:cNvPr id="11" name="Text 7"/>
          <p:cNvSpPr txBox="1"/>
          <p:nvPr/>
        </p:nvSpPr>
        <p:spPr>
          <a:xfrm>
            <a:off x="6446520" y="4389120"/>
            <a:ext cx="4937760" cy="365760"/>
          </a:xfrm>
          <a:prstGeom prst="rect">
            <a:avLst/>
          </a:prstGeom>
          <a:noFill/>
          <a:ln/>
        </p:spPr>
        <p:txBody>
          <a:bodyPr wrap="square" lIns="0" tIns="0" rIns="0" bIns="0" rtlCol="0" anchor="t"/>
          <a:lstStyle/>
          <a:p>
            <a:pPr indent="0" marL="0">
              <a:buNone/>
            </a:pPr>
            <a:r>
              <a:rPr lang="en-US" sz="1600" b="1" dirty="0">
                <a:solidFill>
                  <a:schemeClr val="accent2"/>
                </a:solidFill>
              </a:rPr>
              <a:t>MediQ-GAN</a:t>
            </a:r>
            <a:endParaRPr lang="en-US" sz="1600" dirty="0"/>
          </a:p>
        </p:txBody>
      </p:sp>
      <p:sp>
        <p:nvSpPr>
          <p:cNvPr id="12" name="Text 8"/>
          <p:cNvSpPr txBox="1"/>
          <p:nvPr/>
        </p:nvSpPr>
        <p:spPr>
          <a:xfrm>
            <a:off x="6446520" y="4800600"/>
            <a:ext cx="4937760" cy="1097280"/>
          </a:xfrm>
          <a:prstGeom prst="rect">
            <a:avLst/>
          </a:prstGeom>
          <a:noFill/>
          <a:ln/>
        </p:spPr>
        <p:txBody>
          <a:bodyPr wrap="square" lIns="0" tIns="0" rIns="0" bIns="0" rtlCol="0" anchor="t"/>
          <a:lstStyle/>
          <a:p>
            <a:pPr indent="0" marL="0">
              <a:buNone/>
            </a:pPr>
            <a:r>
              <a:rPr lang="en-US" sz="1300" dirty="0">
                <a:solidFill>
                  <a:schemeClr val="tx1"/>
                </a:solidFill>
              </a:rPr>
              <a:t>평균 형태는 잘 맞추지만 다양성이 실제의 1/8. 고전 decoder가 출력을 만들어 Tanh 포화 시 z와 무관한 이미지가 나옴</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4 · 노트북 §6</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이미지 생성에서의 양자컴퓨팅 - 6가지 관찰</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3일 동안의 실습에서 직접 확인한 것</a:t>
            </a:r>
            <a:endParaRPr lang="en-US" sz="1400" dirty="0"/>
          </a:p>
        </p:txBody>
      </p:sp>
      <p:sp>
        <p:nvSpPr>
          <p:cNvPr id="6" name="Shape 3"/>
          <p:cNvSpPr/>
          <p:nvPr/>
        </p:nvSpPr>
        <p:spPr>
          <a:xfrm>
            <a:off x="548640" y="2057400"/>
            <a:ext cx="5440680" cy="1188720"/>
          </a:xfrm>
          <a:prstGeom prst="roundRect">
            <a:avLst>
              <a:gd name="adj" fmla="val 9231"/>
            </a:avLst>
          </a:prstGeom>
          <a:solidFill>
            <a:srgbClr val="F2F0EB"/>
          </a:solidFill>
          <a:ln/>
        </p:spPr>
      </p:sp>
      <p:sp>
        <p:nvSpPr>
          <p:cNvPr id="7" name="Shape 4"/>
          <p:cNvSpPr/>
          <p:nvPr/>
        </p:nvSpPr>
        <p:spPr>
          <a:xfrm>
            <a:off x="731520" y="2240280"/>
            <a:ext cx="384048" cy="384048"/>
          </a:xfrm>
          <a:prstGeom prst="ellipse">
            <a:avLst/>
          </a:prstGeom>
          <a:solidFill>
            <a:schemeClr val="accent1"/>
          </a:solidFill>
          <a:ln/>
        </p:spPr>
      </p:sp>
      <p:sp>
        <p:nvSpPr>
          <p:cNvPr id="8" name="Text 5"/>
          <p:cNvSpPr txBox="1"/>
          <p:nvPr/>
        </p:nvSpPr>
        <p:spPr>
          <a:xfrm>
            <a:off x="73152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280160" y="22219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측정 방식이 성패를 가름</a:t>
            </a:r>
            <a:endParaRPr lang="en-US" sz="1500" dirty="0"/>
          </a:p>
        </p:txBody>
      </p:sp>
      <p:sp>
        <p:nvSpPr>
          <p:cNvPr id="10" name="Text 7"/>
          <p:cNvSpPr txBox="1"/>
          <p:nvPr/>
        </p:nvSpPr>
        <p:spPr>
          <a:xfrm>
            <a:off x="1280160" y="26243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회로가 아니라 측정·해석(post-selection)을 바꾸자 학습이 됨</a:t>
            </a:r>
            <a:endParaRPr lang="en-US" sz="1200" dirty="0"/>
          </a:p>
        </p:txBody>
      </p:sp>
      <p:sp>
        <p:nvSpPr>
          <p:cNvPr id="11" name="Shape 8"/>
          <p:cNvSpPr/>
          <p:nvPr/>
        </p:nvSpPr>
        <p:spPr>
          <a:xfrm>
            <a:off x="6172200" y="2057400"/>
            <a:ext cx="5440680" cy="1188720"/>
          </a:xfrm>
          <a:prstGeom prst="roundRect">
            <a:avLst>
              <a:gd name="adj" fmla="val 9231"/>
            </a:avLst>
          </a:prstGeom>
          <a:solidFill>
            <a:srgbClr val="F2F0EB"/>
          </a:solidFill>
          <a:ln/>
        </p:spPr>
      </p:sp>
      <p:sp>
        <p:nvSpPr>
          <p:cNvPr id="12" name="Shape 9"/>
          <p:cNvSpPr/>
          <p:nvPr/>
        </p:nvSpPr>
        <p:spPr>
          <a:xfrm>
            <a:off x="6355080" y="2240280"/>
            <a:ext cx="384048" cy="384048"/>
          </a:xfrm>
          <a:prstGeom prst="ellipse">
            <a:avLst/>
          </a:prstGeom>
          <a:solidFill>
            <a:schemeClr val="accent1"/>
          </a:solidFill>
          <a:ln/>
        </p:spPr>
      </p:sp>
      <p:sp>
        <p:nvSpPr>
          <p:cNvPr id="13" name="Text 10"/>
          <p:cNvSpPr txBox="1"/>
          <p:nvPr/>
        </p:nvSpPr>
        <p:spPr>
          <a:xfrm>
            <a:off x="635508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6903720" y="22219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지금의 학습은 대부분 시뮬레이션</a:t>
            </a:r>
            <a:endParaRPr lang="en-US" sz="1500" dirty="0"/>
          </a:p>
        </p:txBody>
      </p:sp>
      <p:sp>
        <p:nvSpPr>
          <p:cNvPr id="15" name="Text 12"/>
          <p:cNvSpPr txBox="1"/>
          <p:nvPr/>
        </p:nvSpPr>
        <p:spPr>
          <a:xfrm>
            <a:off x="6903720" y="26243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실제 장치는 parameter-shift - 파라미터당 회로 2회 × shot</a:t>
            </a:r>
            <a:endParaRPr lang="en-US" sz="1200" dirty="0"/>
          </a:p>
        </p:txBody>
      </p:sp>
      <p:sp>
        <p:nvSpPr>
          <p:cNvPr id="16" name="Shape 13"/>
          <p:cNvSpPr/>
          <p:nvPr/>
        </p:nvSpPr>
        <p:spPr>
          <a:xfrm>
            <a:off x="548640" y="3429000"/>
            <a:ext cx="5440680" cy="1188720"/>
          </a:xfrm>
          <a:prstGeom prst="roundRect">
            <a:avLst>
              <a:gd name="adj" fmla="val 9231"/>
            </a:avLst>
          </a:prstGeom>
          <a:solidFill>
            <a:srgbClr val="F2F0EB"/>
          </a:solidFill>
          <a:ln/>
        </p:spPr>
      </p:sp>
      <p:sp>
        <p:nvSpPr>
          <p:cNvPr id="17" name="Shape 14"/>
          <p:cNvSpPr/>
          <p:nvPr/>
        </p:nvSpPr>
        <p:spPr>
          <a:xfrm>
            <a:off x="731520" y="3611880"/>
            <a:ext cx="384048" cy="384048"/>
          </a:xfrm>
          <a:prstGeom prst="ellipse">
            <a:avLst/>
          </a:prstGeom>
          <a:solidFill>
            <a:schemeClr val="accent1"/>
          </a:solidFill>
          <a:ln/>
        </p:spPr>
      </p:sp>
      <p:sp>
        <p:nvSpPr>
          <p:cNvPr id="18" name="Text 15"/>
          <p:cNvSpPr txBox="1"/>
          <p:nvPr/>
        </p:nvSpPr>
        <p:spPr>
          <a:xfrm>
            <a:off x="731520" y="3611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1280160" y="35935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해상도 한계 = 평가 한계</a:t>
            </a:r>
            <a:endParaRPr lang="en-US" sz="1500" dirty="0"/>
          </a:p>
        </p:txBody>
      </p:sp>
      <p:sp>
        <p:nvSpPr>
          <p:cNvPr id="20" name="Text 17"/>
          <p:cNvSpPr txBox="1"/>
          <p:nvPr/>
        </p:nvSpPr>
        <p:spPr>
          <a:xfrm>
            <a:off x="1280160" y="39959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16×16에서는 FID가 무의미. 지표 선택 자체가 연구 과제</a:t>
            </a:r>
            <a:endParaRPr lang="en-US" sz="1200" dirty="0"/>
          </a:p>
        </p:txBody>
      </p:sp>
      <p:sp>
        <p:nvSpPr>
          <p:cNvPr id="21" name="Shape 18"/>
          <p:cNvSpPr/>
          <p:nvPr/>
        </p:nvSpPr>
        <p:spPr>
          <a:xfrm>
            <a:off x="6172200" y="3429000"/>
            <a:ext cx="5440680" cy="1188720"/>
          </a:xfrm>
          <a:prstGeom prst="roundRect">
            <a:avLst>
              <a:gd name="adj" fmla="val 9231"/>
            </a:avLst>
          </a:prstGeom>
          <a:solidFill>
            <a:srgbClr val="F2F0EB"/>
          </a:solidFill>
          <a:ln/>
        </p:spPr>
      </p:sp>
      <p:sp>
        <p:nvSpPr>
          <p:cNvPr id="22" name="Shape 19"/>
          <p:cNvSpPr/>
          <p:nvPr/>
        </p:nvSpPr>
        <p:spPr>
          <a:xfrm>
            <a:off x="6355080" y="3611880"/>
            <a:ext cx="384048" cy="384048"/>
          </a:xfrm>
          <a:prstGeom prst="ellipse">
            <a:avLst/>
          </a:prstGeom>
          <a:solidFill>
            <a:schemeClr val="accent1"/>
          </a:solidFill>
          <a:ln/>
        </p:spPr>
      </p:sp>
      <p:sp>
        <p:nvSpPr>
          <p:cNvPr id="23" name="Text 20"/>
          <p:cNvSpPr txBox="1"/>
          <p:nvPr/>
        </p:nvSpPr>
        <p:spPr>
          <a:xfrm>
            <a:off x="6355080" y="3611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903720" y="35935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큐빗 수에 지수적인 비용</a:t>
            </a:r>
            <a:endParaRPr lang="en-US" sz="1500" dirty="0"/>
          </a:p>
        </p:txBody>
      </p:sp>
      <p:sp>
        <p:nvSpPr>
          <p:cNvPr id="25" name="Text 22"/>
          <p:cNvSpPr txBox="1"/>
          <p:nvPr/>
        </p:nvSpPr>
        <p:spPr>
          <a:xfrm>
            <a:off x="6903720" y="39959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16큐빗은 12큐빗 대비 상태 16배, 실측 시간 약 20배</a:t>
            </a:r>
            <a:endParaRPr lang="en-US" sz="1200" dirty="0"/>
          </a:p>
        </p:txBody>
      </p:sp>
      <p:sp>
        <p:nvSpPr>
          <p:cNvPr id="26" name="Shape 23"/>
          <p:cNvSpPr/>
          <p:nvPr/>
        </p:nvSpPr>
        <p:spPr>
          <a:xfrm>
            <a:off x="548640" y="4800600"/>
            <a:ext cx="5440680" cy="1188720"/>
          </a:xfrm>
          <a:prstGeom prst="roundRect">
            <a:avLst>
              <a:gd name="adj" fmla="val 9231"/>
            </a:avLst>
          </a:prstGeom>
          <a:solidFill>
            <a:srgbClr val="F2F0EB"/>
          </a:solidFill>
          <a:ln/>
        </p:spPr>
      </p:sp>
      <p:sp>
        <p:nvSpPr>
          <p:cNvPr id="27" name="Shape 24"/>
          <p:cNvSpPr/>
          <p:nvPr/>
        </p:nvSpPr>
        <p:spPr>
          <a:xfrm>
            <a:off x="731520" y="4983480"/>
            <a:ext cx="384048" cy="384048"/>
          </a:xfrm>
          <a:prstGeom prst="ellipse">
            <a:avLst/>
          </a:prstGeom>
          <a:solidFill>
            <a:schemeClr val="accent4"/>
          </a:solidFill>
          <a:ln/>
        </p:spPr>
      </p:sp>
      <p:sp>
        <p:nvSpPr>
          <p:cNvPr id="28" name="Text 25"/>
          <p:cNvSpPr txBox="1"/>
          <p:nvPr/>
        </p:nvSpPr>
        <p:spPr>
          <a:xfrm>
            <a:off x="731520" y="4983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9" name="Text 26"/>
          <p:cNvSpPr txBox="1"/>
          <p:nvPr/>
        </p:nvSpPr>
        <p:spPr>
          <a:xfrm>
            <a:off x="1280160" y="49651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고전 쪽 안정화가 결과를 좌우</a:t>
            </a:r>
            <a:endParaRPr lang="en-US" sz="1500" dirty="0"/>
          </a:p>
        </p:txBody>
      </p:sp>
      <p:sp>
        <p:nvSpPr>
          <p:cNvPr id="30" name="Text 27"/>
          <p:cNvSpPr txBox="1"/>
          <p:nvPr/>
        </p:nvSpPr>
        <p:spPr>
          <a:xfrm>
            <a:off x="1280160" y="53675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BCE 판별자는 쉽게 이김 - 원 논문은 WGAN-GP critic</a:t>
            </a:r>
            <a:endParaRPr lang="en-US" sz="1200" dirty="0"/>
          </a:p>
        </p:txBody>
      </p:sp>
      <p:sp>
        <p:nvSpPr>
          <p:cNvPr id="31" name="Shape 28"/>
          <p:cNvSpPr/>
          <p:nvPr/>
        </p:nvSpPr>
        <p:spPr>
          <a:xfrm>
            <a:off x="6172200" y="4800600"/>
            <a:ext cx="5440680" cy="1188720"/>
          </a:xfrm>
          <a:prstGeom prst="roundRect">
            <a:avLst>
              <a:gd name="adj" fmla="val 9231"/>
            </a:avLst>
          </a:prstGeom>
          <a:solidFill>
            <a:srgbClr val="F2F0EB"/>
          </a:solidFill>
          <a:ln/>
        </p:spPr>
      </p:sp>
      <p:sp>
        <p:nvSpPr>
          <p:cNvPr id="32" name="Shape 29"/>
          <p:cNvSpPr/>
          <p:nvPr/>
        </p:nvSpPr>
        <p:spPr>
          <a:xfrm>
            <a:off x="6355080" y="4983480"/>
            <a:ext cx="384048" cy="384048"/>
          </a:xfrm>
          <a:prstGeom prst="ellipse">
            <a:avLst/>
          </a:prstGeom>
          <a:solidFill>
            <a:schemeClr val="accent1"/>
          </a:solidFill>
          <a:ln/>
        </p:spPr>
      </p:sp>
      <p:sp>
        <p:nvSpPr>
          <p:cNvPr id="33" name="Text 30"/>
          <p:cNvSpPr txBox="1"/>
          <p:nvPr/>
        </p:nvSpPr>
        <p:spPr>
          <a:xfrm>
            <a:off x="6355080" y="4983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4" name="Text 31"/>
          <p:cNvSpPr txBox="1"/>
          <p:nvPr/>
        </p:nvSpPr>
        <p:spPr>
          <a:xfrm>
            <a:off x="6903720" y="4965192"/>
            <a:ext cx="4526280" cy="365760"/>
          </a:xfrm>
          <a:prstGeom prst="rect">
            <a:avLst/>
          </a:prstGeom>
          <a:noFill/>
          <a:ln/>
        </p:spPr>
        <p:txBody>
          <a:bodyPr wrap="square" lIns="0" tIns="0" rIns="0" bIns="0" rtlCol="0" anchor="t"/>
          <a:lstStyle/>
          <a:p>
            <a:pPr indent="0" marL="0">
              <a:buNone/>
            </a:pPr>
            <a:r>
              <a:rPr lang="en-US" sz="1500" b="1" dirty="0">
                <a:solidFill>
                  <a:schemeClr val="tx1"/>
                </a:solidFill>
              </a:rPr>
              <a:t>유효한 영역은 아직 좁음</a:t>
            </a:r>
            <a:endParaRPr lang="en-US" sz="1500" dirty="0"/>
          </a:p>
        </p:txBody>
      </p:sp>
      <p:sp>
        <p:nvSpPr>
          <p:cNvPr id="35" name="Text 32"/>
          <p:cNvSpPr txBox="1"/>
          <p:nvPr/>
        </p:nvSpPr>
        <p:spPr>
          <a:xfrm>
            <a:off x="6903720" y="5367528"/>
            <a:ext cx="4526280" cy="548640"/>
          </a:xfrm>
          <a:prstGeom prst="rect">
            <a:avLst/>
          </a:prstGeom>
          <a:noFill/>
          <a:ln/>
        </p:spPr>
        <p:txBody>
          <a:bodyPr wrap="square" lIns="0" tIns="0" rIns="0" bIns="0" rtlCol="0" anchor="t"/>
          <a:lstStyle/>
          <a:p>
            <a:pPr indent="0" marL="0">
              <a:buNone/>
            </a:pPr>
            <a:r>
              <a:rPr lang="en-US" sz="1200" dirty="0">
                <a:solidFill>
                  <a:schemeClr val="accent6"/>
                </a:solidFill>
              </a:rPr>
              <a:t>양자 데이터·상태 생성이 먼저. 고전 이미지에서의 우위는 검증 단계</a:t>
            </a:r>
            <a:endParaRPr lang="en-US" sz="12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4 · 참고</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MediQ-GAN 원 논문 결과</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논문 수치 인용 - 실습의 16×16 결과와 직접 비교하지 않음</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2011680"/>
                <a:gridCol w="2377440"/>
                <a:gridCol w="6675120"/>
              </a:tblGrid>
              <a:tr h="548640">
                <a:tc>
                  <a:txBody>
                    <a:bodyPr/>
                    <a:lstStyle/>
                    <a:p>
                      <a:pPr indent="0" marL="0">
                        <a:buNone/>
                      </a:pPr>
                      <a:r>
                        <a:rPr lang="en-US" sz="1300" b="1" dirty="0">
                          <a:solidFill>
                            <a:schemeClr val="bg1"/>
                          </a:solidFill>
                        </a:rPr>
                        <a:t>데이터셋</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내용</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결과</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tx2"/>
                    </a:solidFill>
                  </a:tcPr>
                </a:tc>
              </a:tr>
              <a:tr h="548640">
                <a:tc>
                  <a:txBody>
                    <a:bodyPr/>
                    <a:lstStyle/>
                    <a:p>
                      <a:pPr indent="0" marL="0">
                        <a:buNone/>
                      </a:pPr>
                      <a:r>
                        <a:rPr lang="en-US" sz="1300" dirty="0">
                          <a:solidFill>
                            <a:schemeClr val="tx1"/>
                          </a:solidFill>
                        </a:rPr>
                        <a:t>ISIC 2019</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피부경검사 8클래스</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소수클래스(df, vasc, scc)에서 모든 고전 baseline 대비 최고 또는 차상위 FID</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rPr>
                        <a:t>ODIR-5k</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안저사진</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두 backbone 모두에서 최고 성능</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rPr>
                        <a:t>RetinaMNIST</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다운샘플 안저사진</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5개 클래스 중 4개에서 최저(최고품질) FID</a:t>
                      </a:r>
                      <a:endParaRPr lang="en-US" sz="1300" dirty="0"/>
                    </a:p>
                  </a:txBody>
                  <a:tcPr marL="91440" marR="91440" marT="54864" marB="54864" anchor="ctr">
                    <a:lnL w="6350" cap="flat" cmpd="sng" algn="ctr">
                      <a:solidFill>
                        <a:srgbClr val="C9C5BE"/>
                      </a:solidFill>
                      <a:prstDash val="solid"/>
                      <a:round/>
                      <a:headEnd type="none" w="med" len="med"/>
                      <a:tailEnd type="none" w="med" len="med"/>
                    </a:lnL>
                    <a:lnR w="6350" cap="flat" cmpd="sng" algn="ctr">
                      <a:solidFill>
                        <a:srgbClr val="C9C5BE"/>
                      </a:solidFill>
                      <a:prstDash val="solid"/>
                      <a:round/>
                      <a:headEnd type="none" w="med" len="med"/>
                      <a:tailEnd type="none" w="med" len="med"/>
                    </a:lnR>
                    <a:lnT w="6350" cap="flat" cmpd="sng" algn="ctr">
                      <a:solidFill>
                        <a:srgbClr val="C9C5BE"/>
                      </a:solidFill>
                      <a:prstDash val="solid"/>
                      <a:round/>
                      <a:headEnd type="none" w="med" len="med"/>
                      <a:tailEnd type="none" w="med" len="med"/>
                    </a:lnT>
                    <a:lnB w="6350" cap="flat" cmpd="sng" algn="ctr">
                      <a:solidFill>
                        <a:srgbClr val="C9C5BE"/>
                      </a:solidFill>
                      <a:prstDash val="solid"/>
                      <a:round/>
                      <a:headEnd type="none" w="med" len="med"/>
                      <a:tailEnd type="none" w="med" len="med"/>
                    </a:lnB>
                    <a:solidFill>
                      <a:schemeClr val="bg1"/>
                    </a:solidFill>
                  </a:tcPr>
                </a:tc>
              </a:tr>
            </a:tbl>
          </a:graphicData>
        </a:graphic>
      </p:graphicFrame>
      <p:sp>
        <p:nvSpPr>
          <p:cNvPr id="7" name="Shape 3"/>
          <p:cNvSpPr/>
          <p:nvPr/>
        </p:nvSpPr>
        <p:spPr>
          <a:xfrm>
            <a:off x="548640" y="4526280"/>
            <a:ext cx="5394960" cy="1508760"/>
          </a:xfrm>
          <a:prstGeom prst="roundRect">
            <a:avLst>
              <a:gd name="adj" fmla="val 7273"/>
            </a:avLst>
          </a:prstGeom>
          <a:solidFill>
            <a:srgbClr val="F2F0EB"/>
          </a:solidFill>
          <a:ln/>
        </p:spPr>
      </p:sp>
      <p:sp>
        <p:nvSpPr>
          <p:cNvPr id="8" name="Text 4"/>
          <p:cNvSpPr txBox="1"/>
          <p:nvPr/>
        </p:nvSpPr>
        <p:spPr>
          <a:xfrm>
            <a:off x="777240" y="4663440"/>
            <a:ext cx="4937760" cy="320040"/>
          </a:xfrm>
          <a:prstGeom prst="rect">
            <a:avLst/>
          </a:prstGeom>
          <a:noFill/>
          <a:ln/>
        </p:spPr>
        <p:txBody>
          <a:bodyPr wrap="square" lIns="0" tIns="0" rIns="0" bIns="0" rtlCol="0" anchor="t"/>
          <a:lstStyle/>
          <a:p>
            <a:pPr indent="0" marL="0">
              <a:buNone/>
            </a:pPr>
            <a:r>
              <a:rPr lang="en-US" sz="1400" b="1" dirty="0">
                <a:solidFill>
                  <a:schemeClr val="accent1"/>
                </a:solidFill>
              </a:rPr>
              <a:t>비교 대상</a:t>
            </a:r>
            <a:endParaRPr lang="en-US" sz="1400" dirty="0"/>
          </a:p>
        </p:txBody>
      </p:sp>
      <p:sp>
        <p:nvSpPr>
          <p:cNvPr id="9" name="Text 5"/>
          <p:cNvSpPr txBox="1"/>
          <p:nvPr/>
        </p:nvSpPr>
        <p:spPr>
          <a:xfrm>
            <a:off x="777240" y="5029200"/>
            <a:ext cx="4937760" cy="914400"/>
          </a:xfrm>
          <a:prstGeom prst="rect">
            <a:avLst/>
          </a:prstGeom>
          <a:noFill/>
          <a:ln/>
        </p:spPr>
        <p:txBody>
          <a:bodyPr wrap="square" lIns="0" tIns="0" rIns="0" bIns="0" rtlCol="0" anchor="t"/>
          <a:lstStyle/>
          <a:p>
            <a:pPr indent="0" marL="0">
              <a:buNone/>
            </a:pPr>
            <a:r>
              <a:rPr lang="en-US" sz="1300" dirty="0">
                <a:solidFill>
                  <a:schemeClr val="tx1"/>
                </a:solidFill>
              </a:rPr>
              <a:t>DCGAN, WGAN-GP, StyleGAN2-ADA, FastGAN, diffusion(DiT), 이전 세대 hybrid 모델 MosaiQ</a:t>
            </a:r>
            <a:endParaRPr lang="en-US" sz="1300" dirty="0"/>
          </a:p>
        </p:txBody>
      </p:sp>
      <p:sp>
        <p:nvSpPr>
          <p:cNvPr id="10" name="Shape 6"/>
          <p:cNvSpPr/>
          <p:nvPr/>
        </p:nvSpPr>
        <p:spPr>
          <a:xfrm>
            <a:off x="6217920" y="4526280"/>
            <a:ext cx="5394960" cy="1508760"/>
          </a:xfrm>
          <a:prstGeom prst="roundRect">
            <a:avLst>
              <a:gd name="adj" fmla="val 7273"/>
            </a:avLst>
          </a:prstGeom>
          <a:solidFill>
            <a:srgbClr val="EDE7F5"/>
          </a:solidFill>
          <a:ln/>
        </p:spPr>
      </p:sp>
      <p:sp>
        <p:nvSpPr>
          <p:cNvPr id="11" name="Text 7"/>
          <p:cNvSpPr txBox="1"/>
          <p:nvPr/>
        </p:nvSpPr>
        <p:spPr>
          <a:xfrm>
            <a:off x="6446520" y="4663440"/>
            <a:ext cx="4937760" cy="320040"/>
          </a:xfrm>
          <a:prstGeom prst="rect">
            <a:avLst/>
          </a:prstGeom>
          <a:noFill/>
          <a:ln/>
        </p:spPr>
        <p:txBody>
          <a:bodyPr wrap="square" lIns="0" tIns="0" rIns="0" bIns="0" rtlCol="0" anchor="t"/>
          <a:lstStyle/>
          <a:p>
            <a:pPr indent="0" marL="0">
              <a:buNone/>
            </a:pPr>
            <a:r>
              <a:rPr lang="en-US" sz="1400" b="1" dirty="0">
                <a:solidFill>
                  <a:schemeClr val="accent2"/>
                </a:solidFill>
              </a:rPr>
              <a:t>실기기 검증</a:t>
            </a:r>
            <a:endParaRPr lang="en-US" sz="1400" dirty="0"/>
          </a:p>
        </p:txBody>
      </p:sp>
      <p:sp>
        <p:nvSpPr>
          <p:cNvPr id="12" name="Text 8"/>
          <p:cNvSpPr txBox="1"/>
          <p:nvPr/>
        </p:nvSpPr>
        <p:spPr>
          <a:xfrm>
            <a:off x="6446520" y="5029200"/>
            <a:ext cx="4937760" cy="914400"/>
          </a:xfrm>
          <a:prstGeom prst="rect">
            <a:avLst/>
          </a:prstGeom>
          <a:noFill/>
          <a:ln/>
        </p:spPr>
        <p:txBody>
          <a:bodyPr wrap="square" lIns="0" tIns="0" rIns="0" bIns="0" rtlCol="0" anchor="t"/>
          <a:lstStyle/>
          <a:p>
            <a:pPr indent="0" marL="0">
              <a:buNone/>
            </a:pPr>
            <a:r>
              <a:rPr lang="en-US" sz="1300" dirty="0">
                <a:solidFill>
                  <a:schemeClr val="tx1"/>
                </a:solidFill>
              </a:rPr>
              <a:t>IBM 양자 장치(ibm_marrakesh)에서 추론 검증</a:t>
            </a:r>
            <a:endParaRPr lang="en-US" sz="13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lstStyle/>
          <a:p>
            <a:pPr indent="0" marL="0">
              <a:buNone/>
            </a:pPr>
            <a:r>
              <a:rPr lang="en-US" sz="1200" b="1" spc="100" kern="0" dirty="0">
                <a:solidFill>
                  <a:schemeClr val="accent1"/>
                </a:solidFill>
              </a:rPr>
              <a:t>PART 4 · 정리</a:t>
            </a:r>
            <a:endParaRPr lang="en-US" sz="1200" dirty="0"/>
          </a:p>
        </p:txBody>
      </p:sp>
      <p:sp>
        <p:nvSpPr>
          <p:cNvPr id="3" name="Text 0"/>
          <p:cNvSpPr/>
          <p:nvPr>
            <p:ph idx="101" type="title" hasCustomPrompt="1"/>
          </p:nvPr>
        </p:nvSpPr>
        <p:spPr>
          <a:xfrm>
            <a:off x="548640" y="685800"/>
            <a:ext cx="11064240" cy="685800"/>
          </a:xfrm>
          <a:prstGeom prst="rect">
            <a:avLst/>
          </a:prstGeom>
          <a:noFill/>
          <a:ln/>
        </p:spPr>
        <p:txBody>
          <a:bodyPr wrap="square" lIns="0" tIns="0" rIns="0" bIns="0" rtlCol="0"/>
          <a:lstStyle/>
          <a:p>
            <a:pPr algn="l" indent="0" marL="0">
              <a:buNone/>
            </a:pPr>
            <a:r>
              <a:rPr lang="en-US" sz="3000" b="1" dirty="0">
                <a:solidFill>
                  <a:schemeClr val="tx1"/>
                </a:solidFill>
              </a:rPr>
              <a:t>확인 질문</a:t>
            </a:r>
            <a:endParaRPr lang="en-US" sz="3000" dirty="0"/>
          </a:p>
        </p:txBody>
      </p:sp>
      <p:sp>
        <p:nvSpPr>
          <p:cNvPr id="4" name="Text 0"/>
          <p:cNvSpPr/>
          <p:nvPr>
            <p:ph idx="102" type="body" hasCustomPrompt="1"/>
          </p:nvPr>
        </p:nvSpPr>
        <p:spPr>
          <a:xfrm>
            <a:off x="548640" y="1371600"/>
            <a:ext cx="11064240" cy="411480"/>
          </a:xfrm>
          <a:prstGeom prst="rect">
            <a:avLst/>
          </a:prstGeom>
          <a:noFill/>
          <a:ln/>
        </p:spPr>
        <p:txBody>
          <a:bodyPr wrap="square" lIns="0" tIns="0" rIns="0" bIns="0" rtlCol="0"/>
          <a:lstStyle/>
          <a:p>
            <a:pPr indent="0" marL="0">
              <a:buNone/>
            </a:pPr>
            <a:r>
              <a:rPr lang="en-US" sz="1400" dirty="0">
                <a:solidFill>
                  <a:schemeClr val="accent6"/>
                </a:solidFill>
              </a:rPr>
              <a:t>답은 발표자 노트에 있음</a:t>
            </a:r>
            <a:endParaRPr lang="en-US" sz="1400" dirty="0"/>
          </a:p>
        </p:txBody>
      </p:sp>
      <p:sp>
        <p:nvSpPr>
          <p:cNvPr id="6" name="Shape 3"/>
          <p:cNvSpPr/>
          <p:nvPr/>
        </p:nvSpPr>
        <p:spPr>
          <a:xfrm>
            <a:off x="548640" y="2057400"/>
            <a:ext cx="11064240" cy="685800"/>
          </a:xfrm>
          <a:prstGeom prst="roundRect">
            <a:avLst>
              <a:gd name="adj" fmla="val 16000"/>
            </a:avLst>
          </a:prstGeom>
          <a:solidFill>
            <a:srgbClr val="FFFFFF"/>
          </a:solidFill>
          <a:ln w="15875">
            <a:solidFill>
              <a:srgbClr val="C9C5BE"/>
            </a:solidFill>
            <a:prstDash val="solid"/>
          </a:ln>
        </p:spPr>
      </p:sp>
      <p:sp>
        <p:nvSpPr>
          <p:cNvPr id="7" name="Shape 4"/>
          <p:cNvSpPr/>
          <p:nvPr/>
        </p:nvSpPr>
        <p:spPr>
          <a:xfrm>
            <a:off x="731520" y="2208276"/>
            <a:ext cx="384048" cy="384048"/>
          </a:xfrm>
          <a:prstGeom prst="ellipse">
            <a:avLst/>
          </a:prstGeom>
          <a:solidFill>
            <a:schemeClr val="accent1"/>
          </a:solidFill>
          <a:ln/>
        </p:spPr>
      </p:sp>
      <p:sp>
        <p:nvSpPr>
          <p:cNvPr id="8" name="Text 5"/>
          <p:cNvSpPr txBox="1"/>
          <p:nvPr/>
        </p:nvSpPr>
        <p:spPr>
          <a:xfrm>
            <a:off x="731520" y="22082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1325880" y="2057400"/>
            <a:ext cx="10058400" cy="685800"/>
          </a:xfrm>
          <a:prstGeom prst="rect">
            <a:avLst/>
          </a:prstGeom>
          <a:noFill/>
          <a:ln/>
        </p:spPr>
        <p:txBody>
          <a:bodyPr wrap="square" lIns="0" tIns="0" rIns="0" bIns="0" rtlCol="0" anchor="ctr"/>
          <a:lstStyle/>
          <a:p>
            <a:pPr indent="0" marL="0">
              <a:buNone/>
            </a:pPr>
            <a:r>
              <a:rPr lang="en-US" sz="1500" dirty="0">
                <a:solidFill>
                  <a:schemeClr val="tx1"/>
                </a:solidFill>
              </a:rPr>
              <a:t>QGAN과 MediQ-GAN의 hybrid 수준 차이를 '어디까지가 양자인가'로 설명하면</a:t>
            </a:r>
            <a:endParaRPr lang="en-US" sz="1500" dirty="0"/>
          </a:p>
        </p:txBody>
      </p:sp>
      <p:sp>
        <p:nvSpPr>
          <p:cNvPr id="10" name="Shape 7"/>
          <p:cNvSpPr/>
          <p:nvPr/>
        </p:nvSpPr>
        <p:spPr>
          <a:xfrm>
            <a:off x="548640" y="2880360"/>
            <a:ext cx="11064240" cy="685800"/>
          </a:xfrm>
          <a:prstGeom prst="roundRect">
            <a:avLst>
              <a:gd name="adj" fmla="val 16000"/>
            </a:avLst>
          </a:prstGeom>
          <a:solidFill>
            <a:srgbClr val="F2F0EB"/>
          </a:solidFill>
          <a:ln w="15875">
            <a:solidFill>
              <a:srgbClr val="C9C5BE"/>
            </a:solidFill>
            <a:prstDash val="solid"/>
          </a:ln>
        </p:spPr>
      </p:sp>
      <p:sp>
        <p:nvSpPr>
          <p:cNvPr id="11" name="Shape 8"/>
          <p:cNvSpPr/>
          <p:nvPr/>
        </p:nvSpPr>
        <p:spPr>
          <a:xfrm>
            <a:off x="731520" y="3031236"/>
            <a:ext cx="384048" cy="384048"/>
          </a:xfrm>
          <a:prstGeom prst="ellipse">
            <a:avLst/>
          </a:prstGeom>
          <a:solidFill>
            <a:schemeClr val="accent1"/>
          </a:solidFill>
          <a:ln/>
        </p:spPr>
      </p:sp>
      <p:sp>
        <p:nvSpPr>
          <p:cNvPr id="12" name="Text 9"/>
          <p:cNvSpPr txBox="1"/>
          <p:nvPr/>
        </p:nvSpPr>
        <p:spPr>
          <a:xfrm>
            <a:off x="731520" y="30312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1325880" y="2880360"/>
            <a:ext cx="10058400" cy="685800"/>
          </a:xfrm>
          <a:prstGeom prst="rect">
            <a:avLst/>
          </a:prstGeom>
          <a:noFill/>
          <a:ln/>
        </p:spPr>
        <p:txBody>
          <a:bodyPr wrap="square" lIns="0" tIns="0" rIns="0" bIns="0" rtlCol="0" anchor="ctr"/>
          <a:lstStyle/>
          <a:p>
            <a:pPr indent="0" marL="0">
              <a:buNone/>
            </a:pPr>
            <a:r>
              <a:rPr lang="en-US" sz="1500" dirty="0">
                <a:solidFill>
                  <a:schemeClr val="tx1"/>
                </a:solidFill>
              </a:rPr>
              <a:t>checkpoint에 가중치뿐 아니라 config를 함께 저장하는 이유는</a:t>
            </a:r>
            <a:endParaRPr lang="en-US" sz="1500" dirty="0"/>
          </a:p>
        </p:txBody>
      </p:sp>
      <p:sp>
        <p:nvSpPr>
          <p:cNvPr id="14" name="Shape 11"/>
          <p:cNvSpPr/>
          <p:nvPr/>
        </p:nvSpPr>
        <p:spPr>
          <a:xfrm>
            <a:off x="548640" y="3703320"/>
            <a:ext cx="11064240" cy="685800"/>
          </a:xfrm>
          <a:prstGeom prst="roundRect">
            <a:avLst>
              <a:gd name="adj" fmla="val 16000"/>
            </a:avLst>
          </a:prstGeom>
          <a:solidFill>
            <a:srgbClr val="FFFFFF"/>
          </a:solidFill>
          <a:ln w="15875">
            <a:solidFill>
              <a:srgbClr val="C9C5BE"/>
            </a:solidFill>
            <a:prstDash val="solid"/>
          </a:ln>
        </p:spPr>
      </p:sp>
      <p:sp>
        <p:nvSpPr>
          <p:cNvPr id="15" name="Shape 12"/>
          <p:cNvSpPr/>
          <p:nvPr/>
        </p:nvSpPr>
        <p:spPr>
          <a:xfrm>
            <a:off x="731520" y="3854196"/>
            <a:ext cx="384048" cy="384048"/>
          </a:xfrm>
          <a:prstGeom prst="ellipse">
            <a:avLst/>
          </a:prstGeom>
          <a:solidFill>
            <a:schemeClr val="accent1"/>
          </a:solidFill>
          <a:ln/>
        </p:spPr>
      </p:sp>
      <p:sp>
        <p:nvSpPr>
          <p:cNvPr id="16" name="Text 13"/>
          <p:cNvSpPr txBox="1"/>
          <p:nvPr/>
        </p:nvSpPr>
        <p:spPr>
          <a:xfrm>
            <a:off x="731520" y="38541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325880" y="3703320"/>
            <a:ext cx="10058400" cy="685800"/>
          </a:xfrm>
          <a:prstGeom prst="rect">
            <a:avLst/>
          </a:prstGeom>
          <a:noFill/>
          <a:ln/>
        </p:spPr>
        <p:txBody>
          <a:bodyPr wrap="square" lIns="0" tIns="0" rIns="0" bIns="0" rtlCol="0" anchor="ctr"/>
          <a:lstStyle/>
          <a:p>
            <a:pPr indent="0" marL="0">
              <a:buNone/>
            </a:pPr>
            <a:r>
              <a:rPr lang="en-US" sz="1500" dirty="0">
                <a:solidFill>
                  <a:schemeClr val="tx1"/>
                </a:solidFill>
              </a:rPr>
              <a:t>MediQ-GAN 양자 회로에 ancilla qubit과 post-selection이 필요 없는 이유는</a:t>
            </a:r>
            <a:endParaRPr lang="en-US" sz="1500" dirty="0"/>
          </a:p>
        </p:txBody>
      </p:sp>
      <p:sp>
        <p:nvSpPr>
          <p:cNvPr id="18" name="Shape 15"/>
          <p:cNvSpPr/>
          <p:nvPr/>
        </p:nvSpPr>
        <p:spPr>
          <a:xfrm>
            <a:off x="548640" y="4526280"/>
            <a:ext cx="11064240" cy="685800"/>
          </a:xfrm>
          <a:prstGeom prst="roundRect">
            <a:avLst>
              <a:gd name="adj" fmla="val 16000"/>
            </a:avLst>
          </a:prstGeom>
          <a:solidFill>
            <a:srgbClr val="F2F0EB"/>
          </a:solidFill>
          <a:ln w="15875">
            <a:solidFill>
              <a:srgbClr val="C9C5BE"/>
            </a:solidFill>
            <a:prstDash val="solid"/>
          </a:ln>
        </p:spPr>
      </p:sp>
      <p:sp>
        <p:nvSpPr>
          <p:cNvPr id="19" name="Shape 16"/>
          <p:cNvSpPr/>
          <p:nvPr/>
        </p:nvSpPr>
        <p:spPr>
          <a:xfrm>
            <a:off x="731520" y="4677156"/>
            <a:ext cx="384048" cy="384048"/>
          </a:xfrm>
          <a:prstGeom prst="ellipse">
            <a:avLst/>
          </a:prstGeom>
          <a:solidFill>
            <a:schemeClr val="accent1"/>
          </a:solidFill>
          <a:ln/>
        </p:spPr>
      </p:sp>
      <p:sp>
        <p:nvSpPr>
          <p:cNvPr id="20" name="Text 17"/>
          <p:cNvSpPr txBox="1"/>
          <p:nvPr/>
        </p:nvSpPr>
        <p:spPr>
          <a:xfrm>
            <a:off x="731520" y="46771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8"/>
          <p:cNvSpPr txBox="1"/>
          <p:nvPr/>
        </p:nvSpPr>
        <p:spPr>
          <a:xfrm>
            <a:off x="1325880" y="4526280"/>
            <a:ext cx="10058400" cy="685800"/>
          </a:xfrm>
          <a:prstGeom prst="rect">
            <a:avLst/>
          </a:prstGeom>
          <a:noFill/>
          <a:ln/>
        </p:spPr>
        <p:txBody>
          <a:bodyPr wrap="square" lIns="0" tIns="0" rIns="0" bIns="0" rtlCol="0" anchor="ctr"/>
          <a:lstStyle/>
          <a:p>
            <a:pPr indent="0" marL="0">
              <a:buNone/>
            </a:pPr>
            <a:r>
              <a:rPr lang="en-US" sz="1500" dirty="0">
                <a:solidFill>
                  <a:schemeClr val="tx1"/>
                </a:solidFill>
              </a:rPr>
              <a:t>MediQ-GAN의 상관계수가 더 높은데도 더 좋은 생성모델이라고 단정할 수 없는 이유는</a:t>
            </a:r>
            <a:endParaRPr lang="en-US" sz="1500" dirty="0"/>
          </a:p>
        </p:txBody>
      </p:sp>
      <p:sp>
        <p:nvSpPr>
          <p:cNvPr id="22" name="Shape 19"/>
          <p:cNvSpPr/>
          <p:nvPr/>
        </p:nvSpPr>
        <p:spPr>
          <a:xfrm>
            <a:off x="548640" y="5349240"/>
            <a:ext cx="11064240" cy="685800"/>
          </a:xfrm>
          <a:prstGeom prst="roundRect">
            <a:avLst>
              <a:gd name="adj" fmla="val 16000"/>
            </a:avLst>
          </a:prstGeom>
          <a:solidFill>
            <a:srgbClr val="FFFFFF"/>
          </a:solidFill>
          <a:ln w="15875">
            <a:solidFill>
              <a:srgbClr val="C9C5BE"/>
            </a:solidFill>
            <a:prstDash val="solid"/>
          </a:ln>
        </p:spPr>
      </p:sp>
      <p:sp>
        <p:nvSpPr>
          <p:cNvPr id="23" name="Shape 20"/>
          <p:cNvSpPr/>
          <p:nvPr/>
        </p:nvSpPr>
        <p:spPr>
          <a:xfrm>
            <a:off x="731520" y="5500116"/>
            <a:ext cx="384048" cy="384048"/>
          </a:xfrm>
          <a:prstGeom prst="ellipse">
            <a:avLst/>
          </a:prstGeom>
          <a:solidFill>
            <a:schemeClr val="accent1"/>
          </a:solidFill>
          <a:ln/>
        </p:spPr>
      </p:sp>
      <p:sp>
        <p:nvSpPr>
          <p:cNvPr id="24" name="Text 21"/>
          <p:cNvSpPr txBox="1"/>
          <p:nvPr/>
        </p:nvSpPr>
        <p:spPr>
          <a:xfrm>
            <a:off x="731520" y="55001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5" name="Text 22"/>
          <p:cNvSpPr txBox="1"/>
          <p:nvPr/>
        </p:nvSpPr>
        <p:spPr>
          <a:xfrm>
            <a:off x="1325880" y="5349240"/>
            <a:ext cx="10058400" cy="685800"/>
          </a:xfrm>
          <a:prstGeom prst="rect">
            <a:avLst/>
          </a:prstGeom>
          <a:noFill/>
          <a:ln/>
        </p:spPr>
        <p:txBody>
          <a:bodyPr wrap="square" lIns="0" tIns="0" rIns="0" bIns="0" rtlCol="0" anchor="ctr"/>
          <a:lstStyle/>
          <a:p>
            <a:pPr indent="0" marL="0">
              <a:buNone/>
            </a:pPr>
            <a:r>
              <a:rPr lang="en-US" sz="1500" dirty="0">
                <a:solidFill>
                  <a:schemeClr val="tx1"/>
                </a:solidFill>
              </a:rPr>
              <a:t>학습률을 크게 두거나 BCE 판별자를 쓰면 어떤 문제가 생기고, 원 논문은 어떻게 대응했는가</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822960" y="685800"/>
            <a:ext cx="7315200" cy="365760"/>
          </a:xfrm>
          <a:prstGeom prst="rect">
            <a:avLst/>
          </a:prstGeom>
          <a:noFill/>
          <a:ln/>
        </p:spPr>
        <p:txBody>
          <a:bodyPr wrap="square" rtlCol="0"/>
          <a:lstStyle/>
          <a:p>
            <a:pPr indent="0" marL="0">
              <a:buNone/>
            </a:pPr>
            <a:r>
              <a:rPr lang="en-US" sz="1200" b="1" spc="100" kern="0" dirty="0">
                <a:solidFill>
                  <a:schemeClr val="accent3"/>
                </a:solidFill>
              </a:rPr>
              <a:t>정리</a:t>
            </a:r>
            <a:endParaRPr lang="en-US" sz="1200" dirty="0"/>
          </a:p>
        </p:txBody>
      </p:sp>
      <p:sp>
        <p:nvSpPr>
          <p:cNvPr id="3" name="Text 0"/>
          <p:cNvSpPr/>
          <p:nvPr>
            <p:ph idx="101" type="title" hasCustomPrompt="1"/>
          </p:nvPr>
        </p:nvSpPr>
        <p:spPr>
          <a:xfrm>
            <a:off x="822960" y="1051560"/>
            <a:ext cx="10515600" cy="822960"/>
          </a:xfrm>
          <a:prstGeom prst="rect">
            <a:avLst/>
          </a:prstGeom>
          <a:noFill/>
          <a:ln/>
        </p:spPr>
        <p:txBody>
          <a:bodyPr wrap="square" rtlCol="0"/>
          <a:lstStyle/>
          <a:p>
            <a:pPr algn="l" indent="0" marL="0">
              <a:buNone/>
            </a:pPr>
            <a:r>
              <a:rPr lang="en-US" sz="3600" b="1" dirty="0">
                <a:solidFill>
                  <a:schemeClr val="bg1"/>
                </a:solidFill>
              </a:rPr>
              <a:t>3일 과정 정리</a:t>
            </a:r>
            <a:endParaRPr lang="en-US" sz="3600" dirty="0"/>
          </a:p>
        </p:txBody>
      </p:sp>
      <p:sp>
        <p:nvSpPr>
          <p:cNvPr id="4" name="Text 0"/>
          <p:cNvSpPr/>
          <p:nvPr>
            <p:ph idx="102" type="body" hasCustomPrompt="1"/>
          </p:nvPr>
        </p:nvSpPr>
        <p:spPr>
          <a:xfrm>
            <a:off x="822960" y="1828800"/>
            <a:ext cx="10515600" cy="457200"/>
          </a:xfrm>
          <a:prstGeom prst="rect">
            <a:avLst/>
          </a:prstGeom>
          <a:noFill/>
          <a:ln/>
        </p:spPr>
        <p:txBody>
          <a:bodyPr wrap="square" rtlCol="0"/>
          <a:lstStyle/>
          <a:p>
            <a:pPr indent="0" marL="0">
              <a:buNone/>
            </a:pPr>
            <a:r>
              <a:rPr lang="en-US" sz="1500" dirty="0">
                <a:solidFill>
                  <a:schemeClr val="bg2"/>
                </a:solidFill>
              </a:rPr>
              <a:t>같은 데이터·같은 지표로 두 hybrid 전략을 나란히 비교함</a:t>
            </a:r>
            <a:endParaRPr lang="en-US" sz="1500" dirty="0"/>
          </a:p>
        </p:txBody>
      </p:sp>
      <p:sp>
        <p:nvSpPr>
          <p:cNvPr id="6" name="Text 3"/>
          <p:cNvSpPr txBox="1"/>
          <p:nvPr/>
        </p:nvSpPr>
        <p:spPr>
          <a:xfrm>
            <a:off x="822960" y="274320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1일차</a:t>
            </a:r>
            <a:endParaRPr lang="en-US" sz="1400" dirty="0"/>
          </a:p>
        </p:txBody>
      </p:sp>
      <p:sp>
        <p:nvSpPr>
          <p:cNvPr id="7" name="Text 4"/>
          <p:cNvSpPr txBox="1"/>
          <p:nvPr/>
        </p:nvSpPr>
        <p:spPr>
          <a:xfrm>
            <a:off x="3291840" y="2743200"/>
            <a:ext cx="8046720" cy="548640"/>
          </a:xfrm>
          <a:prstGeom prst="rect">
            <a:avLst/>
          </a:prstGeom>
          <a:noFill/>
          <a:ln/>
        </p:spPr>
        <p:txBody>
          <a:bodyPr wrap="square" lIns="0" tIns="0" rIns="0" bIns="0" rtlCol="0" anchor="t"/>
          <a:lstStyle/>
          <a:p>
            <a:pPr indent="0" marL="0">
              <a:buNone/>
            </a:pPr>
            <a:r>
              <a:rPr lang="en-US" sz="1500" dirty="0">
                <a:solidFill>
                  <a:schemeClr val="bg1"/>
                </a:solidFill>
              </a:rPr>
              <a:t>데이터셋 · 두 논문 아키텍처 · VQC 학습 방식과 계산 비용</a:t>
            </a:r>
            <a:endParaRPr lang="en-US" sz="1500" dirty="0"/>
          </a:p>
        </p:txBody>
      </p:sp>
      <p:sp>
        <p:nvSpPr>
          <p:cNvPr id="8" name="Text 5"/>
          <p:cNvSpPr txBox="1"/>
          <p:nvPr/>
        </p:nvSpPr>
        <p:spPr>
          <a:xfrm>
            <a:off x="822960" y="352044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2일차</a:t>
            </a:r>
            <a:endParaRPr lang="en-US" sz="1400" dirty="0"/>
          </a:p>
        </p:txBody>
      </p:sp>
      <p:sp>
        <p:nvSpPr>
          <p:cNvPr id="9" name="Text 6"/>
          <p:cNvSpPr txBox="1"/>
          <p:nvPr/>
        </p:nvSpPr>
        <p:spPr>
          <a:xfrm>
            <a:off x="3291840" y="3520440"/>
            <a:ext cx="8046720" cy="548640"/>
          </a:xfrm>
          <a:prstGeom prst="rect">
            <a:avLst/>
          </a:prstGeom>
          <a:noFill/>
          <a:ln/>
        </p:spPr>
        <p:txBody>
          <a:bodyPr wrap="square" lIns="0" tIns="0" rIns="0" bIns="0" rtlCol="0" anchor="t"/>
          <a:lstStyle/>
          <a:p>
            <a:pPr indent="0" marL="0">
              <a:buNone/>
            </a:pPr>
            <a:r>
              <a:rPr lang="en-US" sz="1500" dirty="0">
                <a:solidFill>
                  <a:schemeClr val="bg1"/>
                </a:solidFill>
              </a:rPr>
              <a:t>segmentation 전처리 · sub-generator 회로 · QGAN 학습 · 지표 4종</a:t>
            </a:r>
            <a:endParaRPr lang="en-US" sz="1500" dirty="0"/>
          </a:p>
        </p:txBody>
      </p:sp>
      <p:sp>
        <p:nvSpPr>
          <p:cNvPr id="10" name="Text 7"/>
          <p:cNvSpPr txBox="1"/>
          <p:nvPr/>
        </p:nvSpPr>
        <p:spPr>
          <a:xfrm>
            <a:off x="822960" y="429768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3일차</a:t>
            </a:r>
            <a:endParaRPr lang="en-US" sz="1400" dirty="0"/>
          </a:p>
        </p:txBody>
      </p:sp>
      <p:sp>
        <p:nvSpPr>
          <p:cNvPr id="11" name="Text 8"/>
          <p:cNvSpPr txBox="1"/>
          <p:nvPr/>
        </p:nvSpPr>
        <p:spPr>
          <a:xfrm>
            <a:off x="3291840" y="4297680"/>
            <a:ext cx="8046720" cy="548640"/>
          </a:xfrm>
          <a:prstGeom prst="rect">
            <a:avLst/>
          </a:prstGeom>
          <a:noFill/>
          <a:ln/>
        </p:spPr>
        <p:txBody>
          <a:bodyPr wrap="square" lIns="0" tIns="0" rIns="0" bIns="0" rtlCol="0" anchor="t"/>
          <a:lstStyle/>
          <a:p>
            <a:pPr indent="0" marL="0">
              <a:buNone/>
            </a:pPr>
            <a:r>
              <a:rPr lang="en-US" sz="1500" dirty="0">
                <a:solidFill>
                  <a:schemeClr val="bg1"/>
                </a:solidFill>
              </a:rPr>
              <a:t>MediQ-GAN 구조 · 미세조정 · QGAN과 같은 지표로 비교</a:t>
            </a:r>
            <a:endParaRPr lang="en-US" sz="1500" dirty="0"/>
          </a:p>
        </p:txBody>
      </p:sp>
      <p:sp>
        <p:nvSpPr>
          <p:cNvPr id="12" name="Text 9"/>
          <p:cNvSpPr txBox="1"/>
          <p:nvPr/>
        </p:nvSpPr>
        <p:spPr>
          <a:xfrm>
            <a:off x="822960" y="5074920"/>
            <a:ext cx="2377440" cy="365760"/>
          </a:xfrm>
          <a:prstGeom prst="rect">
            <a:avLst/>
          </a:prstGeom>
          <a:noFill/>
          <a:ln/>
        </p:spPr>
        <p:txBody>
          <a:bodyPr wrap="square" lIns="0" tIns="0" rIns="0" bIns="0" rtlCol="0" anchor="t"/>
          <a:lstStyle/>
          <a:p>
            <a:pPr indent="0" marL="0">
              <a:buNone/>
            </a:pPr>
            <a:r>
              <a:rPr lang="en-US" sz="1400" b="1" dirty="0">
                <a:solidFill>
                  <a:schemeClr val="accent3"/>
                </a:solidFill>
              </a:rPr>
              <a:t>결론</a:t>
            </a:r>
            <a:endParaRPr lang="en-US" sz="1400" dirty="0"/>
          </a:p>
        </p:txBody>
      </p:sp>
      <p:sp>
        <p:nvSpPr>
          <p:cNvPr id="13" name="Text 10"/>
          <p:cNvSpPr txBox="1"/>
          <p:nvPr/>
        </p:nvSpPr>
        <p:spPr>
          <a:xfrm>
            <a:off x="3291840" y="5074920"/>
            <a:ext cx="8046720" cy="548640"/>
          </a:xfrm>
          <a:prstGeom prst="rect">
            <a:avLst/>
          </a:prstGeom>
          <a:noFill/>
          <a:ln/>
        </p:spPr>
        <p:txBody>
          <a:bodyPr wrap="square" lIns="0" tIns="0" rIns="0" bIns="0" rtlCol="0" anchor="t"/>
          <a:lstStyle/>
          <a:p>
            <a:pPr indent="0" marL="0">
              <a:buNone/>
            </a:pPr>
            <a:r>
              <a:rPr lang="en-US" sz="1500" dirty="0">
                <a:solidFill>
                  <a:schemeClr val="bg1"/>
                </a:solidFill>
              </a:rPr>
              <a:t>형태(상관)와 다양성을 함께 봄 · 양자 비용과 학습 안정화가 결과를 좌우함</a:t>
            </a:r>
            <a:endParaRPr lang="en-US" sz="1500" dirty="0"/>
          </a:p>
        </p:txBody>
      </p:sp>
      <p:sp>
        <p:nvSpPr>
          <p:cNvPr id="25" name="Slide Number Placeholder 0"/>
          <p:cNvSpPr>
            <a:spLocks noGrp="1"/>
          </p:cNvSpPr>
          <p:nvPr>
            <p:ph type="sldNum" sz="quarter" idx="4294967295"/>
          </p:nvPr>
        </p:nvSpPr>
        <p:spPr>
          <a:xfrm>
            <a:off x="5870448"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ct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QML Lecture">
  <a:themeElements>
    <a:clrScheme name="QML Lecture">
      <a:dk1>
        <a:srgbClr val="212121"/>
      </a:dk1>
      <a:lt1>
        <a:srgbClr val="FFFFFF"/>
      </a:lt1>
      <a:dk2>
        <a:srgbClr val="1E3932"/>
      </a:dk2>
      <a:lt2>
        <a:srgbClr val="F2F0EB"/>
      </a:lt2>
      <a:accent1>
        <a:srgbClr val="00754A"/>
      </a:accent1>
      <a:accent2>
        <a:srgbClr val="5B3E8C"/>
      </a:accent2>
      <a:accent3>
        <a:srgbClr val="DFC49D"/>
      </a:accent3>
      <a:accent4>
        <a:srgbClr val="9C5000"/>
      </a:accent4>
      <a:accent5>
        <a:srgbClr val="006241"/>
      </a:accent5>
      <a:accent6>
        <a:srgbClr val="6B6B6B"/>
      </a:accent6>
      <a:hlink>
        <a:srgbClr val="00754A"/>
      </a:hlink>
      <a:folHlink>
        <a:srgbClr val="5B3E8C"/>
      </a:folHlink>
    </a:clrScheme>
    <a:fontScheme name="QML Lectur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3일차 실습 설명 자료</dc:title>
  <dc:subject>PptxGenJS Presentation</dc:subject>
  <dc:creator>QML Lecture</dc:creator>
  <cp:lastModifiedBy>QML Lecture</cp:lastModifiedBy>
  <cp:revision>1</cp:revision>
  <dcterms:created xsi:type="dcterms:W3CDTF">2026-10-27T07:12:21Z</dcterms:created>
  <dcterms:modified xsi:type="dcterms:W3CDTF">2026-10-27T07:12:21Z</dcterms:modified>
</cp:coreProperties>
</file>