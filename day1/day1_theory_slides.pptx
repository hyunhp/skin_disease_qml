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8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87" r:id="rId17"/>
    <p:sldId id="289" r:id="rId18"/>
    <p:sldId id="271" r:id="rId19"/>
    <p:sldId id="272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93" r:id="rId28"/>
    <p:sldId id="274" r:id="rId29"/>
    <p:sldId id="285" r:id="rId30"/>
    <p:sldId id="294" r:id="rId31"/>
    <p:sldId id="292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35" autoAdjust="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2537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5F6D3A-F88F-490B-83D1-37F70B175693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DAAB6-2F86-426D-9FEA-B1BE120703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155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BA297-597D-44ED-9EBF-ACE95CC243B0}" type="datetime1">
              <a:rPr lang="en-US" altLang="ko-KR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55D4D-6177-4BD2-9DEA-0956CEC3861A}" type="datetime1">
              <a:rPr lang="en-US" altLang="ko-KR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D1781-4EA3-4DBB-A500-A50F99E729F8}" type="datetime1">
              <a:rPr lang="en-US" altLang="ko-KR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424D1-75C1-469B-93C7-852D88DC311D}" type="datetime1">
              <a:rPr lang="en-US" altLang="ko-KR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C6677-2983-4CAE-A208-4FDD9C6C50FA}" type="datetime1">
              <a:rPr lang="en-US" altLang="ko-KR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44DC9-E7BC-40FD-960F-12CCB28A89AE}" type="datetime1">
              <a:rPr lang="en-US" altLang="ko-KR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F2983-8522-4728-8061-907EF8B72DBE}" type="datetime1">
              <a:rPr lang="en-US" altLang="ko-KR" smtClean="0"/>
              <a:t>10/1/2026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029200" y="6356350"/>
            <a:ext cx="2133600" cy="365125"/>
          </a:xfrm>
        </p:spPr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31DF5-3CC9-40C1-BFE3-F6B6DE4FF43E}" type="datetime1">
              <a:rPr lang="en-US" altLang="ko-KR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6737-C57E-4B0A-B071-D17A59F2704A}" type="datetime1">
              <a:rPr lang="en-US" altLang="ko-KR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74A9A-173B-4136-9940-F0192690F946}" type="datetime1">
              <a:rPr lang="en-US" altLang="ko-KR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30DA-4160-4D78-AA84-1A511A8B0BAD}" type="datetime1">
              <a:rPr lang="en-US" altLang="ko-KR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9948A-0BE1-434C-A2DD-FE19635DE6D3}" type="datetime1">
              <a:rPr lang="en-US" altLang="ko-KR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14255" y="777240"/>
            <a:ext cx="1371600" cy="1371600"/>
          </a:xfrm>
          <a:prstGeom prst="ellipse">
            <a:avLst/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225735" y="1188720"/>
            <a:ext cx="548640" cy="548640"/>
          </a:xfrm>
          <a:prstGeom prst="ellipse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43134"/>
            <a:ext cx="914400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QML </a:t>
            </a:r>
            <a:r>
              <a:rPr lang="en-US" sz="1150" b="1" i="0" spc="10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Lecture</a:t>
            </a:r>
            <a:endParaRPr sz="1150" b="1" i="0" spc="100" dirty="0">
              <a:solidFill>
                <a:srgbClr val="CFC9B8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2043307"/>
            <a:ext cx="10332720" cy="576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양자 </a:t>
            </a:r>
            <a:r>
              <a:rPr lang="ko-KR" altLang="en-US" sz="3800" b="1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머신러닝</a:t>
            </a:r>
            <a:endParaRPr sz="3800" b="1" i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의료 영상 데이터 증강하기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HAM10000 QGAN 논문 + MediQ-GAN 아키텍처 - 이론편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709160"/>
            <a:ext cx="457200" cy="274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D4ECD8AD-BD2F-4FE3-BB98-0D4FECF7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오리엔테이션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의료 데이터셋을 활용한 양자 머신러닝 실습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이론 → 데이터 EDA·전처리·회로 구성 → 실습 실행</a:t>
            </a:r>
            <a:endParaRPr sz="13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454298" cy="2514600"/>
          </a:xfrm>
          <a:prstGeom prst="roundRect">
            <a:avLst>
              <a:gd name="adj" fmla="val 9000"/>
            </a:avLst>
          </a:prstGeom>
          <a:solidFill>
            <a:srgbClr val="F2F0EB"/>
          </a:solidFill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299709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1일차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299709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11/13(금)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08960"/>
            <a:ext cx="299709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이론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49040"/>
            <a:ext cx="29970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데이터셋</a:t>
            </a:r>
            <a:r>
              <a:rPr sz="11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소개 </a:t>
            </a:r>
            <a:endParaRPr lang="en-US" sz="11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5000"/>
              </a:lnSpc>
            </a:pPr>
            <a:r>
              <a:rPr sz="11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+ </a:t>
            </a:r>
            <a:r>
              <a:rPr sz="11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QGAN·MediQ-GAN</a:t>
            </a:r>
            <a:r>
              <a:rPr sz="11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논문</a:t>
            </a:r>
            <a:r>
              <a:rPr lang="en-US" sz="11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아키텍처</a:t>
            </a:r>
            <a:endParaRPr sz="11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68698" y="2103120"/>
            <a:ext cx="3454298" cy="2514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C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7298" y="2331720"/>
            <a:ext cx="299709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2일차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743200"/>
            <a:ext cx="299709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11/20(금)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3108960"/>
            <a:ext cx="299709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실습 - 전처리 + QGAN 학습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749040"/>
            <a:ext cx="29970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endParaRPr lang="en-US" sz="11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  <a:r>
              <a:rPr sz="11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Colab 환경 + EDA/전처리(세그멘테이션)</a:t>
            </a:r>
          </a:p>
          <a:p>
            <a:pPr algn="l">
              <a:lnSpc>
                <a:spcPct val="135000"/>
              </a:lnSpc>
            </a:pPr>
            <a:endParaRPr lang="en-US" sz="11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  <a:r>
              <a:rPr sz="11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+ QGAN 학습·생성·평가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7316" y="2103120"/>
            <a:ext cx="3454298" cy="2514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C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5916" y="2331720"/>
            <a:ext cx="299709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3일차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5916" y="2743200"/>
            <a:ext cx="299709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11/27(금)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5916" y="3108960"/>
            <a:ext cx="299709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실습 - MediQ-GAN 학습 + 견학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5916" y="3749040"/>
            <a:ext cx="2997098" cy="205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endParaRPr sz="11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  <a:r>
              <a:rPr lang="ko-KR" altLang="en-US" sz="11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MediQ-GAN 미세조정</a:t>
            </a:r>
          </a:p>
          <a:p>
            <a:pPr algn="l">
              <a:lnSpc>
                <a:spcPct val="135000"/>
              </a:lnSpc>
            </a:pPr>
            <a:endParaRPr sz="11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  <a:r>
              <a:rPr lang="ko-KR" altLang="en-US" sz="11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+ QGAN과 동일 지표 비교</a:t>
            </a:r>
          </a:p>
        </p:txBody>
      </p:sp>
      <p:sp>
        <p:nvSpPr>
          <p:cNvPr id="25" name="슬라이드 번호 개체 틀 24">
            <a:extLst>
              <a:ext uri="{FF2B5EF4-FFF2-40B4-BE49-F238E27FC236}">
                <a16:creationId xmlns:a16="http://schemas.microsoft.com/office/drawing/2014/main" id="{023D392D-086D-4574-9F92-A18CBD126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오리엔테이션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학습목표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INDEX</a:t>
            </a:r>
            <a:endParaRPr sz="13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Oval 4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325880" y="2218035"/>
            <a:ext cx="10180015" cy="2273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HAM10000 </a:t>
            </a:r>
            <a:r>
              <a:rPr sz="13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데이터셋</a:t>
            </a:r>
            <a:r>
              <a:rPr sz="13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3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EDA</a:t>
            </a:r>
            <a:endParaRPr sz="130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Oval 7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2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325880" y="2834640"/>
            <a:ext cx="1018001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QGAN과 고전 GAN의 차이 - patch 방식 아키텍처 설명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dirty="0"/>
              <a:t>3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325880" y="3772515"/>
            <a:ext cx="10180015" cy="2273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13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'전체가 양자'(QGAN)</a:t>
            </a:r>
            <a:r>
              <a:rPr lang="ko-KR" altLang="en-US" sz="130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와 </a:t>
            </a:r>
            <a:r>
              <a:rPr lang="ko-KR" altLang="en-US" sz="13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'일부만 양자'(MediQ-GAN, 듀얼스트림) </a:t>
            </a:r>
            <a:r>
              <a:rPr lang="ko-KR" altLang="en-US" sz="130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아키텍처 차이 구분</a:t>
            </a:r>
            <a:endParaRPr sz="130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2FDDB7A9-1F13-4653-AA30-476F1A439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01 · 데이터셋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HAM10000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데이터셋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"Human Against Machine with 10000 training images" - 피부병변 진단 AI 연구의 대표 벤치마크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454298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C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299709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10,015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299709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총 이미지 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299709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피부경검사(dermatoscopic) 촬영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698" y="2103120"/>
            <a:ext cx="3454298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C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7298" y="2926080"/>
            <a:ext cx="299709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병변 클래스 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7298" y="3291840"/>
            <a:ext cx="299709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akiec·bcc·bkl·df·mel·nv·vasc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2103120"/>
            <a:ext cx="3454298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C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5916" y="2286000"/>
            <a:ext cx="299709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600×450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5916" y="2926080"/>
            <a:ext cx="299709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원본 해상도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5916" y="3291840"/>
            <a:ext cx="299709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RGB, 실제 임상 촬영 이미지</a:t>
            </a: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F2EFF22C-05F8-4EC6-88C2-F8403A15A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27" name="TextBox 5"/>
          <p:cNvSpPr txBox="1"/>
          <p:nvPr/>
        </p:nvSpPr>
        <p:spPr>
          <a:xfrm>
            <a:off x="4597298" y="2286000"/>
            <a:ext cx="299709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1028" name="src_caption"/>
          <p:cNvSpPr txBox="1"/>
          <p:nvPr/>
        </p:nvSpPr>
        <p:spPr>
          <a:xfrm>
            <a:off x="6062472" y="6428232"/>
            <a:ext cx="54864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85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이미지·데이터 출처: HAM10000 (Tschandl et al., Scientific Data 5, 180161, 2018) · 비상업적 이용 조건</a:t>
            </a:r>
          </a:p>
        </p:txBody>
      </p:sp>
      <p:pic>
        <p:nvPicPr>
          <p:cNvPr id="1029" name="ham_thumb_akiec" descr="akie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023360"/>
            <a:ext cx="1133856" cy="850392"/>
          </a:xfrm>
          <a:prstGeom prst="rect">
            <a:avLst/>
          </a:prstGeom>
        </p:spPr>
      </p:pic>
      <p:sp>
        <p:nvSpPr>
          <p:cNvPr id="1030" name="ham_label_akiec"/>
          <p:cNvSpPr txBox="1"/>
          <p:nvPr/>
        </p:nvSpPr>
        <p:spPr>
          <a:xfrm>
            <a:off x="594360" y="4892040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akiec · 광선각화증</a:t>
            </a:r>
          </a:p>
        </p:txBody>
      </p:sp>
      <p:pic>
        <p:nvPicPr>
          <p:cNvPr id="1031" name="ham_thumb_bcc" descr="bc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664" y="4023360"/>
            <a:ext cx="1133856" cy="850392"/>
          </a:xfrm>
          <a:prstGeom prst="rect">
            <a:avLst/>
          </a:prstGeom>
        </p:spPr>
      </p:pic>
      <p:sp>
        <p:nvSpPr>
          <p:cNvPr id="1032" name="ham_label_bcc"/>
          <p:cNvSpPr txBox="1"/>
          <p:nvPr/>
        </p:nvSpPr>
        <p:spPr>
          <a:xfrm>
            <a:off x="1837944" y="4892040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bcc · 기저세포암</a:t>
            </a:r>
          </a:p>
        </p:txBody>
      </p:sp>
      <p:pic>
        <p:nvPicPr>
          <p:cNvPr id="1033" name="ham_thumb_bkl" descr="bk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4023360"/>
            <a:ext cx="1133856" cy="850392"/>
          </a:xfrm>
          <a:prstGeom prst="rect">
            <a:avLst/>
          </a:prstGeom>
        </p:spPr>
      </p:pic>
      <p:sp>
        <p:nvSpPr>
          <p:cNvPr id="1034" name="ham_label_bkl"/>
          <p:cNvSpPr txBox="1"/>
          <p:nvPr/>
        </p:nvSpPr>
        <p:spPr>
          <a:xfrm>
            <a:off x="3081528" y="4892040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bkl · 양성각화증</a:t>
            </a:r>
          </a:p>
        </p:txBody>
      </p:sp>
      <p:pic>
        <p:nvPicPr>
          <p:cNvPr id="1035" name="ham_thumb_df" descr="d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4023360"/>
            <a:ext cx="1133856" cy="850392"/>
          </a:xfrm>
          <a:prstGeom prst="rect">
            <a:avLst/>
          </a:prstGeom>
          <a:ln w="28575">
            <a:solidFill>
              <a:srgbClr val="00754A"/>
            </a:solidFill>
          </a:ln>
        </p:spPr>
      </p:pic>
      <p:sp>
        <p:nvSpPr>
          <p:cNvPr id="1036" name="ham_label_df"/>
          <p:cNvSpPr txBox="1"/>
          <p:nvPr/>
        </p:nvSpPr>
        <p:spPr>
          <a:xfrm>
            <a:off x="4325112" y="4892040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df · 피부섬유종</a:t>
            </a:r>
          </a:p>
        </p:txBody>
      </p:sp>
      <p:pic>
        <p:nvPicPr>
          <p:cNvPr id="1037" name="ham_thumb_mel" descr="mel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872" y="5138928"/>
            <a:ext cx="1133856" cy="850392"/>
          </a:xfrm>
          <a:prstGeom prst="rect">
            <a:avLst/>
          </a:prstGeom>
        </p:spPr>
      </p:pic>
      <p:sp>
        <p:nvSpPr>
          <p:cNvPr id="1038" name="ham_label_mel"/>
          <p:cNvSpPr txBox="1"/>
          <p:nvPr/>
        </p:nvSpPr>
        <p:spPr>
          <a:xfrm>
            <a:off x="1216152" y="6007608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mel · 흑색종</a:t>
            </a:r>
          </a:p>
        </p:txBody>
      </p:sp>
      <p:pic>
        <p:nvPicPr>
          <p:cNvPr id="1039" name="ham_thumb_nv" descr="nv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5456" y="5138928"/>
            <a:ext cx="1133856" cy="850392"/>
          </a:xfrm>
          <a:prstGeom prst="rect">
            <a:avLst/>
          </a:prstGeom>
          <a:ln w="28575">
            <a:solidFill>
              <a:srgbClr val="00754A"/>
            </a:solidFill>
          </a:ln>
        </p:spPr>
      </p:pic>
      <p:sp>
        <p:nvSpPr>
          <p:cNvPr id="1040" name="ham_label_nv"/>
          <p:cNvSpPr txBox="1"/>
          <p:nvPr/>
        </p:nvSpPr>
        <p:spPr>
          <a:xfrm>
            <a:off x="2459736" y="6007608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nv · 모반</a:t>
            </a:r>
          </a:p>
        </p:txBody>
      </p:sp>
      <p:pic>
        <p:nvPicPr>
          <p:cNvPr id="1041" name="ham_thumb_vasc" descr="vasc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9040" y="5138928"/>
            <a:ext cx="1133856" cy="850392"/>
          </a:xfrm>
          <a:prstGeom prst="rect">
            <a:avLst/>
          </a:prstGeom>
        </p:spPr>
      </p:pic>
      <p:sp>
        <p:nvSpPr>
          <p:cNvPr id="1042" name="ham_label_vasc"/>
          <p:cNvSpPr txBox="1"/>
          <p:nvPr/>
        </p:nvSpPr>
        <p:spPr>
          <a:xfrm>
            <a:off x="3703320" y="6007608"/>
            <a:ext cx="122529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vasc · 혈관병변</a:t>
            </a:r>
          </a:p>
        </p:txBody>
      </p:sp>
      <p:graphicFrame>
        <p:nvGraphicFramePr>
          <p:cNvPr id="1043" name="ham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579832"/>
              </p:ext>
            </p:extLst>
          </p:nvPr>
        </p:nvGraphicFramePr>
        <p:xfrm>
          <a:off x="6053328" y="4023360"/>
          <a:ext cx="5495544" cy="21214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36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병변 유형</a:t>
                      </a:r>
                    </a:p>
                  </a:txBody>
                  <a:tcPr marL="54864" marR="54864" marT="9144" marB="9144" anchor="ctr">
                    <a:solidFill>
                      <a:srgbClr val="1E39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코드</a:t>
                      </a:r>
                    </a:p>
                  </a:txBody>
                  <a:tcPr marL="54864" marR="54864" marT="9144" marB="9144" anchor="ctr">
                    <a:solidFill>
                      <a:srgbClr val="1E39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 err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이미지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수</a:t>
                      </a:r>
                    </a:p>
                  </a:txBody>
                  <a:tcPr marL="54864" marR="54864" marT="9144" marB="9144" anchor="ctr">
                    <a:solidFill>
                      <a:srgbClr val="1E39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비율</a:t>
                      </a:r>
                    </a:p>
                  </a:txBody>
                  <a:tcPr marL="54864" marR="54864" marT="9144" marB="9144" anchor="ctr">
                    <a:solidFill>
                      <a:srgbClr val="1E39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850" b="0" dirty="0" err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광선각화증</a:t>
                      </a:r>
                      <a:r>
                        <a:rPr sz="85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(Actinic keratoses)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akiec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3.3%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850" b="0" dirty="0" err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기저세포암</a:t>
                      </a:r>
                      <a:r>
                        <a:rPr sz="85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(Basal cell carcinoma)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bcc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514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5.1%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양성각화증 (Benign keratosis-like lesions)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bkl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1,099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11.0%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850" b="1" dirty="0" err="1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피부섬유종</a:t>
                      </a:r>
                      <a:r>
                        <a:rPr sz="850" b="1" dirty="0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(Dermatofibroma)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df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115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1.1%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흑색종 (Melanoma)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mel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1,113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11.1%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850" b="1" dirty="0" err="1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모반</a:t>
                      </a:r>
                      <a:r>
                        <a:rPr sz="850" b="1" dirty="0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(Melanocytic nevi)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nv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6,705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66.9%</a:t>
                      </a:r>
                    </a:p>
                  </a:txBody>
                  <a:tcPr marL="54864" marR="54864" marT="9144" marB="9144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sz="850" b="0" dirty="0" err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혈관병변</a:t>
                      </a:r>
                      <a:r>
                        <a:rPr sz="85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(Vascular lesions)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vasc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1.4%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01 · 데이터셋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EDA</a:t>
            </a:r>
            <a:r>
              <a:rPr lang="ko-KR" altLang="en-US" sz="27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분석 결과 </a:t>
            </a:r>
            <a:r>
              <a:rPr lang="en-US" altLang="ko-KR" sz="27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: </a:t>
            </a:r>
            <a:r>
              <a:rPr lang="ko-KR" altLang="en-US" sz="27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데이터 불균형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클래스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불균형</a:t>
            </a:r>
            <a:r>
              <a:rPr lang="ko-KR" altLang="en-US" sz="130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데이터 처리 방법</a:t>
            </a:r>
            <a:endParaRPr sz="13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10881360" cy="59436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39696"/>
            <a:ext cx="2148840" cy="521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79" y="2139696"/>
            <a:ext cx="4343400" cy="521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설명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80" y="2139696"/>
            <a:ext cx="3703320" cy="521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97479"/>
            <a:ext cx="108813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910020"/>
            <a:ext cx="21488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1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Under Sampling </a:t>
            </a:r>
            <a:r>
              <a:rPr sz="11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언더샘플링</a:t>
            </a:r>
            <a:endParaRPr sz="11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54679" y="2910020"/>
            <a:ext cx="43434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소수 클래스에 맞춰</a:t>
            </a:r>
            <a:r>
              <a:rPr lang="en-US" altLang="ko-KR" sz="110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,</a:t>
            </a:r>
            <a:r>
              <a:rPr lang="ko-KR" altLang="en-US" sz="110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다수</a:t>
            </a:r>
            <a:r>
              <a:rPr lang="en-US" sz="11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클래스를</a:t>
            </a:r>
            <a:r>
              <a:rPr sz="11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줄</a:t>
            </a:r>
            <a:r>
              <a:rPr lang="ko-KR" altLang="en-US" sz="11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임</a:t>
            </a:r>
            <a:endParaRPr sz="110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26680" y="2724911"/>
            <a:ext cx="370332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정보 손실 - 6,700장 넘게 버려야 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91839"/>
            <a:ext cx="10881360" cy="59436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504380"/>
            <a:ext cx="21488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1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Over Sampling</a:t>
            </a:r>
            <a:r>
              <a:rPr sz="11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오버샘플링</a:t>
            </a:r>
            <a:endParaRPr sz="11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54679" y="3504380"/>
            <a:ext cx="43434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소수클래스를</a:t>
            </a:r>
            <a:r>
              <a:rPr sz="11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복제해서</a:t>
            </a:r>
            <a:r>
              <a:rPr sz="11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늘림</a:t>
            </a:r>
            <a:endParaRPr sz="110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26680" y="3319271"/>
            <a:ext cx="370332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복제본이라 새로운 정보가 없음 - 과적합 위험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86200"/>
            <a:ext cx="1088136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098741"/>
            <a:ext cx="21488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1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Augmentation </a:t>
            </a:r>
            <a:r>
              <a:rPr sz="11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기하학적</a:t>
            </a:r>
            <a:r>
              <a:rPr sz="11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증강</a:t>
            </a:r>
            <a:endParaRPr sz="11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54679" y="3913632"/>
            <a:ext cx="43434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회전·반전·크롭 등으로 변형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3913632"/>
            <a:ext cx="370332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병변의 실제 형태·질감 다양성은 만들지 못함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80560"/>
            <a:ext cx="10881360" cy="59436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507992"/>
            <a:ext cx="214884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생성모델(GAN/QGAN)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79" y="4693101"/>
            <a:ext cx="43434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학습된</a:t>
            </a:r>
            <a:r>
              <a:rPr sz="110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분포에서</a:t>
            </a:r>
            <a:r>
              <a:rPr sz="110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altLang="ko-KR" sz="110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100" b="0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새로운</a:t>
            </a:r>
            <a:r>
              <a:rPr lang="en-US" altLang="ko-KR" sz="110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10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그럴듯한</a:t>
            </a:r>
            <a:r>
              <a:rPr sz="110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샘플</a:t>
            </a:r>
            <a:r>
              <a:rPr sz="110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생성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80" y="4693101"/>
            <a:ext cx="37033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품질 검증 필요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66944"/>
            <a:ext cx="10911535" cy="804672"/>
          </a:xfrm>
          <a:prstGeom prst="roundRect">
            <a:avLst>
              <a:gd name="adj" fmla="val 90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914400" y="5307835"/>
            <a:ext cx="10362895" cy="7228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050" b="1" i="0" spc="6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초점</a:t>
            </a:r>
          </a:p>
          <a:p>
            <a:pPr algn="l">
              <a:lnSpc>
                <a:spcPct val="100000"/>
              </a:lnSpc>
            </a:pPr>
            <a:endParaRPr lang="ko-KR" altLang="en-US" sz="1050" b="1" spc="60" dirty="0">
              <a:solidFill>
                <a:srgbClr val="00754A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</a:pPr>
            <a:r>
              <a:rPr lang="en-US" altLang="ko-KR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- QGAN</a:t>
            </a:r>
            <a:r>
              <a:rPr lang="ko-KR" altLang="en-US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이 </a:t>
            </a:r>
            <a:r>
              <a:rPr lang="en-US" altLang="ko-KR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lang="ko-KR" altLang="en-US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고전 </a:t>
            </a:r>
            <a:r>
              <a:rPr lang="en-US" altLang="ko-KR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GAN</a:t>
            </a:r>
            <a:r>
              <a:rPr lang="ko-KR" altLang="en-US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보다 좋다</a:t>
            </a:r>
            <a:r>
              <a:rPr lang="en-US" altLang="ko-KR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lang="ko-KR" altLang="en-US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가 결론은 아님</a:t>
            </a:r>
          </a:p>
          <a:p>
            <a:pPr algn="l">
              <a:lnSpc>
                <a:spcPct val="130000"/>
              </a:lnSpc>
            </a:pPr>
            <a:r>
              <a:rPr lang="en-US" altLang="ko-KR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- QGAN</a:t>
            </a:r>
            <a:r>
              <a:rPr lang="ko-KR" altLang="en-US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의 실제 동작 방식과 조건을 논문 데이터로 확인</a:t>
            </a:r>
          </a:p>
        </p:txBody>
      </p:sp>
      <p:sp>
        <p:nvSpPr>
          <p:cNvPr id="30" name="슬라이드 번호 개체 틀 29">
            <a:extLst>
              <a:ext uri="{FF2B5EF4-FFF2-40B4-BE49-F238E27FC236}">
                <a16:creationId xmlns:a16="http://schemas.microsoft.com/office/drawing/2014/main" id="{7A66266B-7C7C-4207-9BE1-0696C292E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1" name="src_caption"/>
          <p:cNvSpPr txBox="1"/>
          <p:nvPr/>
        </p:nvSpPr>
        <p:spPr>
          <a:xfrm>
            <a:off x="6062472" y="6428232"/>
            <a:ext cx="54864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85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표 출처: HAM10000 메타데이터 (Tschandl et al., Scientific Data 5, 180161, 2018)</a:t>
            </a:r>
          </a:p>
        </p:txBody>
      </p:sp>
      <p:graphicFrame>
        <p:nvGraphicFramePr>
          <p:cNvPr id="32" name="ham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40870"/>
              </p:ext>
            </p:extLst>
          </p:nvPr>
        </p:nvGraphicFramePr>
        <p:xfrm>
          <a:off x="9189720" y="384048"/>
          <a:ext cx="2331720" cy="14996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7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ctr"/>
                      <a:r>
                        <a:rPr sz="700" b="1" dirty="0" err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클래스</a:t>
                      </a:r>
                      <a:endParaRPr sz="700" b="1" dirty="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</a:endParaRPr>
                    </a:p>
                  </a:txBody>
                  <a:tcPr marL="36576" marR="36576" marT="9144" marB="9144" anchor="ctr">
                    <a:solidFill>
                      <a:srgbClr val="1E39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이미지 수</a:t>
                      </a:r>
                    </a:p>
                  </a:txBody>
                  <a:tcPr marL="36576" marR="36576" marT="9144" marB="9144" anchor="ctr">
                    <a:solidFill>
                      <a:srgbClr val="1E39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광선각화증 (akiec)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기저세포암 (bcc)</a:t>
                      </a:r>
                    </a:p>
                  </a:txBody>
                  <a:tcPr marL="36576" marR="36576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514</a:t>
                      </a:r>
                    </a:p>
                  </a:txBody>
                  <a:tcPr marL="36576" marR="36576" marT="9144" marB="9144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ctr"/>
                      <a:r>
                        <a:rPr sz="700" b="0" dirty="0" err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양성각화증</a:t>
                      </a:r>
                      <a:r>
                        <a:rPr sz="70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 (</a:t>
                      </a:r>
                      <a:r>
                        <a:rPr sz="700" b="0" dirty="0" err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bkl</a:t>
                      </a:r>
                      <a:r>
                        <a:rPr sz="70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1,099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피부섬유종 (df)</a:t>
                      </a:r>
                    </a:p>
                  </a:txBody>
                  <a:tcPr marL="36576" marR="36576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115</a:t>
                      </a:r>
                    </a:p>
                  </a:txBody>
                  <a:tcPr marL="36576" marR="36576" marT="9144" marB="9144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흑색종 (mel)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1,113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모반 (nv)</a:t>
                      </a:r>
                    </a:p>
                  </a:txBody>
                  <a:tcPr marL="36576" marR="36576" marT="9144" marB="9144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 dirty="0">
                          <a:solidFill>
                            <a:srgbClr val="0075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6,705</a:t>
                      </a:r>
                    </a:p>
                  </a:txBody>
                  <a:tcPr marL="36576" marR="36576" marT="9144" marB="9144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혈관병변 (vasc)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dirty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CHAPTER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0767"/>
            <a:ext cx="10911535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논문</a:t>
            </a:r>
            <a:r>
              <a:rPr sz="3000" b="1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① QGAN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232" y="160243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Quantum GAN 기반 피부병변 이미지 증강 - patch method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28007"/>
            <a:ext cx="23774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1" i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제</a:t>
            </a:r>
            <a:r>
              <a:rPr lang="ko-KR" altLang="en-US" sz="1200" b="1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목</a:t>
            </a:r>
            <a:endParaRPr sz="1200" b="1" i="0" dirty="0">
              <a:solidFill>
                <a:srgbClr val="DFC49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0" y="2607424"/>
            <a:ext cx="8351215" cy="2258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Data Augmentation in Cancer Image Classification Problem with Quantum 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96687"/>
            <a:ext cx="23774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1" i="0" dirty="0" err="1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기여점</a:t>
            </a:r>
            <a:endParaRPr sz="1200" b="1" i="0" dirty="0">
              <a:solidFill>
                <a:srgbClr val="DFC49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0" y="3476104"/>
            <a:ext cx="8351215" cy="2258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7+1큐빗 · </a:t>
            </a:r>
            <a:r>
              <a:rPr lang="en-US"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Sub Generator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16개 · patch 방식으로 </a:t>
            </a:r>
            <a:r>
              <a:rPr lang="ko-KR" altLang="en-US"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피부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이미지를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생성해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소수</a:t>
            </a:r>
            <a:r>
              <a:rPr lang="en-US"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클래스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(DF)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증강</a:t>
            </a:r>
            <a:endParaRPr sz="1250" b="0" i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42291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검증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114800"/>
            <a:ext cx="83512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생성 이미지로 CNN 분류기를 학습시켜, 증강 전/후 AUC-ROC·정확도를 비교(고전 GAN과도 비교)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34047"/>
            <a:ext cx="23774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1" i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핵심 내용</a:t>
            </a:r>
            <a:endParaRPr sz="1200" b="1" i="0" dirty="0">
              <a:solidFill>
                <a:srgbClr val="DFC49D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0400" y="5213464"/>
            <a:ext cx="8351215" cy="2258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"</a:t>
            </a:r>
            <a:r>
              <a:rPr lang="en-US" sz="125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Generator"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아키텍처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사례 - model-level hybrid</a:t>
            </a: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066FDF35-6200-4228-B916-826938ED7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01 · QGAN </a:t>
            </a:r>
            <a:r>
              <a:rPr sz="1150" b="1" i="0" spc="10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논문</a:t>
            </a:r>
            <a:endParaRPr sz="1150" b="1" i="0" spc="100" dirty="0">
              <a:solidFill>
                <a:srgbClr val="0075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QGAN 기본 개념 - 고전 GAN과 무엇이 다른가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생성자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(Generator)·</a:t>
            </a:r>
            <a:r>
              <a:rPr 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판별자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(Discriminator)가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경쟁하며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학습하는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구조는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동일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227167" cy="2606040"/>
          </a:xfrm>
          <a:prstGeom prst="roundRect">
            <a:avLst>
              <a:gd name="adj" fmla="val 9000"/>
            </a:avLst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467852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고전 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4678527" cy="13217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en-US"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=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신경망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(예: CNN/MLP)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무작위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노이즈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벡터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신경망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통과 →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이미지</a:t>
            </a:r>
            <a:endParaRPr sz="120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학습 파라미터 = 가중치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행렬</a:t>
            </a:r>
            <a:endParaRPr sz="120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en-US"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Discriminator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도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고전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신경망</a:t>
            </a:r>
            <a:endParaRPr sz="120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24447" y="2103120"/>
            <a:ext cx="5227167" cy="2606040"/>
          </a:xfrm>
          <a:prstGeom prst="roundRect">
            <a:avLst>
              <a:gd name="adj" fmla="val 9000"/>
            </a:avLst>
          </a:prstGeom>
          <a:solidFill>
            <a:srgbClr val="F2F0EB"/>
          </a:solidFill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98767" y="2399184"/>
            <a:ext cx="4678527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QGAN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926080"/>
            <a:ext cx="4678527" cy="13217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en-US"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= 변분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양자회로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(PQC)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무작위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각도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노이즈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→ 큐빗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회전으로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인코딩 → 측정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학습 파라미터 =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회전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게이트의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각도</a:t>
            </a:r>
            <a:endParaRPr sz="120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en-US"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Discriminator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는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그대로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고전 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신경망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sz="12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비대칭</a:t>
            </a:r>
            <a:r>
              <a:rPr sz="12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구조)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937760"/>
            <a:ext cx="10911535" cy="685800"/>
          </a:xfrm>
          <a:prstGeom prst="roundRect">
            <a:avLst>
              <a:gd name="adj" fmla="val 9000"/>
            </a:avLst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084064"/>
            <a:ext cx="1036289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60">
                <a:solidFill>
                  <a:srgbClr val="9C5000"/>
                </a:solidFill>
                <a:latin typeface="Noto Sans KR"/>
                <a:ea typeface="Noto Sans KR"/>
                <a:cs typeface="Noto Sans KR"/>
              </a:rPr>
              <a:t>핵심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36805"/>
            <a:ext cx="10362895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15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Discriminator</a:t>
            </a:r>
            <a:r>
              <a:rPr sz="115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는</a:t>
            </a:r>
            <a:r>
              <a:rPr sz="11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그대로</a:t>
            </a:r>
            <a:r>
              <a:rPr sz="11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en-US" sz="115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15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만</a:t>
            </a:r>
            <a:r>
              <a:rPr sz="11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양자회로</a:t>
            </a:r>
            <a:r>
              <a:rPr sz="11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5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교체</a:t>
            </a:r>
            <a:endParaRPr sz="115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EAB96532-7B2B-4ACA-9BE6-F3D3FB88D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ig10_1"/>
          <p:cNvSpPr/>
          <p:nvPr/>
        </p:nvSpPr>
        <p:spPr>
          <a:xfrm>
            <a:off x="2634112" y="2057400"/>
            <a:ext cx="6920727" cy="4025188"/>
          </a:xfrm>
          <a:prstGeom prst="roundRect">
            <a:avLst/>
          </a:prstGeom>
          <a:solidFill>
            <a:srgbClr val="FFFFFF"/>
          </a:solidFill>
          <a:ln w="13525">
            <a:solidFill>
              <a:srgbClr val="D9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pic>
        <p:nvPicPr>
          <p:cNvPr id="62" name="ham_thumb_df" descr="df.jpg">
            <a:extLst>
              <a:ext uri="{FF2B5EF4-FFF2-40B4-BE49-F238E27FC236}">
                <a16:creationId xmlns:a16="http://schemas.microsoft.com/office/drawing/2014/main" id="{326EEC3C-778A-4109-8E79-37AC278C0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9096" y="3414901"/>
            <a:ext cx="774439" cy="580830"/>
          </a:xfrm>
          <a:prstGeom prst="rect">
            <a:avLst/>
          </a:prstGeom>
          <a:ln w="28575">
            <a:solidFill>
              <a:srgbClr val="00754A"/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t>01 · QGAN 논문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08792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QGAN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아키텍처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다이어그램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- patch 기반 </a:t>
            </a:r>
            <a:r>
              <a:rPr 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91612"/>
            <a:ext cx="10908792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-</a:t>
            </a:r>
            <a:r>
              <a:rPr 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Discriminator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구조를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도식으로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재구성</a:t>
            </a:r>
          </a:p>
        </p:txBody>
      </p:sp>
      <p:sp>
        <p:nvSpPr>
          <p:cNvPr id="23" name="슬라이드 번호 개체 틀 22">
            <a:extLst>
              <a:ext uri="{FF2B5EF4-FFF2-40B4-BE49-F238E27FC236}">
                <a16:creationId xmlns:a16="http://schemas.microsoft.com/office/drawing/2014/main" id="{4CFB5336-F6CB-4886-8903-A1F85E90B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4" name="fig10_2"/>
          <p:cNvSpPr/>
          <p:nvPr/>
        </p:nvSpPr>
        <p:spPr>
          <a:xfrm>
            <a:off x="5906200" y="2213213"/>
            <a:ext cx="3453871" cy="311627"/>
          </a:xfrm>
          <a:prstGeom prst="leftArrow">
            <a:avLst/>
          </a:prstGeom>
          <a:solidFill>
            <a:srgbClr val="ED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50" b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학습 피드백: 판별 결과로 θ(회전각) 업데이트</a:t>
            </a:r>
          </a:p>
        </p:txBody>
      </p:sp>
      <p:sp>
        <p:nvSpPr>
          <p:cNvPr id="35" name="fig10_3"/>
          <p:cNvSpPr/>
          <p:nvPr/>
        </p:nvSpPr>
        <p:spPr>
          <a:xfrm>
            <a:off x="2789925" y="3096158"/>
            <a:ext cx="597286" cy="597286"/>
          </a:xfrm>
          <a:prstGeom prst="ellipse">
            <a:avLst/>
          </a:prstGeom>
          <a:solidFill>
            <a:srgbClr val="EDE7F5"/>
          </a:solidFill>
          <a:ln w="13525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550" b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z</a:t>
            </a:r>
          </a:p>
        </p:txBody>
      </p:sp>
      <p:sp>
        <p:nvSpPr>
          <p:cNvPr id="36" name="fig10_4"/>
          <p:cNvSpPr/>
          <p:nvPr/>
        </p:nvSpPr>
        <p:spPr>
          <a:xfrm>
            <a:off x="2634112" y="3745382"/>
            <a:ext cx="908913" cy="3895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5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잠재</a:t>
            </a:r>
          </a:p>
          <a:p>
            <a:pPr algn="ctr"/>
            <a:r>
              <a:rPr sz="105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노이즈</a:t>
            </a:r>
          </a:p>
        </p:txBody>
      </p:sp>
      <p:sp>
        <p:nvSpPr>
          <p:cNvPr id="37" name="fig10_5"/>
          <p:cNvSpPr/>
          <p:nvPr/>
        </p:nvSpPr>
        <p:spPr>
          <a:xfrm>
            <a:off x="3452134" y="3264956"/>
            <a:ext cx="259689" cy="259689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38" name="fig10_6"/>
          <p:cNvSpPr/>
          <p:nvPr/>
        </p:nvSpPr>
        <p:spPr>
          <a:xfrm>
            <a:off x="3763761" y="2654686"/>
            <a:ext cx="2077516" cy="2103485"/>
          </a:xfrm>
          <a:prstGeom prst="roundRect">
            <a:avLst/>
          </a:prstGeom>
          <a:solidFill>
            <a:srgbClr val="F6E3E6"/>
          </a:solidFill>
          <a:ln w="13525">
            <a:solidFill>
              <a:srgbClr val="D8A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39" name="fig10_7"/>
          <p:cNvSpPr/>
          <p:nvPr/>
        </p:nvSpPr>
        <p:spPr>
          <a:xfrm>
            <a:off x="3763761" y="2693639"/>
            <a:ext cx="2077516" cy="28565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5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 (patch 방식)</a:t>
            </a:r>
          </a:p>
        </p:txBody>
      </p:sp>
      <p:sp>
        <p:nvSpPr>
          <p:cNvPr id="40" name="fig10_8"/>
          <p:cNvSpPr/>
          <p:nvPr/>
        </p:nvSpPr>
        <p:spPr>
          <a:xfrm>
            <a:off x="3880622" y="3044220"/>
            <a:ext cx="1012789" cy="350580"/>
          </a:xfrm>
          <a:prstGeom prst="roundRect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G₁ (PQC)</a:t>
            </a:r>
          </a:p>
        </p:txBody>
      </p:sp>
      <p:sp>
        <p:nvSpPr>
          <p:cNvPr id="41" name="fig10_9"/>
          <p:cNvSpPr/>
          <p:nvPr/>
        </p:nvSpPr>
        <p:spPr>
          <a:xfrm>
            <a:off x="4945349" y="3148096"/>
            <a:ext cx="181782" cy="142829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42" name="fig10_10"/>
          <p:cNvSpPr/>
          <p:nvPr/>
        </p:nvSpPr>
        <p:spPr>
          <a:xfrm>
            <a:off x="5179070" y="3122127"/>
            <a:ext cx="545348" cy="194767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43" name="fig10_11"/>
          <p:cNvSpPr/>
          <p:nvPr/>
        </p:nvSpPr>
        <p:spPr>
          <a:xfrm>
            <a:off x="3880622" y="3498677"/>
            <a:ext cx="1012789" cy="350580"/>
          </a:xfrm>
          <a:prstGeom prst="roundRect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G₂ (PQC)</a:t>
            </a:r>
          </a:p>
        </p:txBody>
      </p:sp>
      <p:sp>
        <p:nvSpPr>
          <p:cNvPr id="44" name="fig10_12"/>
          <p:cNvSpPr/>
          <p:nvPr/>
        </p:nvSpPr>
        <p:spPr>
          <a:xfrm>
            <a:off x="4945349" y="3602553"/>
            <a:ext cx="181782" cy="142829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45" name="fig10_13"/>
          <p:cNvSpPr/>
          <p:nvPr/>
        </p:nvSpPr>
        <p:spPr>
          <a:xfrm>
            <a:off x="5179070" y="3576584"/>
            <a:ext cx="545348" cy="194767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46" name="fig10_14"/>
          <p:cNvSpPr/>
          <p:nvPr/>
        </p:nvSpPr>
        <p:spPr>
          <a:xfrm>
            <a:off x="3880622" y="4199839"/>
            <a:ext cx="1012789" cy="350580"/>
          </a:xfrm>
          <a:prstGeom prst="roundRect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G_N (PQC)</a:t>
            </a:r>
          </a:p>
        </p:txBody>
      </p:sp>
      <p:sp>
        <p:nvSpPr>
          <p:cNvPr id="47" name="fig10_15"/>
          <p:cNvSpPr/>
          <p:nvPr/>
        </p:nvSpPr>
        <p:spPr>
          <a:xfrm>
            <a:off x="4945349" y="4303715"/>
            <a:ext cx="181782" cy="142829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48" name="fig10_16"/>
          <p:cNvSpPr/>
          <p:nvPr/>
        </p:nvSpPr>
        <p:spPr>
          <a:xfrm>
            <a:off x="5179070" y="4277746"/>
            <a:ext cx="545348" cy="194767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49" name="fig10_17"/>
          <p:cNvSpPr/>
          <p:nvPr/>
        </p:nvSpPr>
        <p:spPr>
          <a:xfrm>
            <a:off x="3880622" y="3875227"/>
            <a:ext cx="1012789" cy="28565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300" b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⋮</a:t>
            </a:r>
          </a:p>
        </p:txBody>
      </p:sp>
      <p:sp>
        <p:nvSpPr>
          <p:cNvPr id="50" name="fig10_18"/>
          <p:cNvSpPr/>
          <p:nvPr/>
        </p:nvSpPr>
        <p:spPr>
          <a:xfrm>
            <a:off x="5101163" y="3875227"/>
            <a:ext cx="714146" cy="28565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patch</a:t>
            </a:r>
          </a:p>
        </p:txBody>
      </p:sp>
      <p:sp>
        <p:nvSpPr>
          <p:cNvPr id="51" name="fig10_19"/>
          <p:cNvSpPr/>
          <p:nvPr/>
        </p:nvSpPr>
        <p:spPr>
          <a:xfrm>
            <a:off x="5906200" y="3589568"/>
            <a:ext cx="285658" cy="259689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54" name="fig10_22"/>
          <p:cNvSpPr/>
          <p:nvPr/>
        </p:nvSpPr>
        <p:spPr>
          <a:xfrm>
            <a:off x="6113952" y="4147901"/>
            <a:ext cx="1064727" cy="3895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생성 </a:t>
            </a:r>
            <a:r>
              <a:rPr sz="1000" b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이미지</a:t>
            </a:r>
            <a:endParaRPr sz="1000" b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  <a:p>
            <a:pPr algn="ctr"/>
            <a:r>
              <a:rPr sz="1000" b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(patch 결합)</a:t>
            </a:r>
          </a:p>
        </p:txBody>
      </p:sp>
      <p:sp>
        <p:nvSpPr>
          <p:cNvPr id="55" name="fig10_23"/>
          <p:cNvSpPr/>
          <p:nvPr/>
        </p:nvSpPr>
        <p:spPr>
          <a:xfrm>
            <a:off x="7087788" y="3589568"/>
            <a:ext cx="259689" cy="259689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56" name="fig10_24"/>
          <p:cNvSpPr/>
          <p:nvPr/>
        </p:nvSpPr>
        <p:spPr>
          <a:xfrm>
            <a:off x="7399416" y="3174065"/>
            <a:ext cx="1233525" cy="1090696"/>
          </a:xfrm>
          <a:prstGeom prst="roundRect">
            <a:avLst/>
          </a:prstGeom>
          <a:solidFill>
            <a:srgbClr val="FFFFFF"/>
          </a:solidFill>
          <a:ln w="22542">
            <a:solidFill>
              <a:srgbClr val="1E39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50" b="1" dirty="0">
                <a:solidFill>
                  <a:srgbClr val="1E3932"/>
                </a:solidFill>
                <a:latin typeface="Noto Sans KR"/>
                <a:ea typeface="Noto Sans KR"/>
                <a:cs typeface="Noto Sans KR"/>
              </a:rPr>
              <a:t>Discriminator</a:t>
            </a:r>
          </a:p>
          <a:p>
            <a:pPr algn="ctr"/>
            <a:r>
              <a:rPr sz="1050" b="1" dirty="0">
                <a:solidFill>
                  <a:srgbClr val="1E3932"/>
                </a:solidFill>
                <a:latin typeface="Noto Sans KR"/>
                <a:ea typeface="Noto Sans KR"/>
                <a:cs typeface="Noto Sans KR"/>
              </a:rPr>
              <a:t>(고전 FC</a:t>
            </a:r>
            <a:r>
              <a:rPr lang="en-US" sz="1050" b="1" dirty="0">
                <a:solidFill>
                  <a:srgbClr val="1E3932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1E3932"/>
                </a:solidFill>
                <a:latin typeface="Noto Sans KR"/>
                <a:ea typeface="Noto Sans KR"/>
                <a:cs typeface="Noto Sans KR"/>
              </a:rPr>
              <a:t>신경망</a:t>
            </a:r>
            <a:r>
              <a:rPr sz="1050" b="1" dirty="0">
                <a:solidFill>
                  <a:srgbClr val="1E3932"/>
                </a:solidFill>
                <a:latin typeface="Noto Sans KR"/>
                <a:ea typeface="Noto Sans KR"/>
                <a:cs typeface="Noto Sans KR"/>
              </a:rPr>
              <a:t>)</a:t>
            </a:r>
          </a:p>
        </p:txBody>
      </p:sp>
      <p:sp>
        <p:nvSpPr>
          <p:cNvPr id="57" name="fig10_25"/>
          <p:cNvSpPr/>
          <p:nvPr/>
        </p:nvSpPr>
        <p:spPr>
          <a:xfrm>
            <a:off x="8671895" y="3589568"/>
            <a:ext cx="207751" cy="259689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58" name="fig10_26"/>
          <p:cNvSpPr/>
          <p:nvPr/>
        </p:nvSpPr>
        <p:spPr>
          <a:xfrm>
            <a:off x="8905615" y="3355848"/>
            <a:ext cx="571317" cy="727130"/>
          </a:xfrm>
          <a:prstGeom prst="ellipse">
            <a:avLst/>
          </a:prstGeom>
          <a:solidFill>
            <a:srgbClr val="FFFFFF"/>
          </a:solidFill>
          <a:ln w="13525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진짜</a:t>
            </a:r>
          </a:p>
          <a:p>
            <a:pPr algn="ctr"/>
            <a:r>
              <a:rPr sz="10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/가짜</a:t>
            </a:r>
          </a:p>
        </p:txBody>
      </p:sp>
      <p:sp>
        <p:nvSpPr>
          <p:cNvPr id="59" name="fig10_27"/>
          <p:cNvSpPr/>
          <p:nvPr/>
        </p:nvSpPr>
        <p:spPr>
          <a:xfrm>
            <a:off x="3763761" y="5121737"/>
            <a:ext cx="4869180" cy="519379"/>
          </a:xfrm>
          <a:prstGeom prst="round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5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실제 이미지 (HAM10000 DF, 세그멘테이션 후)</a:t>
            </a:r>
          </a:p>
        </p:txBody>
      </p:sp>
      <p:sp>
        <p:nvSpPr>
          <p:cNvPr id="60" name="fig10_28"/>
          <p:cNvSpPr/>
          <p:nvPr/>
        </p:nvSpPr>
        <p:spPr>
          <a:xfrm>
            <a:off x="7866857" y="4342668"/>
            <a:ext cx="259689" cy="727130"/>
          </a:xfrm>
          <a:prstGeom prst="up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61" name="fig10_29"/>
          <p:cNvSpPr/>
          <p:nvPr/>
        </p:nvSpPr>
        <p:spPr>
          <a:xfrm>
            <a:off x="8152516" y="4498482"/>
            <a:ext cx="1233525" cy="38953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real 샘플</a:t>
            </a:r>
          </a:p>
        </p:txBody>
      </p:sp>
      <p:sp>
        <p:nvSpPr>
          <p:cNvPr id="32" name="src_caption"/>
          <p:cNvSpPr txBox="1"/>
          <p:nvPr/>
        </p:nvSpPr>
        <p:spPr>
          <a:xfrm>
            <a:off x="6062472" y="6428232"/>
            <a:ext cx="54864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85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원 논문 Fig. 10 구조를 도식으로 재구성: Andra et al., Quantum Machine Intelligence 7, 90 (2025)</a:t>
            </a:r>
          </a:p>
        </p:txBody>
      </p:sp>
    </p:spTree>
    <p:extLst>
      <p:ext uri="{BB962C8B-B14F-4D97-AF65-F5344CB8AC3E}">
        <p14:creationId xmlns:p14="http://schemas.microsoft.com/office/powerpoint/2010/main" val="3029255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01 · QGAN 논문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Patch 방식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큐빗 한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세트로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이미지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전체를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만들기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어려워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, 여러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개의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altLang="ko-KR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작은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회로</a:t>
            </a:r>
            <a:r>
              <a:rPr lang="en-US" altLang="ko-KR"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가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조각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(patch)을 나눠 생성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1A3A8C5-EAAF-43F9-800A-74B04054AD61}"/>
              </a:ext>
            </a:extLst>
          </p:cNvPr>
          <p:cNvGrpSpPr/>
          <p:nvPr/>
        </p:nvGrpSpPr>
        <p:grpSpPr>
          <a:xfrm>
            <a:off x="684180" y="2445419"/>
            <a:ext cx="5411820" cy="2995261"/>
            <a:chOff x="476016" y="2445419"/>
            <a:chExt cx="5411820" cy="2995261"/>
          </a:xfrm>
        </p:grpSpPr>
        <p:sp>
          <p:nvSpPr>
            <p:cNvPr id="17" name="TextBox 16"/>
            <p:cNvSpPr txBox="1"/>
            <p:nvPr/>
          </p:nvSpPr>
          <p:spPr>
            <a:xfrm>
              <a:off x="1875859" y="3576808"/>
              <a:ext cx="2612135" cy="16158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050" b="0" i="1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( </a:t>
              </a:r>
              <a:r>
                <a:rPr lang="ko-KR" altLang="en-US" sz="1050" b="0" i="1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논문</a:t>
              </a:r>
              <a:r>
                <a:rPr sz="1050" b="0" i="1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: 16개 </a:t>
              </a:r>
              <a:r>
                <a:rPr lang="en-US" sz="1050" b="0" i="1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Sub Generator</a:t>
              </a:r>
              <a:r>
                <a:rPr sz="1050" b="0" i="1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 )</a:t>
              </a:r>
            </a:p>
          </p:txBody>
        </p:sp>
        <p:sp>
          <p:nvSpPr>
            <p:cNvPr id="18" name="Down Arrow 17"/>
            <p:cNvSpPr/>
            <p:nvPr/>
          </p:nvSpPr>
          <p:spPr>
            <a:xfrm>
              <a:off x="3111541" y="4023360"/>
              <a:ext cx="140770" cy="457200"/>
            </a:xfrm>
            <a:prstGeom prst="downArrow">
              <a:avLst/>
            </a:prstGeom>
            <a:solidFill>
              <a:srgbClr val="0075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6F4E721B-C043-4E9C-879A-3E7219FC951F}"/>
                </a:ext>
              </a:extLst>
            </p:cNvPr>
            <p:cNvGrpSpPr/>
            <p:nvPr/>
          </p:nvGrpSpPr>
          <p:grpSpPr>
            <a:xfrm>
              <a:off x="476016" y="2445419"/>
              <a:ext cx="5411820" cy="687003"/>
              <a:chOff x="476016" y="2445419"/>
              <a:chExt cx="5411820" cy="687003"/>
            </a:xfrm>
          </p:grpSpPr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F3DCD61B-383A-4F43-99BB-0C4311D0840B}"/>
                  </a:ext>
                </a:extLst>
              </p:cNvPr>
              <p:cNvGrpSpPr/>
              <p:nvPr/>
            </p:nvGrpSpPr>
            <p:grpSpPr>
              <a:xfrm>
                <a:off x="476016" y="2445419"/>
                <a:ext cx="1133554" cy="687003"/>
                <a:chOff x="690869" y="2286000"/>
                <a:chExt cx="703848" cy="1005840"/>
              </a:xfrm>
            </p:grpSpPr>
            <p:sp>
              <p:nvSpPr>
                <p:cNvPr id="5" name="Rounded Rectangle 4"/>
                <p:cNvSpPr/>
                <p:nvPr/>
              </p:nvSpPr>
              <p:spPr>
                <a:xfrm>
                  <a:off x="690869" y="2286000"/>
                  <a:ext cx="703848" cy="1005840"/>
                </a:xfrm>
                <a:prstGeom prst="roundRect">
                  <a:avLst>
                    <a:gd name="adj" fmla="val 9000"/>
                  </a:avLst>
                </a:prstGeom>
                <a:solidFill>
                  <a:srgbClr val="F2F0EB"/>
                </a:solidFill>
                <a:ln w="15240">
                  <a:solidFill>
                    <a:srgbClr val="00754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" name="TextBox 5"/>
                <p:cNvSpPr txBox="1"/>
                <p:nvPr/>
              </p:nvSpPr>
              <p:spPr>
                <a:xfrm>
                  <a:off x="690869" y="2506236"/>
                  <a:ext cx="70384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1000" b="1" i="0" dirty="0">
                      <a:solidFill>
                        <a:srgbClr val="00754A"/>
                      </a:solidFill>
                      <a:latin typeface="Noto Sans KR"/>
                      <a:ea typeface="Noto Sans KR"/>
                      <a:cs typeface="Noto Sans KR"/>
                    </a:rPr>
                    <a:t>Sub Generator</a:t>
                  </a:r>
                  <a:r>
                    <a:rPr sz="1000" b="1" i="0" dirty="0">
                      <a:solidFill>
                        <a:srgbClr val="00754A"/>
                      </a:solidFill>
                      <a:latin typeface="Noto Sans KR"/>
                      <a:ea typeface="Noto Sans KR"/>
                      <a:cs typeface="Noto Sans KR"/>
                    </a:rPr>
                    <a:t> 1</a:t>
                  </a:r>
                </a:p>
              </p:txBody>
            </p:sp>
            <p:sp>
              <p:nvSpPr>
                <p:cNvPr id="7" name="TextBox 6"/>
                <p:cNvSpPr txBox="1"/>
                <p:nvPr/>
              </p:nvSpPr>
              <p:spPr>
                <a:xfrm>
                  <a:off x="690869" y="2788920"/>
                  <a:ext cx="703848" cy="41148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sz="1000" b="0" i="0">
                      <a:solidFill>
                        <a:srgbClr val="6B6B6B"/>
                      </a:solidFill>
                      <a:latin typeface="Noto Sans KR"/>
                      <a:ea typeface="Noto Sans KR"/>
                      <a:cs typeface="Noto Sans KR"/>
                    </a:rPr>
                    <a:t>PQC → patch</a:t>
                  </a:r>
                </a:p>
              </p:txBody>
            </p:sp>
          </p:grpSp>
          <p:grpSp>
            <p:nvGrpSpPr>
              <p:cNvPr id="27" name="그룹 26">
                <a:extLst>
                  <a:ext uri="{FF2B5EF4-FFF2-40B4-BE49-F238E27FC236}">
                    <a16:creationId xmlns:a16="http://schemas.microsoft.com/office/drawing/2014/main" id="{1337B174-2BC0-4494-B4BF-01A94E991301}"/>
                  </a:ext>
                </a:extLst>
              </p:cNvPr>
              <p:cNvGrpSpPr/>
              <p:nvPr/>
            </p:nvGrpSpPr>
            <p:grpSpPr>
              <a:xfrm>
                <a:off x="1902105" y="2445419"/>
                <a:ext cx="1133554" cy="687003"/>
                <a:chOff x="2322701" y="2286000"/>
                <a:chExt cx="703848" cy="1005840"/>
              </a:xfrm>
            </p:grpSpPr>
            <p:sp>
              <p:nvSpPr>
                <p:cNvPr id="8" name="Rounded Rectangle 7"/>
                <p:cNvSpPr/>
                <p:nvPr/>
              </p:nvSpPr>
              <p:spPr>
                <a:xfrm>
                  <a:off x="2322701" y="2286000"/>
                  <a:ext cx="703848" cy="1005840"/>
                </a:xfrm>
                <a:prstGeom prst="roundRect">
                  <a:avLst>
                    <a:gd name="adj" fmla="val 9000"/>
                  </a:avLst>
                </a:prstGeom>
                <a:solidFill>
                  <a:srgbClr val="F2F0EB"/>
                </a:solidFill>
                <a:ln w="15240">
                  <a:solidFill>
                    <a:srgbClr val="00754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" name="TextBox 8"/>
                <p:cNvSpPr txBox="1"/>
                <p:nvPr/>
              </p:nvSpPr>
              <p:spPr>
                <a:xfrm>
                  <a:off x="2322701" y="2506236"/>
                  <a:ext cx="70384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1000" b="1" i="0" dirty="0">
                      <a:solidFill>
                        <a:srgbClr val="00754A"/>
                      </a:solidFill>
                      <a:latin typeface="Noto Sans KR"/>
                      <a:ea typeface="Noto Sans KR"/>
                      <a:cs typeface="Noto Sans KR"/>
                    </a:rPr>
                    <a:t>Sub Generator</a:t>
                  </a:r>
                  <a:r>
                    <a:rPr sz="1000" b="1" i="0" dirty="0">
                      <a:solidFill>
                        <a:srgbClr val="00754A"/>
                      </a:solidFill>
                      <a:latin typeface="Noto Sans KR"/>
                      <a:ea typeface="Noto Sans KR"/>
                      <a:cs typeface="Noto Sans KR"/>
                    </a:rPr>
                    <a:t> 2</a:t>
                  </a:r>
                </a:p>
              </p:txBody>
            </p:sp>
            <p:sp>
              <p:nvSpPr>
                <p:cNvPr id="10" name="TextBox 9"/>
                <p:cNvSpPr txBox="1"/>
                <p:nvPr/>
              </p:nvSpPr>
              <p:spPr>
                <a:xfrm>
                  <a:off x="2322701" y="2788920"/>
                  <a:ext cx="703848" cy="41148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sz="1000" b="0" i="0">
                      <a:solidFill>
                        <a:srgbClr val="6B6B6B"/>
                      </a:solidFill>
                      <a:latin typeface="Noto Sans KR"/>
                      <a:ea typeface="Noto Sans KR"/>
                      <a:cs typeface="Noto Sans KR"/>
                    </a:rPr>
                    <a:t>PQC → patch</a:t>
                  </a:r>
                </a:p>
              </p:txBody>
            </p:sp>
          </p:grpSp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81D06E62-9878-4829-937E-08EE7E0D5040}"/>
                  </a:ext>
                </a:extLst>
              </p:cNvPr>
              <p:cNvGrpSpPr/>
              <p:nvPr/>
            </p:nvGrpSpPr>
            <p:grpSpPr>
              <a:xfrm>
                <a:off x="3328194" y="2445419"/>
                <a:ext cx="1133554" cy="687003"/>
                <a:chOff x="3954532" y="2286000"/>
                <a:chExt cx="703848" cy="1005840"/>
              </a:xfrm>
            </p:grpSpPr>
            <p:sp>
              <p:nvSpPr>
                <p:cNvPr id="11" name="Rounded Rectangle 10"/>
                <p:cNvSpPr/>
                <p:nvPr/>
              </p:nvSpPr>
              <p:spPr>
                <a:xfrm>
                  <a:off x="3954532" y="2286000"/>
                  <a:ext cx="703848" cy="1005840"/>
                </a:xfrm>
                <a:prstGeom prst="roundRect">
                  <a:avLst>
                    <a:gd name="adj" fmla="val 9000"/>
                  </a:avLst>
                </a:prstGeom>
                <a:solidFill>
                  <a:srgbClr val="F2F0EB"/>
                </a:solidFill>
                <a:ln w="15240">
                  <a:solidFill>
                    <a:srgbClr val="00754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" name="TextBox 11"/>
                <p:cNvSpPr txBox="1"/>
                <p:nvPr/>
              </p:nvSpPr>
              <p:spPr>
                <a:xfrm>
                  <a:off x="3954532" y="2506236"/>
                  <a:ext cx="70384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1000" b="1" i="0" dirty="0">
                      <a:solidFill>
                        <a:srgbClr val="00754A"/>
                      </a:solidFill>
                      <a:latin typeface="Noto Sans KR"/>
                      <a:ea typeface="Noto Sans KR"/>
                      <a:cs typeface="Noto Sans KR"/>
                    </a:rPr>
                    <a:t>Sub Generator</a:t>
                  </a:r>
                  <a:r>
                    <a:rPr sz="1000" b="1" i="0" dirty="0">
                      <a:solidFill>
                        <a:srgbClr val="00754A"/>
                      </a:solidFill>
                      <a:latin typeface="Noto Sans KR"/>
                      <a:ea typeface="Noto Sans KR"/>
                      <a:cs typeface="Noto Sans KR"/>
                    </a:rPr>
                    <a:t> 3</a:t>
                  </a:r>
                </a:p>
              </p:txBody>
            </p:sp>
            <p:sp>
              <p:nvSpPr>
                <p:cNvPr id="13" name="TextBox 12"/>
                <p:cNvSpPr txBox="1"/>
                <p:nvPr/>
              </p:nvSpPr>
              <p:spPr>
                <a:xfrm>
                  <a:off x="3954532" y="2788920"/>
                  <a:ext cx="703848" cy="41148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sz="1000" b="0" i="0">
                      <a:solidFill>
                        <a:srgbClr val="6B6B6B"/>
                      </a:solidFill>
                      <a:latin typeface="Noto Sans KR"/>
                      <a:ea typeface="Noto Sans KR"/>
                      <a:cs typeface="Noto Sans KR"/>
                    </a:rPr>
                    <a:t>PQC → patch</a:t>
                  </a:r>
                </a:p>
              </p:txBody>
            </p:sp>
          </p:grpSp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E5460ED6-F941-42FF-B6EF-B8FB219ECF27}"/>
                  </a:ext>
                </a:extLst>
              </p:cNvPr>
              <p:cNvGrpSpPr/>
              <p:nvPr/>
            </p:nvGrpSpPr>
            <p:grpSpPr>
              <a:xfrm>
                <a:off x="4754282" y="2445419"/>
                <a:ext cx="1133554" cy="687003"/>
                <a:chOff x="5586364" y="2286000"/>
                <a:chExt cx="703848" cy="1005840"/>
              </a:xfrm>
            </p:grpSpPr>
            <p:sp>
              <p:nvSpPr>
                <p:cNvPr id="14" name="Rounded Rectangle 13"/>
                <p:cNvSpPr/>
                <p:nvPr/>
              </p:nvSpPr>
              <p:spPr>
                <a:xfrm>
                  <a:off x="5586364" y="2286000"/>
                  <a:ext cx="703848" cy="1005840"/>
                </a:xfrm>
                <a:prstGeom prst="roundRect">
                  <a:avLst>
                    <a:gd name="adj" fmla="val 9000"/>
                  </a:avLst>
                </a:prstGeom>
                <a:solidFill>
                  <a:srgbClr val="F2F0EB"/>
                </a:solidFill>
                <a:ln w="15240">
                  <a:solidFill>
                    <a:srgbClr val="00754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5586364" y="2506236"/>
                  <a:ext cx="70384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sz="1000" b="1" i="0" dirty="0">
                      <a:solidFill>
                        <a:srgbClr val="00754A"/>
                      </a:solidFill>
                      <a:latin typeface="Noto Sans KR"/>
                      <a:ea typeface="Noto Sans KR"/>
                      <a:cs typeface="Noto Sans KR"/>
                    </a:rPr>
                    <a:t>Sub Generator</a:t>
                  </a:r>
                  <a:r>
                    <a:rPr sz="1000" b="1" i="0" dirty="0">
                      <a:solidFill>
                        <a:srgbClr val="00754A"/>
                      </a:solidFill>
                      <a:latin typeface="Noto Sans KR"/>
                      <a:ea typeface="Noto Sans KR"/>
                      <a:cs typeface="Noto Sans KR"/>
                    </a:rPr>
                    <a:t> </a:t>
                  </a:r>
                  <a:r>
                    <a:rPr lang="en-US" sz="1000" b="1" i="0" dirty="0">
                      <a:solidFill>
                        <a:srgbClr val="00754A"/>
                      </a:solidFill>
                      <a:latin typeface="Noto Sans KR"/>
                      <a:ea typeface="Noto Sans KR"/>
                      <a:cs typeface="Noto Sans KR"/>
                    </a:rPr>
                    <a:t>N</a:t>
                  </a:r>
                  <a:endParaRPr sz="1000" b="1" i="0" dirty="0">
                    <a:solidFill>
                      <a:srgbClr val="00754A"/>
                    </a:solidFill>
                    <a:latin typeface="Noto Sans KR"/>
                    <a:ea typeface="Noto Sans KR"/>
                    <a:cs typeface="Noto Sans KR"/>
                  </a:endParaRPr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5586364" y="2788920"/>
                  <a:ext cx="703848" cy="41148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sz="1000" b="0" i="0">
                      <a:solidFill>
                        <a:srgbClr val="6B6B6B"/>
                      </a:solidFill>
                      <a:latin typeface="Noto Sans KR"/>
                      <a:ea typeface="Noto Sans KR"/>
                      <a:cs typeface="Noto Sans KR"/>
                    </a:rPr>
                    <a:t>PQC → patch</a:t>
                  </a:r>
                </a:p>
              </p:txBody>
            </p:sp>
          </p:grpSp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1A8F0057-8333-42F5-B02A-A50109BF110F}"/>
                </a:ext>
              </a:extLst>
            </p:cNvPr>
            <p:cNvGrpSpPr/>
            <p:nvPr/>
          </p:nvGrpSpPr>
          <p:grpSpPr>
            <a:xfrm>
              <a:off x="1555334" y="4617720"/>
              <a:ext cx="3253184" cy="822960"/>
              <a:chOff x="1863949" y="4617720"/>
              <a:chExt cx="3253184" cy="822960"/>
            </a:xfrm>
          </p:grpSpPr>
          <p:sp>
            <p:nvSpPr>
              <p:cNvPr id="19" name="Rounded Rectangle 18"/>
              <p:cNvSpPr/>
              <p:nvPr/>
            </p:nvSpPr>
            <p:spPr>
              <a:xfrm>
                <a:off x="1863949" y="4617720"/>
                <a:ext cx="3253184" cy="822960"/>
              </a:xfrm>
              <a:prstGeom prst="roundRect">
                <a:avLst>
                  <a:gd name="adj" fmla="val 9000"/>
                </a:avLst>
              </a:prstGeom>
              <a:solidFill>
                <a:srgbClr val="1E393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2480556" y="4887355"/>
                <a:ext cx="2019971" cy="33855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ko-KR" sz="1100" b="1" i="0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</a:rPr>
                  <a:t>patch 1  +  patch 2  +  patch 3  +  </a:t>
                </a:r>
                <a:r>
                  <a:rPr lang="en-US" altLang="ko-KR" sz="1100" b="1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Wingdings" panose="05000000000000000000" pitchFamily="2" charset="2"/>
                  </a:rPr>
                  <a:t> + </a:t>
                </a:r>
                <a:r>
                  <a:rPr lang="en-US" altLang="ko-KR" sz="1100" b="1" i="0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</a:rPr>
                  <a:t>patch N  </a:t>
                </a:r>
              </a:p>
              <a:p>
                <a:pPr algn="ctr"/>
                <a:r>
                  <a:rPr lang="en-US" altLang="ko-KR" sz="1100" b="1" i="0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</a:rPr>
                  <a:t>→  </a:t>
                </a:r>
                <a:r>
                  <a:rPr lang="ko-KR" altLang="en-US" sz="1100" b="1" i="0" dirty="0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</a:rPr>
                  <a:t>이어 붙여 최종 이미지 벡터</a:t>
                </a:r>
              </a:p>
            </p:txBody>
          </p:sp>
        </p:grpSp>
      </p:grpSp>
      <p:sp>
        <p:nvSpPr>
          <p:cNvPr id="23" name="슬라이드 번호 개체 틀 22">
            <a:extLst>
              <a:ext uri="{FF2B5EF4-FFF2-40B4-BE49-F238E27FC236}">
                <a16:creationId xmlns:a16="http://schemas.microsoft.com/office/drawing/2014/main" id="{08AA32A2-85ED-4EDE-92D2-2106D0485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026" name="Picture 2" descr="Diagram of patch quantum GAN mechanism as adapted from [36]">
            <a:extLst>
              <a:ext uri="{FF2B5EF4-FFF2-40B4-BE49-F238E27FC236}">
                <a16:creationId xmlns:a16="http://schemas.microsoft.com/office/drawing/2014/main" id="{6E68FCF0-3070-482F-A75E-C9E099E38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586" y="2749409"/>
            <a:ext cx="4927023" cy="2476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3E9C97FE-4D8C-428D-9582-CA1E5F137B74}"/>
              </a:ext>
            </a:extLst>
          </p:cNvPr>
          <p:cNvSpPr/>
          <p:nvPr/>
        </p:nvSpPr>
        <p:spPr>
          <a:xfrm>
            <a:off x="7366000" y="3018971"/>
            <a:ext cx="863600" cy="1211943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Picture 2" descr="Diagram of patch quantum GAN mechanism as adapted from [36]">
            <a:extLst>
              <a:ext uri="{FF2B5EF4-FFF2-40B4-BE49-F238E27FC236}">
                <a16:creationId xmlns:a16="http://schemas.microsoft.com/office/drawing/2014/main" id="{035A69EB-F357-4BF8-8E7E-6591D0D953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96" t="12450" r="52884" b="39156"/>
          <a:stretch/>
        </p:blipFill>
        <p:spPr bwMode="auto">
          <a:xfrm>
            <a:off x="7162800" y="616445"/>
            <a:ext cx="2495174" cy="18215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CF4C9236-4EF4-4673-B226-353E8FC7DC6D}"/>
              </a:ext>
            </a:extLst>
          </p:cNvPr>
          <p:cNvSpPr/>
          <p:nvPr/>
        </p:nvSpPr>
        <p:spPr>
          <a:xfrm>
            <a:off x="7797800" y="768517"/>
            <a:ext cx="642257" cy="1575540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3D5E00A0-61F0-4834-A589-D4221522EBFF}"/>
              </a:ext>
            </a:extLst>
          </p:cNvPr>
          <p:cNvCxnSpPr>
            <a:stCxn id="32" idx="0"/>
            <a:endCxn id="34" idx="2"/>
          </p:cNvCxnSpPr>
          <p:nvPr/>
        </p:nvCxnSpPr>
        <p:spPr>
          <a:xfrm rot="5400000" flipH="1" flipV="1">
            <a:off x="7620907" y="2520950"/>
            <a:ext cx="674914" cy="321129"/>
          </a:xfrm>
          <a:prstGeom prst="bentConnector3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01 · QGAN 논문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Sub Generator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회로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상세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각 </a:t>
            </a:r>
            <a:r>
              <a:rPr 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Sub Generator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= 3단계로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이루어진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하나의 변분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양자회로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(PQC)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73152" cy="777240"/>
          </a:xfrm>
          <a:prstGeom prst="rect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① 노이즈 인코딩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1063721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무작위 각도를 RY 게이트로 각 큐빗에 회전시켜 입력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17520"/>
            <a:ext cx="73152" cy="777240"/>
          </a:xfrm>
          <a:prstGeom prst="rect">
            <a:avLst/>
          </a:prstGeom>
          <a:solidFill>
            <a:srgbClr val="0062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② 변분 레이어 (반복)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5235"/>
            <a:ext cx="10637215" cy="20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학습 가능한 RY </a:t>
            </a:r>
            <a:r>
              <a:rPr sz="12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회전</a:t>
            </a:r>
            <a:r>
              <a:rPr sz="12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+ </a:t>
            </a:r>
            <a:r>
              <a:rPr sz="12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인접</a:t>
            </a:r>
            <a:r>
              <a:rPr sz="12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큐빗 CZ </a:t>
            </a:r>
            <a:r>
              <a:rPr sz="12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얽힘</a:t>
            </a:r>
            <a:r>
              <a:rPr sz="12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- </a:t>
            </a:r>
            <a:r>
              <a:rPr sz="12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각도가</a:t>
            </a:r>
            <a:r>
              <a:rPr sz="12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altLang="ko-KR" sz="12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2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학습되는</a:t>
            </a:r>
            <a:r>
              <a:rPr sz="12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가중치</a:t>
            </a:r>
            <a:r>
              <a:rPr lang="en-US" altLang="ko-KR" sz="12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'</a:t>
            </a:r>
            <a:endParaRPr sz="12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3931920"/>
            <a:ext cx="73152" cy="777240"/>
          </a:xfrm>
          <a:prstGeom prst="rect">
            <a:avLst/>
          </a:prstGeom>
          <a:solidFill>
            <a:srgbClr val="9C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③ 측정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15968"/>
            <a:ext cx="1063721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데이터 큐빗의 확률분포(qml.probs)를 읽어 patch로 사용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983480"/>
            <a:ext cx="10881360" cy="256032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034552"/>
            <a:ext cx="25146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항목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5020056"/>
            <a:ext cx="7909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239512"/>
            <a:ext cx="1088136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266944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큐빗 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5266944"/>
            <a:ext cx="7909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데이터 7 + 보조(ancilla) 1 = 총 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495544"/>
            <a:ext cx="10881360" cy="256032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550463"/>
            <a:ext cx="25146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95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Sub Generator</a:t>
            </a:r>
            <a:r>
              <a:rPr sz="95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5522976"/>
            <a:ext cx="7909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16개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751576"/>
            <a:ext cx="1088136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777240" y="5779008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회로 </a:t>
            </a:r>
            <a:r>
              <a:rPr sz="95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깊이</a:t>
            </a:r>
            <a:r>
              <a:rPr sz="95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(PQC depth)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007608"/>
            <a:ext cx="10881360" cy="256032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6035040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학습률 / epoch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6035040"/>
            <a:ext cx="7909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0.1 / 2,000</a:t>
            </a:r>
          </a:p>
        </p:txBody>
      </p:sp>
      <p:sp>
        <p:nvSpPr>
          <p:cNvPr id="31" name="슬라이드 번호 개체 틀 30">
            <a:extLst>
              <a:ext uri="{FF2B5EF4-FFF2-40B4-BE49-F238E27FC236}">
                <a16:creationId xmlns:a16="http://schemas.microsoft.com/office/drawing/2014/main" id="{14F97062-AC7F-4D91-8952-496A0A3DA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B3F5BD-7B5E-46FA-84E2-735037CE8760}"/>
              </a:ext>
            </a:extLst>
          </p:cNvPr>
          <p:cNvSpPr txBox="1"/>
          <p:nvPr/>
        </p:nvSpPr>
        <p:spPr>
          <a:xfrm>
            <a:off x="3520440" y="5779008"/>
            <a:ext cx="7909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1</a:t>
            </a:r>
            <a:r>
              <a:rPr lang="en-US" sz="9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0</a:t>
            </a:r>
            <a:endParaRPr sz="95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51C1900-B063-412D-9D92-911EE77FC413}"/>
              </a:ext>
            </a:extLst>
          </p:cNvPr>
          <p:cNvSpPr/>
          <p:nvPr/>
        </p:nvSpPr>
        <p:spPr>
          <a:xfrm>
            <a:off x="6255657" y="1422400"/>
            <a:ext cx="4840514" cy="33690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논문</a:t>
            </a:r>
            <a:r>
              <a:rPr lang="en-US" altLang="ko-KR" dirty="0"/>
              <a:t>, </a:t>
            </a:r>
            <a:r>
              <a:rPr lang="ko-KR" altLang="en-US" dirty="0"/>
              <a:t>코드 읽고 어떻게 구성되는지 </a:t>
            </a:r>
            <a:r>
              <a:rPr lang="ko-KR" altLang="en-US" dirty="0" err="1"/>
              <a:t>볼것</a:t>
            </a:r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01 · QGAN 논문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Discriminator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구조 + 평가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프로토콜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"QGAN이 잘 만들었는지"는 생성 이미지 직접 확인 대신 별도 CNN 분류기 성능으로 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227167" cy="3291840"/>
          </a:xfrm>
          <a:prstGeom prst="roundRect">
            <a:avLst>
              <a:gd name="adj" fmla="val 9000"/>
            </a:avLst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406878"/>
            <a:ext cx="4678527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Discriminator</a:t>
            </a:r>
            <a:r>
              <a:rPr sz="14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(Table 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2103120"/>
            <a:ext cx="5227167" cy="3291840"/>
          </a:xfrm>
          <a:prstGeom prst="roundRect">
            <a:avLst>
              <a:gd name="adj" fmla="val 9000"/>
            </a:avLst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98767" y="2406878"/>
            <a:ext cx="4678527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평가용</a:t>
            </a:r>
            <a:r>
              <a:rPr sz="14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CNN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21729CC7-4D84-44D1-BE95-7F066969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4" name="src_caption"/>
          <p:cNvSpPr txBox="1"/>
          <p:nvPr/>
        </p:nvSpPr>
        <p:spPr>
          <a:xfrm>
            <a:off x="6062472" y="6428232"/>
            <a:ext cx="54864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85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표 내용 출처: Andra et al., Quantum Machine Intelligence 7, 90 (2025), Table 1·2·4</a:t>
            </a:r>
          </a:p>
        </p:txBody>
      </p:sp>
      <p:graphicFrame>
        <p:nvGraphicFramePr>
          <p:cNvPr id="25" name="andra_table"/>
          <p:cNvGraphicFramePr>
            <a:graphicFrameLocks noGrp="1"/>
          </p:cNvGraphicFramePr>
          <p:nvPr/>
        </p:nvGraphicFramePr>
        <p:xfrm>
          <a:off x="914400" y="2788920"/>
          <a:ext cx="4681728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8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Table 4 · Discriminator</a:t>
                      </a:r>
                    </a:p>
                  </a:txBody>
                  <a:tcPr marL="73152" marR="73152" marT="18288" marB="18288" anchor="ctr">
                    <a:solidFill>
                      <a:srgbClr val="1E39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값</a:t>
                      </a:r>
                    </a:p>
                  </a:txBody>
                  <a:tcPr marL="73152" marR="73152" marT="18288" marB="18288" anchor="ctr">
                    <a:solidFill>
                      <a:srgbClr val="1E39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Layer 수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 (완전연결)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활성화 함수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ReLU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출력층 활성화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Sigmoid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PQC 깊이 (생성자)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학습률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5×10⁻³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Epoch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2,000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손실 함수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Binary Cross Entropy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6" name="andra_table"/>
          <p:cNvGraphicFramePr>
            <a:graphicFrameLocks noGrp="1"/>
          </p:cNvGraphicFramePr>
          <p:nvPr/>
        </p:nvGraphicFramePr>
        <p:xfrm>
          <a:off x="6601968" y="2724912"/>
          <a:ext cx="4681728" cy="13121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8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Table 1 · CNN 학습 설정</a:t>
                      </a:r>
                    </a:p>
                  </a:txBody>
                  <a:tcPr marL="73152" marR="73152" marT="18288" marB="18288" anchor="ctr">
                    <a:solidFill>
                      <a:srgbClr val="1E39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값</a:t>
                      </a:r>
                    </a:p>
                  </a:txBody>
                  <a:tcPr marL="73152" marR="73152" marT="18288" marB="18288" anchor="ctr">
                    <a:solidFill>
                      <a:srgbClr val="1E39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학습률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15×10⁻⁴ (=1.5×10⁻³)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손실 함수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Binary Cross Entropy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Optimizer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ADAM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정규화 레이어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Batch Normalization 2D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출력 활성화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Sigmoid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파라미터 수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460k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7" name="andra_table"/>
          <p:cNvGraphicFramePr>
            <a:graphicFrameLocks noGrp="1"/>
          </p:cNvGraphicFramePr>
          <p:nvPr/>
        </p:nvGraphicFramePr>
        <p:xfrm>
          <a:off x="6601968" y="4142232"/>
          <a:ext cx="4681728" cy="11247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8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Table 2 · Conv 레이어</a:t>
                      </a:r>
                    </a:p>
                  </a:txBody>
                  <a:tcPr marL="73152" marR="73152" marT="18288" marB="18288" anchor="ctr">
                    <a:solidFill>
                      <a:srgbClr val="1E39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값</a:t>
                      </a:r>
                    </a:p>
                  </a:txBody>
                  <a:tcPr marL="73152" marR="73152" marT="18288" marB="18288" anchor="ctr">
                    <a:solidFill>
                      <a:srgbClr val="1E39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Kernel 크기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Stride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활성화 함수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ReLU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정규화 레이어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Batch Normalization 2D</a:t>
                      </a:r>
                    </a:p>
                  </a:txBody>
                  <a:tcPr marL="73152" marR="73152" marT="18288" marB="18288" anchor="ctr">
                    <a:solidFill>
                      <a:srgbClr val="F2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Max Pooling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12121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2×2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01 · QGAN 논문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결과 ① - DF vs NV 분류 성능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Table 6: QGAN 증강 후 AUC-ROC 개선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089529"/>
            <a:ext cx="3657600" cy="1756791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11680" y="2769489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0.953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8920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증강 전(원본만)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2526030"/>
            <a:ext cx="3657600" cy="2320290"/>
          </a:xfrm>
          <a:prstGeom prst="rect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220599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0.970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48920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증강 후(QGAN 추가)</a:t>
            </a: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A532C628-1203-47D2-8E5B-1C6B5ABB4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40080" y="5440680"/>
            <a:ext cx="109087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※ 차이를 보이기 위해 막대는 0.90 기준선부터 표시함 (0 기준이면 두 막대 높이 차이는 약 2%)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01 · QGAN 논문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결과 ② - </a:t>
            </a:r>
            <a:r>
              <a:rPr lang="ko-KR" altLang="en-US" sz="27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조건부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증강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효과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세그멘테이션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전처리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이미지에서만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증강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효과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있음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94560"/>
            <a:ext cx="10881360" cy="64008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231136"/>
            <a:ext cx="5257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입력 전처리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231136"/>
            <a:ext cx="5166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QGAN 증강 효과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34639"/>
            <a:ext cx="108813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862071"/>
            <a:ext cx="5257800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원본/리사이즈 이미지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862071"/>
            <a:ext cx="5166360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82014"/>
                </a:solidFill>
                <a:latin typeface="Noto Sans KR"/>
                <a:ea typeface="Noto Sans KR"/>
                <a:cs typeface="Noto Sans KR"/>
              </a:rPr>
              <a:t>증강 효과 없음 - 오히려 성능 저하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74720"/>
            <a:ext cx="10881360" cy="64008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502151"/>
            <a:ext cx="5257800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세그멘테이션(K-means+FCM) 전처리 이미지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02151"/>
            <a:ext cx="5166360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증강 효과 있음 - 성능 개선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5120640" cy="1188720"/>
          </a:xfrm>
          <a:prstGeom prst="roundRect">
            <a:avLst>
              <a:gd name="adj" fmla="val 9000"/>
            </a:avLst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581144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60">
                <a:solidFill>
                  <a:srgbClr val="9C5000"/>
                </a:solidFill>
                <a:latin typeface="Noto Sans KR"/>
                <a:ea typeface="Noto Sans KR"/>
                <a:cs typeface="Noto Sans KR"/>
              </a:rPr>
              <a:t>왜 중요한가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80824"/>
            <a:ext cx="4663440" cy="2167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실제로는 배경 노이즈를 제거한(세그멘테이션) 입력에서만 생성 품질이 분류 성능 </a:t>
            </a:r>
            <a:r>
              <a:rPr sz="12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개선으로</a:t>
            </a: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이어짐</a:t>
            </a:r>
            <a:endParaRPr lang="en-US" sz="120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46F001B1-6FCE-4887-A9DC-A30AC565F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0" name="src_caption"/>
          <p:cNvSpPr txBox="1"/>
          <p:nvPr/>
        </p:nvSpPr>
        <p:spPr>
          <a:xfrm>
            <a:off x="6062472" y="6428232"/>
            <a:ext cx="54864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85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원 논문 파이프라인을 도식으로 재구성: Andra et al., Quantum Machine Intelligence 7, 90 (2025)</a:t>
            </a:r>
          </a:p>
        </p:txBody>
      </p:sp>
      <p:sp>
        <p:nvSpPr>
          <p:cNvPr id="21" name="pipe13_1"/>
          <p:cNvSpPr/>
          <p:nvPr/>
        </p:nvSpPr>
        <p:spPr>
          <a:xfrm>
            <a:off x="6112764" y="4389120"/>
            <a:ext cx="1129284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원본 이미지(raw)</a:t>
            </a:r>
          </a:p>
        </p:txBody>
      </p:sp>
      <p:sp>
        <p:nvSpPr>
          <p:cNvPr id="22" name="pipe13_2"/>
          <p:cNvSpPr/>
          <p:nvPr/>
        </p:nvSpPr>
        <p:spPr>
          <a:xfrm>
            <a:off x="6231636" y="4662525"/>
            <a:ext cx="891540" cy="594360"/>
          </a:xfrm>
          <a:prstGeom prst="roundRect">
            <a:avLst/>
          </a:prstGeom>
          <a:solidFill>
            <a:srgbClr val="F1D7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23" name="pipe13_3"/>
          <p:cNvSpPr/>
          <p:nvPr/>
        </p:nvSpPr>
        <p:spPr>
          <a:xfrm>
            <a:off x="6528816" y="4805172"/>
            <a:ext cx="309067" cy="285292"/>
          </a:xfrm>
          <a:prstGeom prst="ellipse">
            <a:avLst/>
          </a:prstGeom>
          <a:solidFill>
            <a:srgbClr val="8C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24" name="pipe13_4"/>
          <p:cNvSpPr/>
          <p:nvPr/>
        </p:nvSpPr>
        <p:spPr>
          <a:xfrm>
            <a:off x="7194499" y="4888382"/>
            <a:ext cx="1283817" cy="166420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25" name="pipe13_5"/>
          <p:cNvSpPr/>
          <p:nvPr/>
        </p:nvSpPr>
        <p:spPr>
          <a:xfrm>
            <a:off x="7242048" y="4650638"/>
            <a:ext cx="1212494" cy="2139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85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원본 그대로</a:t>
            </a:r>
          </a:p>
        </p:txBody>
      </p:sp>
      <p:sp>
        <p:nvSpPr>
          <p:cNvPr id="26" name="pipe13_6"/>
          <p:cNvSpPr/>
          <p:nvPr/>
        </p:nvSpPr>
        <p:spPr>
          <a:xfrm>
            <a:off x="8549640" y="4579315"/>
            <a:ext cx="1188720" cy="855878"/>
          </a:xfrm>
          <a:prstGeom prst="roundRect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Quantum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GAN</a:t>
            </a:r>
          </a:p>
        </p:txBody>
      </p:sp>
      <p:sp>
        <p:nvSpPr>
          <p:cNvPr id="27" name="pipe13_7"/>
          <p:cNvSpPr/>
          <p:nvPr/>
        </p:nvSpPr>
        <p:spPr>
          <a:xfrm>
            <a:off x="9785908" y="4686300"/>
            <a:ext cx="285292" cy="166420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28" name="pipe13_8"/>
          <p:cNvSpPr/>
          <p:nvPr/>
        </p:nvSpPr>
        <p:spPr>
          <a:xfrm>
            <a:off x="9785908" y="5185562"/>
            <a:ext cx="285292" cy="166420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29" name="pipe13_9"/>
          <p:cNvSpPr/>
          <p:nvPr/>
        </p:nvSpPr>
        <p:spPr>
          <a:xfrm>
            <a:off x="10118750" y="4579315"/>
            <a:ext cx="1402689" cy="380390"/>
          </a:xfrm>
          <a:prstGeom prst="roundRect">
            <a:avLst/>
          </a:prstGeom>
          <a:solidFill>
            <a:srgbClr val="FFFFFF"/>
          </a:solidFill>
          <a:ln w="12382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합성 이미지</a:t>
            </a:r>
          </a:p>
        </p:txBody>
      </p:sp>
      <p:sp>
        <p:nvSpPr>
          <p:cNvPr id="30" name="pipe13_10"/>
          <p:cNvSpPr/>
          <p:nvPr/>
        </p:nvSpPr>
        <p:spPr>
          <a:xfrm>
            <a:off x="10118750" y="5078577"/>
            <a:ext cx="1402689" cy="380390"/>
          </a:xfrm>
          <a:prstGeom prst="roundRect">
            <a:avLst/>
          </a:prstGeom>
          <a:solidFill>
            <a:srgbClr val="FFFFFF"/>
          </a:solidFill>
          <a:ln w="12382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10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합성 세그멘테이션</a:t>
            </a:r>
          </a:p>
        </p:txBody>
      </p:sp>
      <p:sp>
        <p:nvSpPr>
          <p:cNvPr id="31" name="pipe13_11"/>
          <p:cNvSpPr/>
          <p:nvPr/>
        </p:nvSpPr>
        <p:spPr>
          <a:xfrm>
            <a:off x="6576364" y="5304434"/>
            <a:ext cx="213969" cy="380390"/>
          </a:xfrm>
          <a:prstGeom prst="down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32" name="pipe13_12"/>
          <p:cNvSpPr/>
          <p:nvPr/>
        </p:nvSpPr>
        <p:spPr>
          <a:xfrm>
            <a:off x="6112764" y="5732373"/>
            <a:ext cx="1723644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r>
              <a:rPr sz="900" b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K-means + Fuzzy C-Means</a:t>
            </a:r>
          </a:p>
          <a:p>
            <a:pPr algn="ctr"/>
            <a:r>
              <a:rPr sz="900" b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클러스터링</a:t>
            </a:r>
          </a:p>
        </p:txBody>
      </p:sp>
      <p:sp>
        <p:nvSpPr>
          <p:cNvPr id="33" name="pipe13_13"/>
          <p:cNvSpPr/>
          <p:nvPr/>
        </p:nvSpPr>
        <p:spPr>
          <a:xfrm>
            <a:off x="7895844" y="5886907"/>
            <a:ext cx="475488" cy="166420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34" name="pipe13_14"/>
          <p:cNvSpPr/>
          <p:nvPr/>
        </p:nvSpPr>
        <p:spPr>
          <a:xfrm>
            <a:off x="8573414" y="5756148"/>
            <a:ext cx="427939" cy="42793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35" name="pipe13_15"/>
          <p:cNvSpPr/>
          <p:nvPr/>
        </p:nvSpPr>
        <p:spPr>
          <a:xfrm>
            <a:off x="8710117" y="5815584"/>
            <a:ext cx="154533" cy="30906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36" name="pipe13_16"/>
          <p:cNvSpPr/>
          <p:nvPr/>
        </p:nvSpPr>
        <p:spPr>
          <a:xfrm>
            <a:off x="9048902" y="5756148"/>
            <a:ext cx="427939" cy="42793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37" name="pipe13_17"/>
          <p:cNvSpPr/>
          <p:nvPr/>
        </p:nvSpPr>
        <p:spPr>
          <a:xfrm>
            <a:off x="9144000" y="5863132"/>
            <a:ext cx="237744" cy="21396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  <p:sp>
        <p:nvSpPr>
          <p:cNvPr id="38" name="pipe13_18"/>
          <p:cNvSpPr/>
          <p:nvPr/>
        </p:nvSpPr>
        <p:spPr>
          <a:xfrm>
            <a:off x="9560052" y="5851245"/>
            <a:ext cx="1069848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l"/>
            <a:r>
              <a:rPr sz="9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세그멘테이션 마스크</a:t>
            </a:r>
          </a:p>
        </p:txBody>
      </p:sp>
      <p:sp>
        <p:nvSpPr>
          <p:cNvPr id="39" name="pipe13_19"/>
          <p:cNvSpPr/>
          <p:nvPr/>
        </p:nvSpPr>
        <p:spPr>
          <a:xfrm>
            <a:off x="9025128" y="5470855"/>
            <a:ext cx="213969" cy="261518"/>
          </a:xfrm>
          <a:prstGeom prst="up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01 · QGAN 논문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결과 ③ - 고전 GAN과의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Table 11: 조건에 따라 승자 교체 - "양자가 항상 이긴다"는 아님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94560"/>
            <a:ext cx="10881360" cy="64008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231136"/>
            <a:ext cx="2971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입력 조건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40" y="2231136"/>
            <a:ext cx="4069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정확도 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231136"/>
            <a:ext cx="3154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비고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34639"/>
            <a:ext cx="108813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862071"/>
            <a:ext cx="2971800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원본(raw) 이미지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40" y="3066192"/>
            <a:ext cx="406908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고전 GAN (</a:t>
            </a:r>
            <a:r>
              <a:rPr sz="115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정확도</a:t>
            </a:r>
            <a:r>
              <a:rPr sz="115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0.98)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862071"/>
            <a:ext cx="3154680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QGAN 열세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74720"/>
            <a:ext cx="10881360" cy="64008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502151"/>
            <a:ext cx="2971800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세그멘테이션</a:t>
            </a:r>
            <a:r>
              <a:rPr sz="1150" b="1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50" b="1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이미지</a:t>
            </a:r>
            <a:endParaRPr sz="1150" b="1" i="0" dirty="0">
              <a:solidFill>
                <a:srgbClr val="0075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77640" y="3706272"/>
            <a:ext cx="406908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QGAN (</a:t>
            </a:r>
            <a:r>
              <a:rPr sz="1150" b="1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정확도</a:t>
            </a:r>
            <a:r>
              <a:rPr sz="1150" b="1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0.96 vs 0.95)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502151"/>
            <a:ext cx="3154680" cy="5852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AUC는 0.97로 동률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08328"/>
            <a:ext cx="10362895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050" b="1" i="0" spc="6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해석</a:t>
            </a:r>
            <a:endParaRPr sz="1050" b="1" i="0" spc="60" dirty="0">
              <a:solidFill>
                <a:srgbClr val="0075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4595032"/>
            <a:ext cx="10362895" cy="4568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"고전 대비 무조건적 속도·성능 우위"가 성공 기준이 아니라, </a:t>
            </a:r>
            <a:endParaRPr lang="en-US" sz="120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</a:pP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(1) 문제→양자 파이프라인의 실제 성립 여부, (2) 어떤 </a:t>
            </a:r>
            <a:r>
              <a:rPr sz="12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조건에서</a:t>
            </a: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고전과</a:t>
            </a:r>
            <a:r>
              <a:rPr lang="en-US"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동등·우위인지</a:t>
            </a: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(crossover 조건) 평가 </a:t>
            </a:r>
            <a:endParaRPr lang="en-US" sz="120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2569153E-3FA8-4A4A-81BF-B654814CD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CHAPTER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논문 ② MediQ-GAN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21078"/>
            <a:ext cx="10911535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 dirty="0" err="1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듀얼스트림</a:t>
            </a:r>
            <a:r>
              <a:rPr sz="1400" b="0" i="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i="0" dirty="0" err="1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구조로</a:t>
            </a:r>
            <a:r>
              <a:rPr sz="1400" b="0" i="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400" b="0" i="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모델 아키텍처 </a:t>
            </a:r>
            <a:r>
              <a:rPr lang="en-US" altLang="ko-KR" sz="1400" b="0" i="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400" b="0" i="0" dirty="0" err="1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일부만</a:t>
            </a:r>
            <a:r>
              <a:rPr lang="en-US" altLang="ko-KR" sz="1400" b="0" i="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400" b="0" i="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i="0" dirty="0" err="1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양자화한</a:t>
            </a:r>
            <a:r>
              <a:rPr sz="1400" b="0" i="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 생성</a:t>
            </a:r>
            <a:r>
              <a:rPr lang="en-US" sz="1400" b="0" i="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00" b="0" i="0" dirty="0">
                <a:solidFill>
                  <a:srgbClr val="CFC9B8"/>
                </a:solidFill>
                <a:latin typeface="Noto Sans KR"/>
                <a:ea typeface="Noto Sans KR"/>
                <a:cs typeface="Noto Sans KR"/>
              </a:rPr>
              <a:t>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논문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377440"/>
            <a:ext cx="835121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MediQ-GAN (arXiv:2506.21015)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핵심 기여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567544"/>
            <a:ext cx="8351215" cy="2258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를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고전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스트림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+ 양자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스트림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둘로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나눠 병렬 처리 후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융합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(skip-connection) -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의료영상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3종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데이터셋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검증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356910"/>
            <a:ext cx="8351215" cy="475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DCGAN·WGAN-GP·StyleGAN2-ADA 등 고전 SOTA 및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MosaiQ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(양자)와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클래스별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FID·LPIPS로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비교, </a:t>
            </a:r>
            <a:endParaRPr lang="en-US" sz="1250" b="0" i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</a:pP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실제</a:t>
            </a:r>
            <a:r>
              <a:rPr lang="en-US" sz="125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I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BM 하드웨어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실행까지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FC49D"/>
                </a:solidFill>
                <a:latin typeface="Noto Sans KR"/>
                <a:ea typeface="Noto Sans KR"/>
                <a:cs typeface="Noto Sans KR"/>
              </a:rPr>
              <a:t>이 강의에서의 역할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396344"/>
            <a:ext cx="8351215" cy="2258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"</a:t>
            </a:r>
            <a:r>
              <a:rPr lang="en-US"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일부만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양자"인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아키텍처의</a:t>
            </a:r>
            <a:r>
              <a:rPr sz="1250" b="0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대표 사례 - layer-level hybrid</a:t>
            </a: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CBD2A32B-6676-494B-B5E3-9E10F6DB6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rPr dirty="0"/>
              <a:t>02 · MEDIQ-GAN </a:t>
            </a:r>
            <a:r>
              <a:rPr dirty="0" err="1"/>
              <a:t>논문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08792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MediQ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-GAN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아키텍처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다이어그램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-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듀얼스트림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0879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고전 스트림과 양자 스트림을 함께 학습해 합치는 구조를 도식으로 재구성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868680" cy="1965960"/>
          </a:xfrm>
          <a:prstGeom prst="round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2331720"/>
            <a:ext cx="813815" cy="1965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z(노이즈)</a:t>
            </a:r>
          </a:p>
          <a:p>
            <a:pPr algn="ctr"/>
            <a:r>
              <a:rPr sz="11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⊕</a:t>
            </a:r>
          </a:p>
          <a:p>
            <a:pPr algn="ctr"/>
            <a:r>
              <a:rPr sz="11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프로토타입</a:t>
            </a:r>
          </a:p>
          <a:p>
            <a:pPr algn="ctr"/>
            <a:r>
              <a:rPr sz="11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벡터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508760" y="2583179"/>
            <a:ext cx="365760" cy="365760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1508760" y="3680460"/>
            <a:ext cx="365760" cy="365760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965960" y="2331720"/>
            <a:ext cx="2148840" cy="868680"/>
          </a:xfrm>
          <a:prstGeom prst="round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20824" y="2331720"/>
            <a:ext cx="203911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고전 스트림</a:t>
            </a:r>
          </a:p>
          <a:p>
            <a:pPr algn="ctr"/>
            <a:r>
              <a:rPr sz="10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(CNN / MLP)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3429000"/>
            <a:ext cx="2148840" cy="868680"/>
          </a:xfrm>
          <a:prstGeom prst="roundRect">
            <a:avLst/>
          </a:prstGeom>
          <a:solidFill>
            <a:srgbClr val="EDE7F5"/>
          </a:solidFill>
          <a:ln w="15875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20824" y="3429000"/>
            <a:ext cx="2039112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양자 스트림</a:t>
            </a:r>
          </a:p>
          <a:p>
            <a:pPr algn="ctr"/>
            <a:r>
              <a:rPr sz="10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(VQC, 5×16큐빗)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06240" y="2583179"/>
            <a:ext cx="365760" cy="365760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4206240" y="3680460"/>
            <a:ext cx="365760" cy="365760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663440" y="2331720"/>
            <a:ext cx="1600200" cy="1965960"/>
          </a:xfrm>
          <a:prstGeom prst="roundRect">
            <a:avLst/>
          </a:prstGeom>
          <a:solidFill>
            <a:srgbClr val="F2F0EB"/>
          </a:solidFill>
          <a:ln w="15875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59" y="2331720"/>
            <a:ext cx="1508760" cy="1965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채널 결합</a:t>
            </a:r>
          </a:p>
          <a:p>
            <a:pPr algn="ctr"/>
            <a:r>
              <a:rPr sz="10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(concat)</a:t>
            </a:r>
          </a:p>
          <a:p>
            <a:pPr algn="ctr"/>
            <a:r>
              <a:rPr sz="10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16+16</a:t>
            </a:r>
          </a:p>
          <a:p>
            <a:pPr algn="ctr"/>
            <a:r>
              <a:rPr sz="100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=32채널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55079" y="3131820"/>
            <a:ext cx="365760" cy="365760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812279" y="2880360"/>
            <a:ext cx="1234440" cy="868680"/>
          </a:xfrm>
          <a:prstGeom prst="round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48855" y="2880360"/>
            <a:ext cx="116128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디코더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138159" y="3131820"/>
            <a:ext cx="365760" cy="365760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595359" y="2880360"/>
            <a:ext cx="1417320" cy="868680"/>
          </a:xfrm>
          <a:prstGeom prst="round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31935" y="2880360"/>
            <a:ext cx="134416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생성 이미지</a:t>
            </a:r>
          </a:p>
          <a:p>
            <a:pPr algn="ctr"/>
            <a:r>
              <a:rPr sz="10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(고해상도)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0104119" y="3131820"/>
            <a:ext cx="365760" cy="365760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561319" y="2880360"/>
            <a:ext cx="1234440" cy="868680"/>
          </a:xfrm>
          <a:prstGeom prst="roundRect">
            <a:avLst/>
          </a:prstGeom>
          <a:solidFill>
            <a:srgbClr val="EDE7F5"/>
          </a:solidFill>
          <a:ln w="15875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97895" y="3233908"/>
            <a:ext cx="116128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05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Discriminator</a:t>
            </a:r>
            <a:endParaRPr sz="1050" b="1" i="0" dirty="0">
              <a:solidFill>
                <a:srgbClr val="5B3E8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0561319" y="4160520"/>
            <a:ext cx="1234440" cy="651509"/>
          </a:xfrm>
          <a:prstGeom prst="round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88751" y="4160520"/>
            <a:ext cx="1179576" cy="6515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실제 이미지</a:t>
            </a:r>
          </a:p>
        </p:txBody>
      </p:sp>
      <p:sp>
        <p:nvSpPr>
          <p:cNvPr id="28" name="Up Arrow 27"/>
          <p:cNvSpPr/>
          <p:nvPr/>
        </p:nvSpPr>
        <p:spPr>
          <a:xfrm>
            <a:off x="10995660" y="3776472"/>
            <a:ext cx="365760" cy="347472"/>
          </a:xfrm>
          <a:prstGeom prst="up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슬라이드 번호 개체 틀 33">
            <a:extLst>
              <a:ext uri="{FF2B5EF4-FFF2-40B4-BE49-F238E27FC236}">
                <a16:creationId xmlns:a16="http://schemas.microsoft.com/office/drawing/2014/main" id="{9245187E-7FB8-4A16-BC70-D0A839C7E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822960"/>
            <a:ext cx="11091672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5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Sub Generator</a:t>
            </a:r>
            <a:r>
              <a:rPr sz="25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상세</a:t>
            </a:r>
            <a:r>
              <a:rPr sz="25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- 16 site 중 5개만 실제 양자 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16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나머지 11칸은 classical 1×1 conv의 편향값만 받음 (공식 GitHub 코드 기준)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331720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2331720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331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62456" y="2331720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62456" y="2331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92224" y="2331720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92224" y="2331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61487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76148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2761487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276148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62456" y="2761487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62456" y="276148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92224" y="2761487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792224" y="276148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191256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1912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" y="3191256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" y="31912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62456" y="3191256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62456" y="31912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92224" y="3191256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792224" y="31912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621024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3621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" y="3621024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2688" y="3621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62456" y="3621024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62456" y="3621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92224" y="3621024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792224" y="3621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2075687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입력 4×4 (16 site)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2286000" y="3022091"/>
            <a:ext cx="292608" cy="292608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688336" y="2331720"/>
            <a:ext cx="2331720" cy="298094"/>
          </a:xfrm>
          <a:prstGeom prst="round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34056" y="2353039"/>
            <a:ext cx="2240279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site0 → </a:t>
            </a:r>
            <a:r>
              <a:rPr lang="en-US"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Sub Generator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1(16큐빗,L=8)</a:t>
            </a:r>
            <a:b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</a:b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→ 평균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스칼라</a:t>
            </a:r>
            <a:endParaRPr sz="830" b="1" i="0" dirty="0">
              <a:solidFill>
                <a:srgbClr val="5B3E8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2688336" y="2675534"/>
            <a:ext cx="2331720" cy="298094"/>
          </a:xfrm>
          <a:prstGeom prst="round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34056" y="2696853"/>
            <a:ext cx="2240279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site4 → </a:t>
            </a:r>
            <a:r>
              <a:rPr lang="en-US"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Sub Generator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2(16큐빗,L=8)</a:t>
            </a:r>
            <a:b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</a:b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→ 평균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스칼라</a:t>
            </a:r>
            <a:endParaRPr sz="830" b="1" i="0" dirty="0">
              <a:solidFill>
                <a:srgbClr val="5B3E8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2688336" y="3019348"/>
            <a:ext cx="2331720" cy="298094"/>
          </a:xfrm>
          <a:prstGeom prst="round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734056" y="3040667"/>
            <a:ext cx="2240279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site8 → </a:t>
            </a:r>
            <a:r>
              <a:rPr lang="en-US"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Sub Generator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3(16큐빗,L=8)</a:t>
            </a:r>
            <a:b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</a:b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→ 평균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스칼라</a:t>
            </a:r>
            <a:endParaRPr sz="830" b="1" i="0" dirty="0">
              <a:solidFill>
                <a:srgbClr val="5B3E8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2688336" y="3363163"/>
            <a:ext cx="2331720" cy="298094"/>
          </a:xfrm>
          <a:prstGeom prst="round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734056" y="3384482"/>
            <a:ext cx="2240279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site11 → </a:t>
            </a:r>
            <a:r>
              <a:rPr lang="en-US"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Sub Generator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4(16큐빗,L=8)</a:t>
            </a:r>
            <a:b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</a:b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→ 평균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스칼라</a:t>
            </a:r>
            <a:endParaRPr sz="830" b="1" i="0" dirty="0">
              <a:solidFill>
                <a:srgbClr val="5B3E8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2688336" y="3706977"/>
            <a:ext cx="2331720" cy="298094"/>
          </a:xfrm>
          <a:prstGeom prst="round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34056" y="3728296"/>
            <a:ext cx="2240279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site15 → </a:t>
            </a:r>
            <a:r>
              <a:rPr lang="en-US"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Sub Generator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5(16큐빗,L=8)</a:t>
            </a:r>
            <a:b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</a:b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→ 평균</a:t>
            </a:r>
            <a:r>
              <a:rPr sz="83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830" b="1" i="0" dirty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스칼라</a:t>
            </a:r>
            <a:endParaRPr sz="830" b="1" i="0" dirty="0">
              <a:solidFill>
                <a:srgbClr val="5B3E8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9" name="Right Arrow 48"/>
          <p:cNvSpPr/>
          <p:nvPr/>
        </p:nvSpPr>
        <p:spPr>
          <a:xfrm>
            <a:off x="5129784" y="3022091"/>
            <a:ext cx="292608" cy="292608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532120" y="2331720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532120" y="2331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61888" y="2331720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61888" y="2331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91656" y="2331720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91656" y="2331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21424" y="2331720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821424" y="23317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32120" y="2761487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532120" y="276148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61888" y="2761487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61888" y="276148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91656" y="2761487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91656" y="276148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21424" y="2761487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821424" y="276148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532120" y="3191256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532120" y="31912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61888" y="3191256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961888" y="31912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91656" y="3191256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391656" y="31912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21424" y="3191256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821424" y="31912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32120" y="3621024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532120" y="3621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61888" y="3621024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961888" y="3621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91656" y="3621024"/>
            <a:ext cx="384048" cy="384048"/>
          </a:xfrm>
          <a:prstGeom prst="rect">
            <a:avLst/>
          </a:prstGeom>
          <a:solidFill>
            <a:srgbClr val="EDEBE9"/>
          </a:solidFill>
          <a:ln w="12700">
            <a:solidFill>
              <a:srgbClr val="C9C5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391656" y="3621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821424" y="3621024"/>
            <a:ext cx="384048" cy="384048"/>
          </a:xfrm>
          <a:prstGeom prst="rect">
            <a:avLst/>
          </a:prstGeom>
          <a:solidFill>
            <a:srgbClr val="EDE7F5"/>
          </a:solidFill>
          <a:ln w="1270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821424" y="362102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●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32120" y="2075687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출력 4×4 (5칸만 값 존재)</a:t>
            </a:r>
          </a:p>
        </p:txBody>
      </p:sp>
      <p:sp>
        <p:nvSpPr>
          <p:cNvPr id="83" name="Right Arrow 82"/>
          <p:cNvSpPr/>
          <p:nvPr/>
        </p:nvSpPr>
        <p:spPr>
          <a:xfrm>
            <a:off x="7315200" y="3022091"/>
            <a:ext cx="292608" cy="292608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7717536" y="2331720"/>
            <a:ext cx="1920240" cy="1673352"/>
          </a:xfrm>
          <a:prstGeom prst="roundRect">
            <a:avLst/>
          </a:prstGeom>
          <a:solidFill>
            <a:srgbClr val="F2F0EB"/>
          </a:solidFill>
          <a:ln w="15875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790688" y="2949105"/>
            <a:ext cx="1773936" cy="4385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1×1 conv</a:t>
            </a:r>
          </a:p>
          <a:p>
            <a:pPr algn="ctr"/>
            <a:r>
              <a:rPr sz="950" b="1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(완전 classical,</a:t>
            </a:r>
            <a:r>
              <a:rPr lang="en-US" sz="950" b="1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50" b="1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학습됨</a:t>
            </a:r>
            <a:r>
              <a:rPr sz="950" b="1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)</a:t>
            </a:r>
          </a:p>
          <a:p>
            <a:pPr algn="ctr"/>
            <a:r>
              <a:rPr sz="950" b="1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5채널→16채널</a:t>
            </a:r>
          </a:p>
        </p:txBody>
      </p:sp>
      <p:sp>
        <p:nvSpPr>
          <p:cNvPr id="86" name="Right Arrow 85"/>
          <p:cNvSpPr/>
          <p:nvPr/>
        </p:nvSpPr>
        <p:spPr>
          <a:xfrm>
            <a:off x="9747503" y="3022091"/>
            <a:ext cx="292608" cy="292608"/>
          </a:xfrm>
          <a:prstGeom prst="right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10149839" y="2331720"/>
            <a:ext cx="1493520" cy="1673352"/>
          </a:xfrm>
          <a:prstGeom prst="roundRect">
            <a:avLst/>
          </a:prstGeom>
          <a:solidFill>
            <a:srgbClr val="EDE7F5"/>
          </a:solidFill>
          <a:ln w="15875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0222991" y="3083757"/>
            <a:ext cx="1347216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F</a:t>
            </a:r>
            <a:r>
              <a:rPr sz="1100" b="1" i="0" baseline="-25000" err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q</a:t>
            </a:r>
            <a:r>
              <a:rPr lang="en-US" sz="1100" b="1" i="0" baseline="-2500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∈</a:t>
            </a:r>
            <a:r>
              <a:rPr lang="en-US" sz="110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1" i="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R^</a:t>
            </a:r>
            <a:r>
              <a:rPr sz="1100" b="1" i="0" baseline="30000" dirty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(16×4×4)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48640" y="4462272"/>
            <a:ext cx="11091672" cy="914400"/>
          </a:xfrm>
          <a:prstGeom prst="round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22960" y="4535424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site 선택: </a:t>
            </a:r>
            <a:r>
              <a:rPr sz="1000" b="0" i="1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linspace</a:t>
            </a:r>
            <a:r>
              <a:rPr sz="1000" b="0" i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(0,15,5)round → [0, 4, 8, 11, 15] (row×4+col). </a:t>
            </a:r>
            <a:r>
              <a:rPr sz="1000" b="0" i="1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나머지</a:t>
            </a:r>
            <a:r>
              <a:rPr sz="1000" b="0" i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11칸은 그 </a:t>
            </a:r>
            <a:r>
              <a:rPr lang="en-US" sz="1000" b="0" i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Sub </a:t>
            </a:r>
            <a:r>
              <a:rPr lang="en-US" sz="1000" b="0" i="1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000" b="0" i="1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의</a:t>
            </a:r>
            <a:r>
              <a:rPr sz="1000" b="0" i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4×4 </a:t>
            </a:r>
            <a:r>
              <a:rPr sz="1000" b="0" i="1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맵에서</a:t>
            </a:r>
            <a:r>
              <a:rPr sz="1000" b="0" i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0으로 </a:t>
            </a:r>
            <a:r>
              <a:rPr sz="1000" b="0" i="1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남음</a:t>
            </a:r>
            <a:r>
              <a:rPr sz="1000" b="0" i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.</a:t>
            </a:r>
          </a:p>
          <a:p>
            <a:pPr algn="l"/>
            <a:r>
              <a:rPr sz="1000" b="0" i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1×1 </a:t>
            </a:r>
            <a:r>
              <a:rPr sz="1000" b="0" i="1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conv는</a:t>
            </a:r>
            <a:r>
              <a:rPr sz="1000" b="0" i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00" b="0" i="1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칸별</a:t>
            </a:r>
            <a:r>
              <a:rPr sz="1000" b="0" i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00" b="0" i="1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독립</a:t>
            </a:r>
            <a:r>
              <a:rPr sz="1000" b="0" i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처리(</a:t>
            </a:r>
            <a:r>
              <a:rPr sz="1000" b="0" i="1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이웃</a:t>
            </a:r>
            <a:r>
              <a:rPr sz="1000" b="0" i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안 봄) - </a:t>
            </a:r>
            <a:r>
              <a:rPr sz="1000" b="0" i="1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값이</a:t>
            </a:r>
            <a:r>
              <a:rPr sz="1000" b="0" i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있는 5칸만 진짜 양자 </a:t>
            </a:r>
            <a:r>
              <a:rPr sz="1000" b="0" i="1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스칼라를</a:t>
            </a:r>
            <a:r>
              <a:rPr sz="1000" b="0" i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16채널로 </a:t>
            </a:r>
            <a:r>
              <a:rPr sz="1000" b="0" i="1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투영</a:t>
            </a:r>
            <a:r>
              <a:rPr sz="1000" b="0" i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000" b="0" i="1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나머지</a:t>
            </a:r>
            <a:r>
              <a:rPr sz="1000" b="0" i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11칸은 </a:t>
            </a:r>
            <a:r>
              <a:rPr sz="1000" b="0" i="1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학습된</a:t>
            </a:r>
            <a:r>
              <a:rPr sz="1000" b="0" i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00" b="0" i="1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편향</a:t>
            </a:r>
            <a:r>
              <a:rPr sz="1000" b="0" i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(bias)뿐. </a:t>
            </a:r>
            <a:r>
              <a:rPr sz="1000" b="0" i="1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이후</a:t>
            </a:r>
            <a:r>
              <a:rPr sz="1000" b="0" i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8×8 </a:t>
            </a:r>
            <a:r>
              <a:rPr sz="1000" b="0" i="1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업샘플에서만</a:t>
            </a:r>
            <a:r>
              <a:rPr sz="1000" b="0" i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00" b="0" i="1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보간으로</a:t>
            </a:r>
            <a:r>
              <a:rPr sz="1000" b="0" i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00" b="0" i="1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살짝</a:t>
            </a:r>
            <a:r>
              <a:rPr sz="1000" b="0" i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00" b="0" i="1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섞임</a:t>
            </a:r>
            <a:r>
              <a:rPr sz="1000" b="0" i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91" name="슬라이드 번호 개체 틀 33">
            <a:extLst>
              <a:ext uri="{FF2B5EF4-FFF2-40B4-BE49-F238E27FC236}">
                <a16:creationId xmlns:a16="http://schemas.microsoft.com/office/drawing/2014/main" id="{9245187E-7FB8-4A16-BC70-D0A839C7E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9D549B7-3B93-4BE3-A5B9-0223C69F49CD}"/>
              </a:ext>
            </a:extLst>
          </p:cNvPr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rPr dirty="0"/>
              <a:t>02 · MEDIQ-GAN </a:t>
            </a:r>
            <a:r>
              <a:rPr dirty="0" err="1"/>
              <a:t>논문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C4CE80AE-E4EF-46C1-9177-3F38DECAF262}"/>
              </a:ext>
            </a:extLst>
          </p:cNvPr>
          <p:cNvGrpSpPr/>
          <p:nvPr/>
        </p:nvGrpSpPr>
        <p:grpSpPr>
          <a:xfrm>
            <a:off x="3574048" y="4434840"/>
            <a:ext cx="5043600" cy="1874520"/>
            <a:chOff x="3215192" y="4210843"/>
            <a:chExt cx="5761309" cy="2141266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8B77E0A6-834D-41EE-8765-CA5213CFE5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15192" y="4210843"/>
              <a:ext cx="5761309" cy="2141266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6412CBD-73F9-47DB-BE83-3ACF0336E3B4}"/>
                </a:ext>
              </a:extLst>
            </p:cNvPr>
            <p:cNvSpPr/>
            <p:nvPr/>
          </p:nvSpPr>
          <p:spPr>
            <a:xfrm>
              <a:off x="6602984" y="4381718"/>
              <a:ext cx="597119" cy="1743753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998450A-C97A-474F-84A6-864159CC32F8}"/>
                </a:ext>
              </a:extLst>
            </p:cNvPr>
            <p:cNvSpPr/>
            <p:nvPr/>
          </p:nvSpPr>
          <p:spPr>
            <a:xfrm>
              <a:off x="7352503" y="4381718"/>
              <a:ext cx="760983" cy="1743753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02 · MEDIQ-GAN 논문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Hybrid 분류체계 - "어디까지가 양자인가"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같은 </a:t>
            </a:r>
            <a:r>
              <a:rPr lang="en-US" altLang="ko-KR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양자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생성모델</a:t>
            </a:r>
            <a:r>
              <a:rPr lang="en-US" altLang="ko-KR"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이라도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전체/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일부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양자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여부로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근본적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구분</a:t>
            </a:r>
            <a:endParaRPr sz="13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227167" cy="2251166"/>
          </a:xfrm>
          <a:prstGeom prst="roundRect">
            <a:avLst>
              <a:gd name="adj" fmla="val 9000"/>
            </a:avLst>
          </a:prstGeom>
          <a:solidFill>
            <a:srgbClr val="F2F0EB"/>
          </a:solidFill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467852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모델 레벨 하이브리드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24912"/>
            <a:ext cx="4678527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예: HAM10000 QGAN, MosaiQ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99051"/>
            <a:ext cx="4678527" cy="924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en-US"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= 처음부터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끝까지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양자회로</a:t>
            </a:r>
            <a:endParaRPr sz="115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en-US"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Discriminator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만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고전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PCA 등 고전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전처리가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있어도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en-US"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15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는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양자</a:t>
            </a:r>
            <a:r>
              <a:rPr lang="en-US"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회로 구성</a:t>
            </a:r>
            <a:endParaRPr sz="115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24447" y="2103120"/>
            <a:ext cx="5227167" cy="2251166"/>
          </a:xfrm>
          <a:prstGeom prst="roundRect">
            <a:avLst>
              <a:gd name="adj" fmla="val 9000"/>
            </a:avLst>
          </a:prstGeom>
          <a:solidFill>
            <a:srgbClr val="EDE7F5"/>
          </a:solidFill>
          <a:ln w="1905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98767" y="2331720"/>
            <a:ext cx="467852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레이어 레벨 하이브리드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724912"/>
            <a:ext cx="4678527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예: MediQ-GAN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8767" y="3199051"/>
            <a:ext cx="4678527" cy="9243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lang="en-US"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내부가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고전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스트림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+ 양자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스트림으로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병렬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분기</a:t>
            </a:r>
            <a:endParaRPr sz="115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두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스트림을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skip-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connection으로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concat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후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디코딩</a:t>
            </a:r>
            <a:endParaRPr sz="115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"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레이어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하나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안에서도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"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양자·고전이</a:t>
            </a:r>
            <a:r>
              <a:rPr sz="115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5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공존</a:t>
            </a:r>
            <a:endParaRPr sz="115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6BA614E7-110E-451F-B726-D0EEFB1C1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8" name="src_caption"/>
          <p:cNvSpPr txBox="1"/>
          <p:nvPr/>
        </p:nvSpPr>
        <p:spPr>
          <a:xfrm>
            <a:off x="6062472" y="6428232"/>
            <a:ext cx="54864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85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그림 출처: Jiao et al., MediQ-GAN, arXiv:2506.21015 (CC BY 4.0)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10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02 · MEDIQ-GAN </a:t>
            </a:r>
            <a:r>
              <a:rPr sz="1150" b="1" i="0" spc="10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논문</a:t>
            </a:r>
            <a:endParaRPr sz="1150" b="1" i="0" spc="100" dirty="0">
              <a:solidFill>
                <a:srgbClr val="0075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듀얼스트림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아키텍처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입력을 절반씩 나눠 고전 인코더와 양자회로(VQC)가 병렬 처리 후 하나로 합침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4998567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4998567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고전 스트림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499856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classical encoder / conv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53047" y="2377440"/>
            <a:ext cx="4998567" cy="914400"/>
          </a:xfrm>
          <a:prstGeom prst="roundRect">
            <a:avLst>
              <a:gd name="adj" fmla="val 9000"/>
            </a:avLst>
          </a:prstGeom>
          <a:solidFill>
            <a:srgbClr val="EDE7F5"/>
          </a:solidFill>
          <a:ln w="15240">
            <a:solidFill>
              <a:srgbClr val="5B3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53047" y="2514600"/>
            <a:ext cx="4998567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양자 스트림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2852928"/>
            <a:ext cx="499856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5 × 16큐빗 VQC (8층 깊이)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002203" y="3429000"/>
            <a:ext cx="274320" cy="365760"/>
          </a:xfrm>
          <a:prstGeom prst="downArrow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Down Arrow 11"/>
          <p:cNvSpPr/>
          <p:nvPr/>
        </p:nvSpPr>
        <p:spPr>
          <a:xfrm>
            <a:off x="8915171" y="3429000"/>
            <a:ext cx="274320" cy="365760"/>
          </a:xfrm>
          <a:prstGeom prst="downArrow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10911535" cy="685800"/>
          </a:xfrm>
          <a:prstGeom prst="roundRect">
            <a:avLst>
              <a:gd name="adj" fmla="val 9000"/>
            </a:avLst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023359"/>
            <a:ext cx="109115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skip-connection 융합 (concat)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58687" y="4754880"/>
            <a:ext cx="274320" cy="365760"/>
          </a:xfrm>
          <a:prstGeom prst="downArrow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926080" y="5257800"/>
            <a:ext cx="6339535" cy="594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24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26080" y="5330952"/>
            <a:ext cx="63395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고전 디코더 → 생성 이미지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8076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인코딩: angle encoding(Rx→Ry) · 학습레이어: Ry+CNOT 반복 · 측정: X-basis readout</a:t>
            </a: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F0B3A9D5-3519-4377-9DB2-35A3E7065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19</a:t>
            </a:fld>
            <a:endParaRPr 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2223941-1ED2-40BB-A9BD-AF2C292EB5DD}"/>
              </a:ext>
            </a:extLst>
          </p:cNvPr>
          <p:cNvGrpSpPr/>
          <p:nvPr/>
        </p:nvGrpSpPr>
        <p:grpSpPr>
          <a:xfrm>
            <a:off x="6433553" y="189053"/>
            <a:ext cx="5237554" cy="1946605"/>
            <a:chOff x="3215192" y="4210843"/>
            <a:chExt cx="5761309" cy="2141266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9F18A8B7-CA8E-43D5-A2A4-59EBA8FEB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15192" y="4210843"/>
              <a:ext cx="5761309" cy="2141266"/>
            </a:xfrm>
            <a:prstGeom prst="rect">
              <a:avLst/>
            </a:prstGeom>
          </p:spPr>
        </p:pic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B958993D-932D-4CAD-9733-44D12A713670}"/>
                </a:ext>
              </a:extLst>
            </p:cNvPr>
            <p:cNvSpPr/>
            <p:nvPr/>
          </p:nvSpPr>
          <p:spPr>
            <a:xfrm>
              <a:off x="6602984" y="4381718"/>
              <a:ext cx="597119" cy="1743753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55269EF8-018B-4397-9A03-586D39EBE807}"/>
                </a:ext>
              </a:extLst>
            </p:cNvPr>
            <p:cNvSpPr/>
            <p:nvPr/>
          </p:nvSpPr>
          <p:spPr>
            <a:xfrm>
              <a:off x="7352503" y="4381718"/>
              <a:ext cx="760983" cy="1743753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src_caption"/>
          <p:cNvSpPr txBox="1"/>
          <p:nvPr/>
        </p:nvSpPr>
        <p:spPr>
          <a:xfrm>
            <a:off x="6062472" y="6428232"/>
            <a:ext cx="54864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85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그림 출처: Jiao et al., MediQ-GAN, arXiv:2506.21015 (CC BY 4.0)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t>02 · MEDIQ-GAN 논문 · 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9084"/>
            <a:ext cx="10911535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VQC</a:t>
            </a:r>
            <a:r>
              <a:rPr lang="ko-KR" alt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altLang="ko-KR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·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VQA·QAOA와의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관계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45446"/>
            <a:ext cx="10911535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같은 </a:t>
            </a:r>
            <a:r>
              <a:rPr lang="en-US" altLang="ko-KR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파라미터화된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회로 + 고전 최적화</a:t>
            </a:r>
            <a:r>
              <a:rPr lang="en-US" altLang="ko-KR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구조 공유, 인코딩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대상과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목적은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상이</a:t>
            </a:r>
            <a:endParaRPr sz="13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52B41455-1BDF-4C31-AA4B-A1A1E5E3C001}"/>
              </a:ext>
            </a:extLst>
          </p:cNvPr>
          <p:cNvGrpSpPr/>
          <p:nvPr/>
        </p:nvGrpSpPr>
        <p:grpSpPr>
          <a:xfrm>
            <a:off x="640080" y="5247805"/>
            <a:ext cx="10911535" cy="1050000"/>
            <a:chOff x="640080" y="5733120"/>
            <a:chExt cx="10911535" cy="1050000"/>
          </a:xfrm>
        </p:grpSpPr>
        <p:sp>
          <p:nvSpPr>
            <p:cNvPr id="17" name="Rounded Rectangle 16"/>
            <p:cNvSpPr/>
            <p:nvPr/>
          </p:nvSpPr>
          <p:spPr>
            <a:xfrm>
              <a:off x="640080" y="5733120"/>
              <a:ext cx="10911535" cy="1050000"/>
            </a:xfrm>
            <a:prstGeom prst="roundRect">
              <a:avLst/>
            </a:prstGeom>
            <a:solidFill>
              <a:srgbClr val="EDE7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14400" y="5870280"/>
              <a:ext cx="10362895" cy="274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050" b="1" i="0">
                  <a:solidFill>
                    <a:srgbClr val="5B3E8C"/>
                  </a:solidFill>
                  <a:latin typeface="Noto Sans KR"/>
                  <a:ea typeface="Noto Sans KR"/>
                  <a:cs typeface="Noto Sans KR"/>
                </a:rPr>
                <a:t>공통점 vs 차이점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14400" y="6164447"/>
              <a:ext cx="10362895" cy="4616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171450" indent="-171450" algn="l">
                <a:buFontTx/>
                <a:buChar char="-"/>
              </a:pPr>
              <a:r>
                <a:rPr sz="1200" b="0" i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공통점</a:t>
              </a:r>
              <a:r>
                <a:rPr sz="1200" b="0" i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: </a:t>
              </a:r>
              <a:r>
                <a:rPr sz="1200" b="0" i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파라미터화된</a:t>
              </a:r>
              <a:r>
                <a:rPr sz="1200" b="0" i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회로 → 측정 → 고전 </a:t>
              </a:r>
              <a:r>
                <a:rPr sz="1200" b="0" i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optimizer가</a:t>
              </a:r>
              <a:r>
                <a:rPr sz="1200" b="0" i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파라미터 </a:t>
              </a:r>
              <a:r>
                <a:rPr sz="1200" b="0" i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업데이트</a:t>
              </a:r>
              <a:r>
                <a:rPr sz="1200" b="0" i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(hybrid loop)</a:t>
              </a:r>
              <a:endParaRPr lang="en-US"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endParaRPr>
            </a:p>
            <a:p>
              <a:pPr marL="171450" indent="-171450" algn="l">
                <a:buFontTx/>
                <a:buChar char="-"/>
              </a:pPr>
              <a:r>
                <a:rPr sz="1200" b="0" i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차이점</a:t>
              </a:r>
              <a:r>
                <a:rPr sz="1200" b="0" i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: 인코딩 대상(데이터 vs 문제)과 학습 목표</a:t>
              </a:r>
            </a:p>
          </p:txBody>
        </p:sp>
      </p:grp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2B7369B8-CDF0-433E-AF9E-F57FD482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4C08528-3A1E-4D58-8DFF-39B30F290BC0}"/>
              </a:ext>
            </a:extLst>
          </p:cNvPr>
          <p:cNvGrpSpPr/>
          <p:nvPr/>
        </p:nvGrpSpPr>
        <p:grpSpPr>
          <a:xfrm>
            <a:off x="640080" y="1939062"/>
            <a:ext cx="10881360" cy="3250199"/>
            <a:chOff x="640080" y="2103120"/>
            <a:chExt cx="10881360" cy="3575219"/>
          </a:xfrm>
        </p:grpSpPr>
        <p:sp>
          <p:nvSpPr>
            <p:cNvPr id="5" name="Rectangle 4"/>
            <p:cNvSpPr/>
            <p:nvPr/>
          </p:nvSpPr>
          <p:spPr>
            <a:xfrm>
              <a:off x="640080" y="2103120"/>
              <a:ext cx="10881360" cy="530000"/>
            </a:xfrm>
            <a:prstGeom prst="rect">
              <a:avLst/>
            </a:prstGeom>
            <a:solidFill>
              <a:srgbClr val="1E393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77240" y="2130551"/>
              <a:ext cx="2240280" cy="47513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5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</a:rPr>
                <a:t>개념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291840" y="2130551"/>
              <a:ext cx="7635240" cy="47513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5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</a:rPr>
                <a:t>정의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40080" y="2633120"/>
              <a:ext cx="10881360" cy="90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7240" y="2867676"/>
              <a:ext cx="2240280" cy="430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VQA</a:t>
              </a:r>
              <a:r>
                <a:rPr lang="en-US"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(Variational</a:t>
              </a:r>
            </a:p>
            <a:p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Quantum Algorithm)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291840" y="2952315"/>
              <a:ext cx="7635240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파라미터화된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양자회로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+ 고전 최적화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루프를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사용하는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알고리즘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상위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범주</a:t>
              </a:r>
              <a:endPara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0080" y="3533120"/>
              <a:ext cx="10881360" cy="1000000"/>
            </a:xfrm>
            <a:prstGeom prst="rect">
              <a:avLst/>
            </a:prstGeom>
            <a:solidFill>
              <a:srgbClr val="EDEB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77240" y="3817676"/>
              <a:ext cx="2240280" cy="430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VQC</a:t>
              </a:r>
              <a:r>
                <a:rPr lang="en-US"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(Variational Quantum</a:t>
              </a:r>
            </a:p>
            <a:p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Classifier/Circuit)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91840" y="3902315"/>
              <a:ext cx="7635240" cy="2616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분류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등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지도학습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목적의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구체적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구현 - 데이터 인코딩 + 학습 가능한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ansatz로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구성 (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MediQ-GAN의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양자 </a:t>
              </a:r>
              <a:r>
                <a:rPr lang="ko-KR" altLang="en-US"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아키텍처 방식</a:t>
              </a:r>
              <a:r>
                <a:rPr lang="en-US" altLang="ko-KR"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)</a:t>
              </a:r>
              <a:endPara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40080" y="4533120"/>
              <a:ext cx="10881360" cy="100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77240" y="4817675"/>
              <a:ext cx="2240280" cy="430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QAOA</a:t>
              </a:r>
              <a:r>
                <a:rPr lang="en-US"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(Quantum</a:t>
              </a:r>
              <a:r>
                <a:rPr lang="en-US"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Approximate</a:t>
              </a:r>
            </a:p>
            <a:p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Optimization</a:t>
              </a:r>
              <a:r>
                <a:rPr lang="en-US"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1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Algorithm)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91840" y="4796131"/>
              <a:ext cx="7635240" cy="47397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조합최적화 문제(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MaxCut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등)</a:t>
              </a:r>
              <a:r>
                <a:rPr lang="en-US"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lang="ko-KR" altLang="en-US"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등 목적</a:t>
              </a:r>
              <a:endParaRPr lang="en-US" altLang="ko-KR"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endParaRPr>
            </a:p>
            <a:p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- cost layer(γ)와 mixer layer(β)를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번갈아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lang="ko-KR" altLang="en-US"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적용</a:t>
              </a:r>
              <a:endPara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sp>
        <p:nvSpPr>
          <p:cNvPr id="23" name="qaoa_1"/>
          <p:cNvSpPr/>
          <p:nvPr/>
        </p:nvSpPr>
        <p:spPr>
          <a:xfrm>
            <a:off x="7360920" y="4334256"/>
            <a:ext cx="2651760" cy="713232"/>
          </a:xfrm>
          <a:prstGeom prst="roundRect">
            <a:avLst/>
          </a:prstGeom>
          <a:solidFill>
            <a:srgbClr val="ED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qaoa_2"/>
          <p:cNvSpPr/>
          <p:nvPr/>
        </p:nvSpPr>
        <p:spPr>
          <a:xfrm>
            <a:off x="10049256" y="4626864"/>
            <a:ext cx="329184" cy="1188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800" b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× p</a:t>
            </a:r>
          </a:p>
        </p:txBody>
      </p:sp>
      <p:sp>
        <p:nvSpPr>
          <p:cNvPr id="25" name="qaoa_3"/>
          <p:cNvSpPr/>
          <p:nvPr/>
        </p:nvSpPr>
        <p:spPr>
          <a:xfrm>
            <a:off x="6629400" y="4361688"/>
            <a:ext cx="228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q0</a:t>
            </a:r>
          </a:p>
        </p:txBody>
      </p:sp>
      <p:sp>
        <p:nvSpPr>
          <p:cNvPr id="26" name="qaoa_4"/>
          <p:cNvSpPr/>
          <p:nvPr/>
        </p:nvSpPr>
        <p:spPr>
          <a:xfrm>
            <a:off x="6903720" y="4420210"/>
            <a:ext cx="4434840" cy="10973"/>
          </a:xfrm>
          <a:prstGeom prst="rect">
            <a:avLst/>
          </a:prstGeom>
          <a:solidFill>
            <a:srgbClr val="A8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qaoa_5"/>
          <p:cNvSpPr/>
          <p:nvPr/>
        </p:nvSpPr>
        <p:spPr>
          <a:xfrm>
            <a:off x="6629400" y="4535424"/>
            <a:ext cx="228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q1</a:t>
            </a:r>
          </a:p>
        </p:txBody>
      </p:sp>
      <p:sp>
        <p:nvSpPr>
          <p:cNvPr id="28" name="qaoa_6"/>
          <p:cNvSpPr/>
          <p:nvPr/>
        </p:nvSpPr>
        <p:spPr>
          <a:xfrm>
            <a:off x="6903720" y="4593946"/>
            <a:ext cx="4434840" cy="10973"/>
          </a:xfrm>
          <a:prstGeom prst="rect">
            <a:avLst/>
          </a:prstGeom>
          <a:solidFill>
            <a:srgbClr val="A8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qaoa_7"/>
          <p:cNvSpPr/>
          <p:nvPr/>
        </p:nvSpPr>
        <p:spPr>
          <a:xfrm>
            <a:off x="6629400" y="4709160"/>
            <a:ext cx="228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q2</a:t>
            </a:r>
          </a:p>
        </p:txBody>
      </p:sp>
      <p:sp>
        <p:nvSpPr>
          <p:cNvPr id="30" name="qaoa_8"/>
          <p:cNvSpPr/>
          <p:nvPr/>
        </p:nvSpPr>
        <p:spPr>
          <a:xfrm>
            <a:off x="6903720" y="4767682"/>
            <a:ext cx="4434840" cy="10973"/>
          </a:xfrm>
          <a:prstGeom prst="rect">
            <a:avLst/>
          </a:prstGeom>
          <a:solidFill>
            <a:srgbClr val="A8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31" name="qaoa_9"/>
          <p:cNvSpPr/>
          <p:nvPr/>
        </p:nvSpPr>
        <p:spPr>
          <a:xfrm>
            <a:off x="6629400" y="4882896"/>
            <a:ext cx="228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q3</a:t>
            </a:r>
          </a:p>
        </p:txBody>
      </p:sp>
      <p:sp>
        <p:nvSpPr>
          <p:cNvPr id="32" name="qaoa_10"/>
          <p:cNvSpPr/>
          <p:nvPr/>
        </p:nvSpPr>
        <p:spPr>
          <a:xfrm>
            <a:off x="6903720" y="4941418"/>
            <a:ext cx="4434840" cy="10973"/>
          </a:xfrm>
          <a:prstGeom prst="rect">
            <a:avLst/>
          </a:prstGeom>
          <a:solidFill>
            <a:srgbClr val="A8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qaoa_11"/>
          <p:cNvSpPr/>
          <p:nvPr/>
        </p:nvSpPr>
        <p:spPr>
          <a:xfrm>
            <a:off x="6903720" y="4206240"/>
            <a:ext cx="411480" cy="1188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초기화</a:t>
            </a:r>
          </a:p>
        </p:txBody>
      </p:sp>
      <p:sp>
        <p:nvSpPr>
          <p:cNvPr id="34" name="qaoa_12"/>
          <p:cNvSpPr/>
          <p:nvPr/>
        </p:nvSpPr>
        <p:spPr>
          <a:xfrm>
            <a:off x="7406640" y="4206240"/>
            <a:ext cx="1737360" cy="1188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비용 층(γ) - 간선마다 ZZ 상호작용</a:t>
            </a:r>
          </a:p>
        </p:txBody>
      </p:sp>
      <p:sp>
        <p:nvSpPr>
          <p:cNvPr id="35" name="qaoa_13"/>
          <p:cNvSpPr/>
          <p:nvPr/>
        </p:nvSpPr>
        <p:spPr>
          <a:xfrm>
            <a:off x="9052560" y="4206240"/>
            <a:ext cx="566928" cy="1188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1E3932"/>
                </a:solidFill>
                <a:latin typeface="Noto Sans KR"/>
                <a:ea typeface="Noto Sans KR"/>
                <a:cs typeface="Noto Sans KR"/>
              </a:rPr>
              <a:t>믹서 층(β)</a:t>
            </a:r>
          </a:p>
        </p:txBody>
      </p:sp>
      <p:sp>
        <p:nvSpPr>
          <p:cNvPr id="36" name="qaoa_14"/>
          <p:cNvSpPr/>
          <p:nvPr/>
        </p:nvSpPr>
        <p:spPr>
          <a:xfrm>
            <a:off x="10378440" y="4206240"/>
            <a:ext cx="502920" cy="1188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측정</a:t>
            </a:r>
          </a:p>
        </p:txBody>
      </p:sp>
      <p:sp>
        <p:nvSpPr>
          <p:cNvPr id="37" name="qaoa_15"/>
          <p:cNvSpPr/>
          <p:nvPr/>
        </p:nvSpPr>
        <p:spPr>
          <a:xfrm>
            <a:off x="7004304" y="4357116"/>
            <a:ext cx="201168" cy="137160"/>
          </a:xfrm>
          <a:prstGeom prst="roundRect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38" name="qaoa_16"/>
          <p:cNvSpPr/>
          <p:nvPr/>
        </p:nvSpPr>
        <p:spPr>
          <a:xfrm>
            <a:off x="7004304" y="4530852"/>
            <a:ext cx="201168" cy="137160"/>
          </a:xfrm>
          <a:prstGeom prst="roundRect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39" name="qaoa_17"/>
          <p:cNvSpPr/>
          <p:nvPr/>
        </p:nvSpPr>
        <p:spPr>
          <a:xfrm>
            <a:off x="7004304" y="4704588"/>
            <a:ext cx="201168" cy="137160"/>
          </a:xfrm>
          <a:prstGeom prst="roundRect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40" name="qaoa_18"/>
          <p:cNvSpPr/>
          <p:nvPr/>
        </p:nvSpPr>
        <p:spPr>
          <a:xfrm>
            <a:off x="7004304" y="4878324"/>
            <a:ext cx="201168" cy="137160"/>
          </a:xfrm>
          <a:prstGeom prst="roundRect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H</a:t>
            </a:r>
          </a:p>
        </p:txBody>
      </p:sp>
      <p:sp>
        <p:nvSpPr>
          <p:cNvPr id="41" name="qaoa_19"/>
          <p:cNvSpPr/>
          <p:nvPr/>
        </p:nvSpPr>
        <p:spPr>
          <a:xfrm>
            <a:off x="7629754" y="4425696"/>
            <a:ext cx="10973" cy="173736"/>
          </a:xfrm>
          <a:prstGeom prst="rect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2" name="qaoa_20"/>
          <p:cNvSpPr/>
          <p:nvPr/>
        </p:nvSpPr>
        <p:spPr>
          <a:xfrm>
            <a:off x="7600950" y="4391406"/>
            <a:ext cx="68580" cy="68580"/>
          </a:xfrm>
          <a:prstGeom prst="ellipse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3" name="qaoa_21"/>
          <p:cNvSpPr/>
          <p:nvPr/>
        </p:nvSpPr>
        <p:spPr>
          <a:xfrm>
            <a:off x="7600950" y="4565142"/>
            <a:ext cx="68580" cy="68580"/>
          </a:xfrm>
          <a:prstGeom prst="ellipse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qaoa_22"/>
          <p:cNvSpPr/>
          <p:nvPr/>
        </p:nvSpPr>
        <p:spPr>
          <a:xfrm>
            <a:off x="7680960" y="4457700"/>
            <a:ext cx="182880" cy="109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650" b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γ</a:t>
            </a:r>
          </a:p>
        </p:txBody>
      </p:sp>
      <p:sp>
        <p:nvSpPr>
          <p:cNvPr id="45" name="qaoa_23"/>
          <p:cNvSpPr/>
          <p:nvPr/>
        </p:nvSpPr>
        <p:spPr>
          <a:xfrm>
            <a:off x="7629754" y="4773168"/>
            <a:ext cx="10973" cy="173736"/>
          </a:xfrm>
          <a:prstGeom prst="rect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6" name="qaoa_24"/>
          <p:cNvSpPr/>
          <p:nvPr/>
        </p:nvSpPr>
        <p:spPr>
          <a:xfrm>
            <a:off x="7600950" y="4738878"/>
            <a:ext cx="68580" cy="68580"/>
          </a:xfrm>
          <a:prstGeom prst="ellipse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7" name="qaoa_25"/>
          <p:cNvSpPr/>
          <p:nvPr/>
        </p:nvSpPr>
        <p:spPr>
          <a:xfrm>
            <a:off x="7600950" y="4912614"/>
            <a:ext cx="68580" cy="68580"/>
          </a:xfrm>
          <a:prstGeom prst="ellipse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48" name="qaoa_26"/>
          <p:cNvSpPr/>
          <p:nvPr/>
        </p:nvSpPr>
        <p:spPr>
          <a:xfrm>
            <a:off x="7680960" y="4805172"/>
            <a:ext cx="182880" cy="109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650" b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γ</a:t>
            </a:r>
          </a:p>
        </p:txBody>
      </p:sp>
      <p:sp>
        <p:nvSpPr>
          <p:cNvPr id="49" name="qaoa_27"/>
          <p:cNvSpPr/>
          <p:nvPr/>
        </p:nvSpPr>
        <p:spPr>
          <a:xfrm>
            <a:off x="8178394" y="4599432"/>
            <a:ext cx="10973" cy="173736"/>
          </a:xfrm>
          <a:prstGeom prst="rect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50" name="qaoa_28"/>
          <p:cNvSpPr/>
          <p:nvPr/>
        </p:nvSpPr>
        <p:spPr>
          <a:xfrm>
            <a:off x="8149590" y="4565142"/>
            <a:ext cx="68580" cy="68580"/>
          </a:xfrm>
          <a:prstGeom prst="ellipse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51" name="qaoa_29"/>
          <p:cNvSpPr/>
          <p:nvPr/>
        </p:nvSpPr>
        <p:spPr>
          <a:xfrm>
            <a:off x="8149590" y="4738878"/>
            <a:ext cx="68580" cy="68580"/>
          </a:xfrm>
          <a:prstGeom prst="ellipse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52" name="qaoa_30"/>
          <p:cNvSpPr/>
          <p:nvPr/>
        </p:nvSpPr>
        <p:spPr>
          <a:xfrm>
            <a:off x="8229600" y="4631436"/>
            <a:ext cx="182880" cy="109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650" b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γ</a:t>
            </a:r>
          </a:p>
        </p:txBody>
      </p:sp>
      <p:sp>
        <p:nvSpPr>
          <p:cNvPr id="53" name="qaoa_31"/>
          <p:cNvSpPr/>
          <p:nvPr/>
        </p:nvSpPr>
        <p:spPr>
          <a:xfrm>
            <a:off x="8727034" y="4425696"/>
            <a:ext cx="10973" cy="521208"/>
          </a:xfrm>
          <a:prstGeom prst="rect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54" name="qaoa_32"/>
          <p:cNvSpPr/>
          <p:nvPr/>
        </p:nvSpPr>
        <p:spPr>
          <a:xfrm>
            <a:off x="8698230" y="4391406"/>
            <a:ext cx="68580" cy="68580"/>
          </a:xfrm>
          <a:prstGeom prst="ellipse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55" name="qaoa_33"/>
          <p:cNvSpPr/>
          <p:nvPr/>
        </p:nvSpPr>
        <p:spPr>
          <a:xfrm>
            <a:off x="8698230" y="4912614"/>
            <a:ext cx="68580" cy="68580"/>
          </a:xfrm>
          <a:prstGeom prst="ellipse">
            <a:avLst/>
          </a:prstGeom>
          <a:solidFill>
            <a:srgbClr val="5B3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56" name="qaoa_34"/>
          <p:cNvSpPr/>
          <p:nvPr/>
        </p:nvSpPr>
        <p:spPr>
          <a:xfrm>
            <a:off x="8778240" y="4631436"/>
            <a:ext cx="182880" cy="1097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l"/>
            <a:r>
              <a:rPr sz="650" b="1">
                <a:solidFill>
                  <a:srgbClr val="5B3E8C"/>
                </a:solidFill>
                <a:latin typeface="Noto Sans KR"/>
                <a:ea typeface="Noto Sans KR"/>
                <a:cs typeface="Noto Sans KR"/>
              </a:rPr>
              <a:t>γ</a:t>
            </a:r>
          </a:p>
        </p:txBody>
      </p:sp>
      <p:sp>
        <p:nvSpPr>
          <p:cNvPr id="57" name="qaoa_35"/>
          <p:cNvSpPr/>
          <p:nvPr/>
        </p:nvSpPr>
        <p:spPr>
          <a:xfrm>
            <a:off x="9235440" y="4357116"/>
            <a:ext cx="475488" cy="137160"/>
          </a:xfrm>
          <a:prstGeom prst="round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Rx(2β)</a:t>
            </a:r>
          </a:p>
        </p:txBody>
      </p:sp>
      <p:sp>
        <p:nvSpPr>
          <p:cNvPr id="58" name="qaoa_36"/>
          <p:cNvSpPr/>
          <p:nvPr/>
        </p:nvSpPr>
        <p:spPr>
          <a:xfrm>
            <a:off x="9235440" y="4530852"/>
            <a:ext cx="475488" cy="137160"/>
          </a:xfrm>
          <a:prstGeom prst="round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Rx(2β)</a:t>
            </a:r>
          </a:p>
        </p:txBody>
      </p:sp>
      <p:sp>
        <p:nvSpPr>
          <p:cNvPr id="59" name="qaoa_37"/>
          <p:cNvSpPr/>
          <p:nvPr/>
        </p:nvSpPr>
        <p:spPr>
          <a:xfrm>
            <a:off x="9235440" y="4704588"/>
            <a:ext cx="475488" cy="137160"/>
          </a:xfrm>
          <a:prstGeom prst="round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Rx(2β)</a:t>
            </a:r>
          </a:p>
        </p:txBody>
      </p:sp>
      <p:sp>
        <p:nvSpPr>
          <p:cNvPr id="60" name="qaoa_38"/>
          <p:cNvSpPr/>
          <p:nvPr/>
        </p:nvSpPr>
        <p:spPr>
          <a:xfrm>
            <a:off x="9235440" y="4878324"/>
            <a:ext cx="475488" cy="137160"/>
          </a:xfrm>
          <a:prstGeom prst="round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Rx(2β)</a:t>
            </a:r>
          </a:p>
        </p:txBody>
      </p:sp>
      <p:sp>
        <p:nvSpPr>
          <p:cNvPr id="61" name="qaoa_39"/>
          <p:cNvSpPr/>
          <p:nvPr/>
        </p:nvSpPr>
        <p:spPr>
          <a:xfrm>
            <a:off x="10469880" y="4357116"/>
            <a:ext cx="310896" cy="137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M</a:t>
            </a:r>
          </a:p>
        </p:txBody>
      </p:sp>
      <p:sp>
        <p:nvSpPr>
          <p:cNvPr id="62" name="qaoa_40"/>
          <p:cNvSpPr/>
          <p:nvPr/>
        </p:nvSpPr>
        <p:spPr>
          <a:xfrm>
            <a:off x="10469880" y="4530852"/>
            <a:ext cx="310896" cy="137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M</a:t>
            </a:r>
          </a:p>
        </p:txBody>
      </p:sp>
      <p:sp>
        <p:nvSpPr>
          <p:cNvPr id="63" name="qaoa_41"/>
          <p:cNvSpPr/>
          <p:nvPr/>
        </p:nvSpPr>
        <p:spPr>
          <a:xfrm>
            <a:off x="10469880" y="4704588"/>
            <a:ext cx="310896" cy="137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M</a:t>
            </a:r>
          </a:p>
        </p:txBody>
      </p:sp>
      <p:sp>
        <p:nvSpPr>
          <p:cNvPr id="64" name="qaoa_42"/>
          <p:cNvSpPr/>
          <p:nvPr/>
        </p:nvSpPr>
        <p:spPr>
          <a:xfrm>
            <a:off x="10469880" y="4878324"/>
            <a:ext cx="310896" cy="137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5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rPr dirty="0"/>
              <a:t>02 · MEDIQ-GAN </a:t>
            </a:r>
            <a:r>
              <a:rPr dirty="0" err="1"/>
              <a:t>논문</a:t>
            </a:r>
            <a:r>
              <a:rPr dirty="0"/>
              <a:t> · 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회로 안의 두 종류 파라미터 - 인코딩 vs 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데이터를 넣는 게이트와 학습으로 값이 바뀌는 게이트, 역할 차이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69EA3F1-AE92-46D7-A153-76A5EAF7F09C}"/>
              </a:ext>
            </a:extLst>
          </p:cNvPr>
          <p:cNvGrpSpPr/>
          <p:nvPr/>
        </p:nvGrpSpPr>
        <p:grpSpPr>
          <a:xfrm>
            <a:off x="640081" y="2103120"/>
            <a:ext cx="5455920" cy="2594296"/>
            <a:chOff x="640080" y="2103120"/>
            <a:chExt cx="6769463" cy="2594296"/>
          </a:xfrm>
        </p:grpSpPr>
        <p:sp>
          <p:nvSpPr>
            <p:cNvPr id="5" name="Rectangle 4"/>
            <p:cNvSpPr/>
            <p:nvPr/>
          </p:nvSpPr>
          <p:spPr>
            <a:xfrm>
              <a:off x="640080" y="2103120"/>
              <a:ext cx="6750743" cy="479405"/>
            </a:xfrm>
            <a:prstGeom prst="rect">
              <a:avLst/>
            </a:prstGeom>
            <a:solidFill>
              <a:srgbClr val="1E393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25173" y="2127932"/>
              <a:ext cx="1389859" cy="4297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5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</a:rPr>
                <a:t>구분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85219" y="2127932"/>
              <a:ext cx="4736866" cy="42978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50" b="1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</a:rPr>
                <a:t>위치 / 값의 성격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40080" y="2582525"/>
              <a:ext cx="6750743" cy="6784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25173" y="2607337"/>
              <a:ext cx="1389859" cy="62877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인코딩 파라미터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285219" y="2706282"/>
              <a:ext cx="4736866" cy="430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회로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앞단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, 데이터 인코딩 게이트 -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입력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데이터 x </a:t>
              </a:r>
              <a:endParaRPr lang="en-US"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endParaRPr>
            </a:p>
            <a:p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(대부분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고정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, 학습 대상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아님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)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0080" y="3260928"/>
              <a:ext cx="6750743" cy="814084"/>
            </a:xfrm>
            <a:prstGeom prst="rect">
              <a:avLst/>
            </a:prstGeom>
            <a:solidFill>
              <a:srgbClr val="EDEB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25173" y="3285740"/>
              <a:ext cx="1389859" cy="76445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학습 파라미터 θ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85219" y="3452525"/>
              <a:ext cx="4736866" cy="430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인코딩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이후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variational ansatz -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회전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게이트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각도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, CNO</a:t>
              </a:r>
              <a:r>
                <a:rPr lang="en-US"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T, 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entangling 게이트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사이사이에</a:t>
              </a:r>
              <a:r>
                <a:rPr sz="1100" b="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위치,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학습으로</a:t>
              </a:r>
              <a:r>
                <a:rPr lang="en-US" sz="1100" dirty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0" dirty="0" err="1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업데이트됨</a:t>
              </a:r>
              <a:endPara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40080" y="4266529"/>
              <a:ext cx="6769463" cy="43088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100" b="0" i="0" dirty="0" err="1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레이어</a:t>
              </a:r>
              <a:r>
                <a:rPr sz="1100" b="0" i="0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 = </a:t>
              </a:r>
              <a:r>
                <a:rPr sz="1100" b="0" i="0" dirty="0" err="1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회전게이트</a:t>
              </a:r>
              <a:r>
                <a:rPr sz="1100" b="0" i="0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(θ, 파라미터 O) + CNOT </a:t>
              </a:r>
              <a:r>
                <a:rPr sz="1100" b="0" i="0" dirty="0" err="1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체인</a:t>
              </a:r>
              <a:r>
                <a:rPr sz="1100" b="0" i="0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(파라미터 X, </a:t>
              </a:r>
              <a:r>
                <a:rPr sz="1100" b="0" i="0" dirty="0" err="1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얽힘</a:t>
              </a:r>
              <a:r>
                <a:rPr sz="1100" b="0" i="0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 </a:t>
              </a:r>
              <a:r>
                <a:rPr sz="1100" b="0" i="0" dirty="0" err="1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담당</a:t>
              </a:r>
              <a:r>
                <a:rPr sz="1100" b="0" i="0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) </a:t>
              </a:r>
              <a:endParaRPr lang="en-US" sz="11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endParaRPr>
            </a:p>
            <a:p>
              <a:pPr algn="l"/>
              <a:r>
                <a:rPr lang="en-US" sz="1100" b="0" i="0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16</a:t>
              </a:r>
              <a:r>
                <a:rPr lang="ko-KR" altLang="en-US" sz="1100" b="0" i="0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큐빗 × </a:t>
              </a:r>
              <a:r>
                <a:rPr sz="1100" b="0" i="0" dirty="0" err="1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8층</a:t>
              </a:r>
              <a:r>
                <a:rPr sz="1100" b="0" i="0" dirty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 → Sub Generator당 파라미터 128개 (5개 합계 640개)</a:t>
              </a:r>
            </a:p>
          </p:txBody>
        </p:sp>
      </p:grp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96B42643-6771-4676-92E6-FD4DECFB3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F1440AA-2CE1-463F-AE4C-498786800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9495" y="2103120"/>
            <a:ext cx="5626679" cy="2991770"/>
          </a:xfrm>
          <a:prstGeom prst="rect">
            <a:avLst/>
          </a:prstGeom>
        </p:spPr>
      </p:pic>
      <p:sp>
        <p:nvSpPr>
          <p:cNvPr id="21" name="src_caption"/>
          <p:cNvSpPr txBox="1"/>
          <p:nvPr/>
        </p:nvSpPr>
        <p:spPr>
          <a:xfrm>
            <a:off x="6062472" y="6428232"/>
            <a:ext cx="54864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85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그림 출처: Jiao et al., MediQ-GAN, arXiv:2506.21015 (CC BY 4.0)</a:t>
            </a:r>
          </a:p>
        </p:txBody>
      </p:sp>
      <p:sp>
        <p:nvSpPr>
          <p:cNvPr id="14" name="code_note"/>
          <p:cNvSpPr txBox="1"/>
          <p:nvPr/>
        </p:nvSpPr>
        <p:spPr>
          <a:xfrm>
            <a:off x="640080" y="6428232"/>
            <a:ext cx="50292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85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※ 그림은 논문 기준(Rx→Ry·CNOT), 공식 코드는 RY→RX·CZ - 3일차 데모는 코드 기준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t>02 · MEDIQ-GAN 논문 · 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VQC의 출력값 - bitstring이 아니라 연속값(기댓값)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단일 측정은 0/1, 모델이 실제로 쓰는 값은 여러 번 측정을 평균낸 기댓값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911535" cy="85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335759"/>
            <a:ext cx="10911535" cy="3847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m(z; Θ) = (⟨X₁⟩, ..., ⟨X</a:t>
            </a:r>
            <a:r>
              <a:rPr sz="1900" b="1" baseline="-2500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N</a:t>
            </a:r>
            <a:r>
              <a:rPr sz="19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⟩)  ∈  [-1, 1]</a:t>
            </a:r>
            <a:r>
              <a:rPr sz="1900" b="1" baseline="3000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153120"/>
            <a:ext cx="10881360" cy="53000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3180551"/>
            <a:ext cx="2240280" cy="47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180551"/>
            <a:ext cx="7635240" cy="47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내용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683120"/>
            <a:ext cx="10881360" cy="6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710551"/>
            <a:ext cx="2240280" cy="5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단일 shot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710551"/>
            <a:ext cx="7635240" cy="5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이산적 0/1 bitstring - 확률적 결과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333120"/>
            <a:ext cx="10881360" cy="90000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360551"/>
            <a:ext cx="2240280" cy="8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실제 모델 출력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360551"/>
            <a:ext cx="7635240" cy="8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⟨Xᵢ⟩ 연속값(continuous) - classical decoder에 바로 투입 가능, gradient 계산도 가능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233120"/>
            <a:ext cx="10881360" cy="7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260551"/>
            <a:ext cx="2240280" cy="6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수치 안정화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260551"/>
            <a:ext cx="7635240" cy="6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h(m) = σ(LeakyReLU(LayerNorm(m))) 적용 후 classical stream과 fusion</a:t>
            </a: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C7277908-B472-4E01-BC96-DECF0C8EB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t>02 · MEDIQ-GAN 논문 · 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1153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실제 채택 방식 - Exact State Vector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45446"/>
            <a:ext cx="10911535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논문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코드(mediq-gan.py) 결과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10911535" cy="135000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10454335" cy="1075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DDF2E6"/>
                </a:solidFill>
                <a:latin typeface="Noto Sans KR"/>
                <a:ea typeface="Noto Sans KR"/>
                <a:cs typeface="Noto Sans KR"/>
              </a:rPr>
              <a:t>dev = qml.device("lightning.qubit", wires=args.n_qubits)</a:t>
            </a:r>
          </a:p>
          <a:p>
            <a:pPr algn="l"/>
            <a:r>
              <a:rPr sz="1200" b="0">
                <a:solidFill>
                  <a:srgbClr val="DDF2E6"/>
                </a:solidFill>
                <a:latin typeface="Noto Sans KR"/>
                <a:ea typeface="Noto Sans KR"/>
                <a:cs typeface="Noto Sans KR"/>
              </a:rPr>
              <a:t>@qml.qnode(dev, interface="torch", diff_method="adjoint")</a:t>
            </a:r>
          </a:p>
          <a:p>
            <a:pPr algn="l"/>
            <a:r>
              <a:rPr sz="1200" b="0">
                <a:solidFill>
                  <a:srgbClr val="DDF2E6"/>
                </a:solidFill>
                <a:latin typeface="Noto Sans KR"/>
                <a:ea typeface="Noto Sans KR"/>
                <a:cs typeface="Noto Sans KR"/>
              </a:rPr>
              <a:t>def circuit(...):</a:t>
            </a:r>
          </a:p>
          <a:p>
            <a:pPr algn="l"/>
            <a:r>
              <a:rPr sz="1200" b="0">
                <a:solidFill>
                  <a:srgbClr val="DDF2E6"/>
                </a:solidFill>
                <a:latin typeface="Noto Sans KR"/>
                <a:ea typeface="Noto Sans KR"/>
                <a:cs typeface="Noto Sans KR"/>
              </a:rPr>
              <a:t>    ...</a:t>
            </a:r>
          </a:p>
          <a:p>
            <a:pPr algn="l"/>
            <a:r>
              <a:rPr sz="1200" b="0">
                <a:solidFill>
                  <a:srgbClr val="DDF2E6"/>
                </a:solidFill>
                <a:latin typeface="Noto Sans KR"/>
                <a:ea typeface="Noto Sans KR"/>
                <a:cs typeface="Noto Sans KR"/>
              </a:rPr>
              <a:t>    return [qml.expval(qml.PauliX(i)) for i in range(args.n_qubits)]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00000"/>
            <a:ext cx="10881360" cy="50000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3627431"/>
            <a:ext cx="2240280" cy="4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627431"/>
            <a:ext cx="7635240" cy="4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내용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100000"/>
            <a:ext cx="10881360" cy="5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4127431"/>
            <a:ext cx="2240280" cy="4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shots 미지정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127431"/>
            <a:ext cx="7635240" cy="4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PennyLane 기본값 shots=None → 분석적(exact) 기댓값 계산, 반복 측정 없음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50000"/>
            <a:ext cx="10881360" cy="75000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677431"/>
            <a:ext cx="2240280" cy="6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diff_method="adjoint"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809556"/>
            <a:ext cx="763524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정확한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state vector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접근이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있어야만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가능한 gradient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계산법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110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-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데모도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공식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레포와</a:t>
            </a:r>
            <a:r>
              <a:rPr lang="en-US" sz="110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동일하게</a:t>
            </a:r>
            <a:r>
              <a:rPr lang="en-US"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adjoint 사용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00000"/>
            <a:ext cx="10881360" cy="7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427431"/>
            <a:ext cx="2240280" cy="6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state vector 규모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559556"/>
            <a:ext cx="763524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n큐빗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= 2ⁿ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차원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복소벡터로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완전 표현(16qubit→65,536차원,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노트북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처리 가능) </a:t>
            </a:r>
            <a:endParaRPr lang="en-US" sz="110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- 게이트 적용=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유니터리</a:t>
            </a:r>
            <a:r>
              <a:rPr lang="en-US"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행렬곱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(확률적 요소</a:t>
            </a:r>
            <a:r>
              <a:rPr lang="en-US"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없음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)</a:t>
            </a: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73F6DD49-49FB-47CA-8754-081364824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t>02 · MEDIQ-GAN 논문 · 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9084"/>
            <a:ext cx="10911535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altLang="ko-KR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Hardware-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agnostic</a:t>
            </a:r>
            <a:r>
              <a:rPr lang="en-US" altLang="ko-KR"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'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의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정확한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의미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논문 원문 그대로 인용 시 오해하기 쉬운 표현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87008"/>
            <a:ext cx="10911535" cy="950000"/>
          </a:xfrm>
          <a:prstGeom prst="roundRect">
            <a:avLst/>
          </a:prstGeom>
          <a:solidFill>
            <a:srgbClr val="F2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24168"/>
            <a:ext cx="1036289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논문 원문 인용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68336"/>
            <a:ext cx="10362895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“Our approach is quantum-inspired and </a:t>
            </a:r>
            <a:r>
              <a:rPr sz="12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hardware-agnostic</a:t>
            </a: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: the correctness does not depend on quantum execution, and</a:t>
            </a:r>
          </a:p>
          <a:p>
            <a:pPr algn="l"/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quantum devices serve only to accelerate computation.”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137008"/>
            <a:ext cx="10881360" cy="50000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164439"/>
            <a:ext cx="2240280" cy="4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구분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164439"/>
            <a:ext cx="7635240" cy="4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내용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37008"/>
            <a:ext cx="10881360" cy="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664439"/>
            <a:ext cx="2240280" cy="4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오해 (X)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664439"/>
            <a:ext cx="7635240" cy="4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하드웨어를 아예 안 썼다는 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37008"/>
            <a:ext cx="10881360" cy="70000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164439"/>
            <a:ext cx="2240280" cy="6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정확한 뜻 (O)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164439"/>
            <a:ext cx="7635240" cy="6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모델의 타당성이 특정 실행 환경(시뮬레이터 vs 실제 큐빗)에 좌우되지 않도록 설계했다는 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837008"/>
            <a:ext cx="10881360" cy="5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864439"/>
            <a:ext cx="2240280" cy="4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학습(training)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956203"/>
            <a:ext cx="76352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state vector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시뮬레이터로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진행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337008"/>
            <a:ext cx="10881360" cy="70000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556203"/>
            <a:ext cx="224028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NISQ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5556203"/>
            <a:ext cx="763524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학습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완료된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회로를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IBM Marrakesh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실기에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올려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inference만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검증 (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노이즈로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성능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소폭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저하되었으나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비교 가능한</a:t>
            </a:r>
            <a:r>
              <a:rPr lang="en-US"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수준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)</a:t>
            </a:r>
          </a:p>
        </p:txBody>
      </p:sp>
      <p:sp>
        <p:nvSpPr>
          <p:cNvPr id="25" name="슬라이드 번호 개체 틀 24">
            <a:extLst>
              <a:ext uri="{FF2B5EF4-FFF2-40B4-BE49-F238E27FC236}">
                <a16:creationId xmlns:a16="http://schemas.microsoft.com/office/drawing/2014/main" id="{77D998D5-B17D-4375-8779-0FCE5712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t>02 · MEDIQ-GAN 논문 · 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9084"/>
            <a:ext cx="10911535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shot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기반으로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학습한다면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- Parameter-shift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45446"/>
            <a:ext cx="10911535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Exact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statevector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방식이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아니라</a:t>
            </a:r>
            <a:r>
              <a:rPr 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gradient를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구할</a:t>
            </a:r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때 쓰는 규칙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911535" cy="80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11535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∂⟨Xᵢ⟩/∂θⱼ = [⟨Xᵢ⟩(θⱼ+π/2) − ⟨Xᵢ⟩(θⱼ−π/2)]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72494"/>
            <a:ext cx="10881360" cy="50000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999925"/>
            <a:ext cx="2240280" cy="4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개념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999925"/>
            <a:ext cx="7635240" cy="4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설명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72494"/>
            <a:ext cx="10881360" cy="9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499925"/>
            <a:ext cx="2240280" cy="8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계산 방식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707050"/>
            <a:ext cx="763524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회로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내부를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역전파로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거슬러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올라가는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게 아니라, </a:t>
            </a:r>
            <a:endParaRPr lang="en-US" sz="110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θⱼ를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shift한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회로를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처음부터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끝까지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2번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새로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실행해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얻은</a:t>
            </a:r>
            <a:r>
              <a:rPr lang="en-US"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결과값의</a:t>
            </a:r>
            <a:r>
              <a:rPr sz="1100" b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단순 </a:t>
            </a:r>
            <a:r>
              <a:rPr sz="1100" b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뺄셈</a:t>
            </a:r>
            <a:endParaRPr sz="1100" b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" y="4372494"/>
            <a:ext cx="10881360" cy="75000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399925"/>
            <a:ext cx="2240280" cy="6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순전파(forward) 시점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399925"/>
            <a:ext cx="7635240" cy="6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shift된 회로는 전혀 실행되지 않음 - 원래 θ값으로 1번만 실행, 그 출력이 다음 classical 레이어로 전달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122494"/>
            <a:ext cx="10881360" cy="6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149925"/>
            <a:ext cx="2240280" cy="5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역전파(backward) 시점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149925"/>
            <a:ext cx="7635240" cy="59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+π/2, −π/2 두 회로가 파라미터 하나마다 개별적으로 실행됨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29751"/>
            <a:ext cx="1091153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전체 chain rule:  </a:t>
            </a:r>
            <a:r>
              <a:rPr sz="1150" b="1" i="0" dirty="0" err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dLoss</a:t>
            </a:r>
            <a:r>
              <a:rPr sz="1150" b="1" i="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sz="1150" b="1" i="0" dirty="0" err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dθ</a:t>
            </a:r>
            <a:r>
              <a:rPr sz="1150" b="1" i="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ⱼ = </a:t>
            </a:r>
            <a:r>
              <a:rPr sz="1150" b="1" i="0" dirty="0" err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dLoss</a:t>
            </a:r>
            <a:r>
              <a:rPr sz="1150" b="1" i="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sz="1150" b="1" i="0" dirty="0" err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d⟨X</a:t>
            </a:r>
            <a:r>
              <a:rPr sz="1150" b="1" i="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ᵢ⟩ (classical backprop)  ×  </a:t>
            </a:r>
            <a:r>
              <a:rPr sz="1150" b="1" i="0" dirty="0" err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d⟨X</a:t>
            </a:r>
            <a:r>
              <a:rPr sz="1150" b="1" i="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ᵢ⟩/</a:t>
            </a:r>
            <a:r>
              <a:rPr sz="1150" b="1" i="0" dirty="0" err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dθ</a:t>
            </a:r>
            <a:r>
              <a:rPr sz="1150" b="1" i="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ⱼ (parameter-shift, </a:t>
            </a:r>
            <a:r>
              <a:rPr sz="1150" b="1" i="0" dirty="0" err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뺄셈</a:t>
            </a:r>
            <a:r>
              <a:rPr sz="1150" b="1" i="0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 기반)</a:t>
            </a:r>
          </a:p>
        </p:txBody>
      </p: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933DCC47-9CF9-4E2E-8757-04A974793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t>02 · MEDIQ-GAN 논문 · 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89084"/>
            <a:ext cx="10911535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계산 비용 </a:t>
            </a:r>
            <a:r>
              <a:rPr lang="en-US" altLang="ko-KR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–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27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현재 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학습</a:t>
            </a:r>
            <a:r>
              <a:rPr lang="ko-KR" alt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의 어려움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파라미터 수만큼 회로를 반복 실행해야 하는 구조적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911535" cy="65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266537"/>
            <a:ext cx="10911535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총 회로 실행 </a:t>
            </a:r>
            <a:r>
              <a:rPr sz="1500" b="1" dirty="0" err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횟수</a:t>
            </a:r>
            <a:r>
              <a:rPr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 = 1</a:t>
            </a:r>
            <a:r>
              <a:rPr lang="en-US"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sz="1500" b="1" dirty="0" err="1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순전파</a:t>
            </a:r>
            <a:r>
              <a:rPr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) + 2P</a:t>
            </a:r>
            <a:r>
              <a:rPr lang="en-US"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(파라미터</a:t>
            </a:r>
            <a:r>
              <a:rPr lang="en-US"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별</a:t>
            </a:r>
            <a:r>
              <a:rPr sz="1500" b="1" dirty="0">
                <a:solidFill>
                  <a:srgbClr val="006241"/>
                </a:solidFill>
                <a:latin typeface="Noto Sans KR"/>
                <a:ea typeface="Noto Sans KR"/>
                <a:cs typeface="Noto Sans KR"/>
              </a:rPr>
              <a:t> +shift, −shift)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03120"/>
            <a:ext cx="10881360" cy="48000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930551"/>
            <a:ext cx="2240280" cy="42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파라미터 수 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930551"/>
            <a:ext cx="7635240" cy="42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회로 실행 횟수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83120"/>
            <a:ext cx="10881360" cy="4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492315"/>
            <a:ext cx="224028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640 (5개×N16×L8)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410551"/>
            <a:ext cx="7635240" cy="42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1 + 1,280 = 1,281회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63120"/>
            <a:ext cx="10881360" cy="48000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890551"/>
            <a:ext cx="2240280" cy="42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10,000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890551"/>
            <a:ext cx="7635240" cy="42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1 + 20,000 = 20,001회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43119"/>
            <a:ext cx="10911535" cy="1269851"/>
          </a:xfrm>
          <a:prstGeom prst="roundRect">
            <a:avLst/>
          </a:prstGeom>
          <a:solidFill>
            <a:srgbClr val="FB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643995"/>
            <a:ext cx="1036289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 dirty="0">
                <a:solidFill>
                  <a:srgbClr val="9C5000"/>
                </a:solidFill>
                <a:latin typeface="Noto Sans KR"/>
                <a:ea typeface="Noto Sans KR"/>
                <a:cs typeface="Noto Sans KR"/>
              </a:rPr>
              <a:t>측정 </a:t>
            </a:r>
            <a:r>
              <a:rPr sz="1050" b="1" i="0" dirty="0" err="1">
                <a:solidFill>
                  <a:srgbClr val="9C5000"/>
                </a:solidFill>
                <a:latin typeface="Noto Sans KR"/>
                <a:ea typeface="Noto Sans KR"/>
                <a:cs typeface="Noto Sans KR"/>
              </a:rPr>
              <a:t>횟수까지</a:t>
            </a:r>
            <a:r>
              <a:rPr sz="1050" b="1" i="0" dirty="0">
                <a:solidFill>
                  <a:srgbClr val="9C500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i="0" dirty="0" err="1">
                <a:solidFill>
                  <a:srgbClr val="9C5000"/>
                </a:solidFill>
                <a:latin typeface="Noto Sans KR"/>
                <a:ea typeface="Noto Sans KR"/>
                <a:cs typeface="Noto Sans KR"/>
              </a:rPr>
              <a:t>곱하면</a:t>
            </a:r>
            <a:endParaRPr sz="1050" b="1" i="0" dirty="0">
              <a:solidFill>
                <a:srgbClr val="9C500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4957144"/>
            <a:ext cx="10362895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총 측정 </a:t>
            </a:r>
            <a:r>
              <a:rPr sz="12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횟수</a:t>
            </a: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= 회로 실행 </a:t>
            </a:r>
            <a:r>
              <a:rPr sz="12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횟수</a:t>
            </a: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× shots.  </a:t>
            </a:r>
            <a:endParaRPr lang="en-US" sz="120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marL="171450" indent="-171450" algn="l">
              <a:buFontTx/>
              <a:buChar char="-"/>
            </a:pP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P=10,000, shots=1,024 → 20,001×1,024 ≈ 약 2,048만 회.  </a:t>
            </a:r>
            <a:endParaRPr lang="en-US" sz="120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  <a:p>
            <a:pPr marL="171450" indent="-171450" algn="l">
              <a:buFontTx/>
              <a:buChar char="-"/>
            </a:pP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배치 32·학습 </a:t>
            </a:r>
            <a:r>
              <a:rPr sz="12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스텝</a:t>
            </a: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10,000까지</a:t>
            </a:r>
            <a:r>
              <a:rPr lang="en-US"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포함하면</a:t>
            </a:r>
            <a:r>
              <a:rPr sz="120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→ 20,001×1,024×32×10,000 ≈ 6.5×10¹²(약 6.5조 회) </a:t>
            </a:r>
            <a:endParaRPr lang="en-US" sz="1200" b="0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7CC8FB0C-EAA3-4BFB-8D9E-25A23A24B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11614"/>
            <a:ext cx="914400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100" normalizeH="0" baseline="0" noProof="0" dirty="0">
                <a:ln>
                  <a:noFill/>
                </a:ln>
                <a:solidFill>
                  <a:srgbClr val="CFC9B8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</a:rPr>
              <a:t>CHAPTER </a:t>
            </a:r>
            <a:r>
              <a:rPr kumimoji="0" lang="en-US" sz="1150" b="1" i="0" u="none" strike="noStrike" kern="1200" cap="none" spc="100" normalizeH="0" baseline="0" noProof="0" dirty="0">
                <a:ln>
                  <a:noFill/>
                </a:ln>
                <a:solidFill>
                  <a:srgbClr val="CFC9B8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</a:rPr>
              <a:t>3</a:t>
            </a:r>
            <a:endParaRPr kumimoji="0" sz="1150" b="1" i="0" u="none" strike="noStrike" kern="1200" cap="none" spc="100" normalizeH="0" baseline="0" noProof="0" dirty="0">
              <a:ln>
                <a:noFill/>
              </a:ln>
              <a:solidFill>
                <a:srgbClr val="CFC9B8"/>
              </a:solidFill>
              <a:effectLst/>
              <a:uLnTx/>
              <a:uFillTx/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140767"/>
            <a:ext cx="10911535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</a:rPr>
              <a:t>내용 정리</a:t>
            </a:r>
            <a:endParaRPr kumimoji="0" sz="3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066FDF35-6200-4228-B916-826938ED7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6056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rPr lang="en-US" altLang="ko-KR" dirty="0"/>
              <a:t>03</a:t>
            </a:r>
            <a:r>
              <a:rPr lang="ko-KR" altLang="en-US" dirty="0"/>
              <a:t> </a:t>
            </a:r>
            <a:r>
              <a:rPr lang="en-US" altLang="ko-KR" dirty="0"/>
              <a:t>· </a:t>
            </a:r>
            <a:r>
              <a:rPr lang="ko-KR" altLang="en-US" dirty="0"/>
              <a:t>내용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두 </a:t>
            </a:r>
            <a:r>
              <a:rPr sz="2700" b="1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논문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비교 요약</a:t>
            </a:r>
            <a:r>
              <a:rPr 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및 정리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QGAN </a:t>
            </a:r>
            <a:r>
              <a:rPr lang="ko-KR" altLang="en-US" sz="130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lang="en-US" altLang="ko-KR" sz="130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MediQ</a:t>
            </a:r>
            <a:r>
              <a:rPr lang="en-US" altLang="ko-KR" sz="130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-GAN </a:t>
            </a:r>
            <a:r>
              <a:rPr lang="ko-KR" altLang="en-US" sz="130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정리</a:t>
            </a:r>
            <a:endParaRPr sz="13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10881360" cy="54864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39696"/>
            <a:ext cx="196596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799" y="2288954"/>
            <a:ext cx="425196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QGAN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2139696"/>
            <a:ext cx="397763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MediQ-GAN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108813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679191"/>
            <a:ext cx="19659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Hybrid 유형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799" y="2845287"/>
            <a:ext cx="425196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모델 </a:t>
            </a:r>
            <a:r>
              <a:rPr sz="1050" b="0" i="0" dirty="0" err="1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레벨</a:t>
            </a:r>
            <a:r>
              <a:rPr sz="105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lang="en-US" sz="105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Generator</a:t>
            </a:r>
            <a:r>
              <a:rPr sz="1050" b="0" i="0" dirty="0">
                <a:solidFill>
                  <a:srgbClr val="00754A"/>
                </a:solidFill>
                <a:latin typeface="Noto Sans KR"/>
                <a:ea typeface="Noto Sans KR"/>
                <a:cs typeface="Noto Sans KR"/>
              </a:rPr>
              <a:t> 전체 양자)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845287"/>
            <a:ext cx="3977639" cy="16158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dirty="0" err="1">
                <a:solidFill>
                  <a:srgbClr val="00754A"/>
                </a:solidFill>
                <a:latin typeface="Noto Sans KR"/>
                <a:ea typeface="Noto Sans KR"/>
              </a:rPr>
              <a:t>레이어</a:t>
            </a:r>
            <a:r>
              <a:rPr sz="1050" dirty="0">
                <a:solidFill>
                  <a:srgbClr val="00754A"/>
                </a:solidFill>
                <a:latin typeface="Noto Sans KR"/>
                <a:ea typeface="Noto Sans KR"/>
              </a:rPr>
              <a:t> </a:t>
            </a:r>
            <a:r>
              <a:rPr sz="1050" dirty="0" err="1">
                <a:solidFill>
                  <a:srgbClr val="00754A"/>
                </a:solidFill>
                <a:latin typeface="Noto Sans KR"/>
                <a:ea typeface="Noto Sans KR"/>
              </a:rPr>
              <a:t>레벨</a:t>
            </a:r>
            <a:r>
              <a:rPr sz="1050" dirty="0">
                <a:solidFill>
                  <a:srgbClr val="00754A"/>
                </a:solidFill>
                <a:latin typeface="Noto Sans KR"/>
                <a:ea typeface="Noto Sans KR"/>
              </a:rPr>
              <a:t>(</a:t>
            </a:r>
            <a:r>
              <a:rPr sz="1050" dirty="0" err="1">
                <a:solidFill>
                  <a:srgbClr val="00754A"/>
                </a:solidFill>
                <a:latin typeface="Noto Sans KR"/>
                <a:ea typeface="Noto Sans KR"/>
              </a:rPr>
              <a:t>듀얼스트림</a:t>
            </a:r>
            <a:r>
              <a:rPr sz="1050" dirty="0">
                <a:solidFill>
                  <a:srgbClr val="00754A"/>
                </a:solidFill>
                <a:latin typeface="Noto Sans KR"/>
                <a:ea typeface="Noto Sans KR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227832"/>
            <a:ext cx="19659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큐빗 규모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799" y="3393928"/>
            <a:ext cx="425196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7+1큐빗 × </a:t>
            </a:r>
            <a:r>
              <a:rPr lang="en-US"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Sub Generator</a:t>
            </a:r>
            <a:r>
              <a:rPr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16개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227832"/>
            <a:ext cx="3977639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5 × 16큐빗 VQC(</a:t>
            </a:r>
            <a:r>
              <a:rPr sz="1050" b="0" i="0" dirty="0" err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스트림</a:t>
            </a:r>
            <a:r>
              <a:rPr sz="1050" b="0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하나)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49039"/>
            <a:ext cx="108813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776472"/>
            <a:ext cx="19659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데이터셋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799" y="3776472"/>
            <a:ext cx="42519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HAM10000 (피부병변, 2클래스 집중)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776472"/>
            <a:ext cx="3977639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ISIC2019 · ODIR-5k · RetinaMNIST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297679"/>
            <a:ext cx="10881360" cy="54864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325112"/>
            <a:ext cx="19659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검증 방식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799" y="4325112"/>
            <a:ext cx="42519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증강 전/후 CNN 분류 성능(AUC-ROC)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325112"/>
            <a:ext cx="3977639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클래스별 FID·LPIPS + 실기(IBM) 검증</a:t>
            </a:r>
          </a:p>
        </p:txBody>
      </p:sp>
      <p:sp>
        <p:nvSpPr>
          <p:cNvPr id="31" name="슬라이드 번호 개체 틀 30">
            <a:extLst>
              <a:ext uri="{FF2B5EF4-FFF2-40B4-BE49-F238E27FC236}">
                <a16:creationId xmlns:a16="http://schemas.microsoft.com/office/drawing/2014/main" id="{FA7D5DAA-0239-4D91-AFD9-A4F5A77EB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rPr dirty="0"/>
              <a:t>0</a:t>
            </a:r>
            <a:r>
              <a:rPr lang="en-US" dirty="0"/>
              <a:t>3</a:t>
            </a:r>
            <a:r>
              <a:rPr dirty="0"/>
              <a:t> · </a:t>
            </a:r>
            <a:r>
              <a:rPr lang="ko-KR" altLang="en-US" dirty="0"/>
              <a:t>내용 정리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889084"/>
            <a:ext cx="10911535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ko-KR" alt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현재 단계에서의 </a:t>
            </a:r>
            <a:r>
              <a:rPr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QML 연구</a:t>
            </a:r>
            <a:r>
              <a:rPr lang="en-US" sz="2700" b="1" i="0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27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방향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45446"/>
            <a:ext cx="10911535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QML 연구</a:t>
            </a:r>
            <a:r>
              <a:rPr 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방향 中</a:t>
            </a:r>
            <a:r>
              <a:rPr lang="en-US" altLang="ko-KR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30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연산 </a:t>
            </a:r>
            <a:r>
              <a:rPr lang="ko-KR" alt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비용 개선 논의되고 있음</a:t>
            </a:r>
            <a:endParaRPr sz="1300" b="0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10881360" cy="480000"/>
          </a:xfrm>
          <a:prstGeom prst="rect">
            <a:avLst/>
          </a:prstGeom>
          <a:solidFill>
            <a:srgbClr val="1E39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30551"/>
            <a:ext cx="2240280" cy="42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판단 대상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130551"/>
            <a:ext cx="7635240" cy="42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83120"/>
            <a:ext cx="10881360" cy="7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802314"/>
            <a:ext cx="224028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parameter-shift</a:t>
            </a:r>
            <a:r>
              <a:rPr lang="en-US" sz="11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100" b="1" dirty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구현</a:t>
            </a:r>
            <a:endParaRPr sz="1100" b="1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0" y="2610551"/>
            <a:ext cx="7635240" cy="64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비현실적 - 계산상 명확함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83120"/>
            <a:ext cx="10881360" cy="480000"/>
          </a:xfrm>
          <a:prstGeom prst="rect">
            <a:avLst/>
          </a:prstGeom>
          <a:solidFill>
            <a:srgbClr val="EDEB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310551"/>
            <a:ext cx="2240280" cy="42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QML 연구 전체의 가치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310551"/>
            <a:ext cx="7635240" cy="425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유효함 - 아래 방향의 연구가 활발히 진행 중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4594607C-7846-40A1-8988-C723FAC6C330}"/>
              </a:ext>
            </a:extLst>
          </p:cNvPr>
          <p:cNvGrpSpPr/>
          <p:nvPr/>
        </p:nvGrpSpPr>
        <p:grpSpPr>
          <a:xfrm>
            <a:off x="640080" y="4196691"/>
            <a:ext cx="11213784" cy="1355144"/>
            <a:chOff x="640080" y="3942976"/>
            <a:chExt cx="11213784" cy="1355144"/>
          </a:xfrm>
        </p:grpSpPr>
        <p:sp>
          <p:nvSpPr>
            <p:cNvPr id="14" name="Rectangle 13"/>
            <p:cNvSpPr/>
            <p:nvPr/>
          </p:nvSpPr>
          <p:spPr>
            <a:xfrm>
              <a:off x="640080" y="3983120"/>
              <a:ext cx="73152" cy="560000"/>
            </a:xfrm>
            <a:prstGeom prst="rect">
              <a:avLst/>
            </a:prstGeom>
            <a:solidFill>
              <a:srgbClr val="0075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14400" y="3964832"/>
              <a:ext cx="10637215" cy="3000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200" b="1" i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SPSA (Simultaneous Perturbation Stochastic Approximation)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14400" y="4248120"/>
              <a:ext cx="10637215" cy="3500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050" b="0" i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파라미터 개수와 무관하게 매 스텝 회로 2번만 실행해 gradient 근사(정확도는 다소 하락)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40080" y="4683120"/>
              <a:ext cx="73152" cy="560000"/>
            </a:xfrm>
            <a:prstGeom prst="rect">
              <a:avLst/>
            </a:prstGeom>
            <a:solidFill>
              <a:srgbClr val="0062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14400" y="4664832"/>
              <a:ext cx="10637215" cy="3000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200" b="1" i="0">
                  <a:solidFill>
                    <a:srgbClr val="212121"/>
                  </a:solidFill>
                  <a:latin typeface="Noto Sans KR"/>
                  <a:ea typeface="Noto Sans KR"/>
                  <a:cs typeface="Noto Sans KR"/>
                </a:rPr>
                <a:t>Classical shadow tomography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14400" y="4948120"/>
              <a:ext cx="10637215" cy="3500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050" b="0" i="0">
                  <a:solidFill>
                    <a:srgbClr val="6B6B6B"/>
                  </a:solidFill>
                  <a:latin typeface="Noto Sans KR"/>
                  <a:ea typeface="Noto Sans KR"/>
                  <a:cs typeface="Noto Sans KR"/>
                </a:rPr>
                <a:t>적은 측정 횟수로 여러 관측량을 동시 추정</a:t>
              </a: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D3C27CDA-6CA3-4DB3-B857-4619CFDA1191}"/>
                </a:ext>
              </a:extLst>
            </p:cNvPr>
            <p:cNvGrpSpPr/>
            <p:nvPr/>
          </p:nvGrpSpPr>
          <p:grpSpPr>
            <a:xfrm>
              <a:off x="5954093" y="3942976"/>
              <a:ext cx="5899771" cy="1273746"/>
              <a:chOff x="640080" y="5376332"/>
              <a:chExt cx="5899771" cy="1273746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640080" y="5383120"/>
                <a:ext cx="73152" cy="560000"/>
              </a:xfrm>
              <a:prstGeom prst="rect">
                <a:avLst/>
              </a:prstGeom>
              <a:solidFill>
                <a:srgbClr val="9C5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914401" y="5376332"/>
                <a:ext cx="5625450" cy="2769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/>
                <a:r>
                  <a:rPr sz="1200" b="1" i="0">
                    <a:solidFill>
                      <a:srgbClr val="212121"/>
                    </a:solidFill>
                    <a:latin typeface="Noto Sans KR"/>
                    <a:ea typeface="Noto Sans KR"/>
                    <a:cs typeface="Noto Sans KR"/>
                  </a:rPr>
                  <a:t>Quantum Natural Gradient (QNG)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914401" y="5696162"/>
                <a:ext cx="5625450" cy="253916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/>
                <a:r>
                  <a:rPr sz="1050" b="0" i="0">
                    <a:solidFill>
                      <a:srgbClr val="6B6B6B"/>
                    </a:solidFill>
                    <a:latin typeface="Noto Sans KR"/>
                    <a:ea typeface="Noto Sans KR"/>
                    <a:cs typeface="Noto Sans KR"/>
                  </a:rPr>
                  <a:t>더 적은 스텝으로 수렴시켜 전체 실행 횟수 절감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640080" y="6083120"/>
                <a:ext cx="73152" cy="560000"/>
              </a:xfrm>
              <a:prstGeom prst="rect">
                <a:avLst/>
              </a:prstGeom>
              <a:solidFill>
                <a:srgbClr val="5B3E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914401" y="6076332"/>
                <a:ext cx="5625450" cy="2769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/>
                <a:r>
                  <a:rPr sz="1200" b="1" i="0" dirty="0">
                    <a:solidFill>
                      <a:srgbClr val="212121"/>
                    </a:solidFill>
                    <a:latin typeface="Noto Sans KR"/>
                    <a:ea typeface="Noto Sans KR"/>
                    <a:cs typeface="Noto Sans KR"/>
                  </a:rPr>
                  <a:t>DLA</a:t>
                </a:r>
                <a:r>
                  <a:rPr lang="en-US" sz="1200" b="1" i="0" dirty="0">
                    <a:solidFill>
                      <a:srgbClr val="212121"/>
                    </a:solidFill>
                    <a:latin typeface="Noto Sans KR"/>
                    <a:ea typeface="Noto Sans KR"/>
                    <a:cs typeface="Noto Sans KR"/>
                  </a:rPr>
                  <a:t> </a:t>
                </a:r>
                <a:r>
                  <a:rPr sz="1200" b="1" i="0" dirty="0">
                    <a:solidFill>
                      <a:srgbClr val="212121"/>
                    </a:solidFill>
                    <a:latin typeface="Noto Sans KR"/>
                    <a:ea typeface="Noto Sans KR"/>
                    <a:cs typeface="Noto Sans KR"/>
                  </a:rPr>
                  <a:t>(</a:t>
                </a:r>
                <a:r>
                  <a:rPr lang="en-US" sz="1200" b="1" i="0" dirty="0">
                    <a:solidFill>
                      <a:srgbClr val="212121"/>
                    </a:solidFill>
                    <a:latin typeface="Noto Sans KR"/>
                    <a:ea typeface="Noto Sans KR"/>
                    <a:cs typeface="Noto Sans KR"/>
                  </a:rPr>
                  <a:t>Dynamical Lie Algebra</a:t>
                </a:r>
                <a:r>
                  <a:rPr sz="1200" b="1" i="0" dirty="0">
                    <a:solidFill>
                      <a:srgbClr val="212121"/>
                    </a:solidFill>
                    <a:latin typeface="Noto Sans KR"/>
                    <a:ea typeface="Noto Sans KR"/>
                    <a:cs typeface="Noto Sans KR"/>
                  </a:rPr>
                  <a:t>) 기반 회로 설계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914401" y="6396162"/>
                <a:ext cx="5625450" cy="253916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/>
                <a:r>
                  <a:rPr sz="1050" b="0" i="0" dirty="0">
                    <a:solidFill>
                      <a:srgbClr val="6B6B6B"/>
                    </a:solidFill>
                    <a:latin typeface="Noto Sans KR"/>
                    <a:ea typeface="Noto Sans KR"/>
                    <a:cs typeface="Noto Sans KR"/>
                  </a:rPr>
                  <a:t>barren </a:t>
                </a:r>
                <a:r>
                  <a:rPr sz="1050" b="0" i="0" dirty="0" err="1">
                    <a:solidFill>
                      <a:srgbClr val="6B6B6B"/>
                    </a:solidFill>
                    <a:latin typeface="Noto Sans KR"/>
                    <a:ea typeface="Noto Sans KR"/>
                    <a:cs typeface="Noto Sans KR"/>
                  </a:rPr>
                  <a:t>plateau를</a:t>
                </a:r>
                <a:r>
                  <a:rPr sz="1050" b="0" i="0" dirty="0">
                    <a:solidFill>
                      <a:srgbClr val="6B6B6B"/>
                    </a:solidFill>
                    <a:latin typeface="Noto Sans KR"/>
                    <a:ea typeface="Noto Sans KR"/>
                    <a:cs typeface="Noto Sans KR"/>
                  </a:rPr>
                  <a:t> </a:t>
                </a:r>
                <a:r>
                  <a:rPr sz="1050" b="0" i="0" dirty="0" err="1">
                    <a:solidFill>
                      <a:srgbClr val="6B6B6B"/>
                    </a:solidFill>
                    <a:latin typeface="Noto Sans KR"/>
                    <a:ea typeface="Noto Sans KR"/>
                    <a:cs typeface="Noto Sans KR"/>
                  </a:rPr>
                  <a:t>피하며</a:t>
                </a:r>
                <a:r>
                  <a:rPr sz="1050" b="0" i="0" dirty="0">
                    <a:solidFill>
                      <a:srgbClr val="6B6B6B"/>
                    </a:solidFill>
                    <a:latin typeface="Noto Sans KR"/>
                    <a:ea typeface="Noto Sans KR"/>
                    <a:cs typeface="Noto Sans KR"/>
                  </a:rPr>
                  <a:t> 필요한 파라미터/</a:t>
                </a:r>
                <a:r>
                  <a:rPr sz="1050" b="0" i="0" dirty="0" err="1">
                    <a:solidFill>
                      <a:srgbClr val="6B6B6B"/>
                    </a:solidFill>
                    <a:latin typeface="Noto Sans KR"/>
                    <a:ea typeface="Noto Sans KR"/>
                    <a:cs typeface="Noto Sans KR"/>
                  </a:rPr>
                  <a:t>깊이</a:t>
                </a:r>
                <a:r>
                  <a:rPr sz="1050" b="0" i="0" dirty="0">
                    <a:solidFill>
                      <a:srgbClr val="6B6B6B"/>
                    </a:solidFill>
                    <a:latin typeface="Noto Sans KR"/>
                    <a:ea typeface="Noto Sans KR"/>
                    <a:cs typeface="Noto Sans KR"/>
                  </a:rPr>
                  <a:t> 최소화</a:t>
                </a:r>
              </a:p>
            </p:txBody>
          </p:sp>
        </p:grpSp>
      </p:grpSp>
      <p:sp>
        <p:nvSpPr>
          <p:cNvPr id="28" name="슬라이드 번호 개체 틀 27">
            <a:extLst>
              <a:ext uri="{FF2B5EF4-FFF2-40B4-BE49-F238E27FC236}">
                <a16:creationId xmlns:a16="http://schemas.microsoft.com/office/drawing/2014/main" id="{7EAA0E34-7F54-486A-9937-45725BC9D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lnSpc>
                <a:spcPct val="100000"/>
              </a:lnSpc>
              <a:defRPr sz="1150" b="1" i="0" spc="100">
                <a:solidFill>
                  <a:srgbClr val="00754A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r>
              <a:rPr dirty="0"/>
              <a:t>0</a:t>
            </a:r>
            <a:r>
              <a:rPr lang="en-US" dirty="0"/>
              <a:t>3</a:t>
            </a:r>
            <a:r>
              <a:rPr dirty="0"/>
              <a:t> · </a:t>
            </a:r>
            <a:r>
              <a:rPr lang="ko-KR" altLang="en-US" dirty="0"/>
              <a:t>내용 정리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935251"/>
            <a:ext cx="1091153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00" b="1" i="0">
                <a:solidFill>
                  <a:srgbClr val="212121"/>
                </a:solidFill>
                <a:latin typeface="Noto Sans KR"/>
                <a:ea typeface="Noto Sans KR"/>
                <a:cs typeface="Noto Sans KR"/>
              </a:rPr>
              <a:t>이미지 생성 분야에서 양자 알고리즘 유의점</a:t>
            </a:r>
            <a:endParaRPr sz="2700" b="1" i="0" dirty="0">
              <a:solidFill>
                <a:srgbClr val="21212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574204"/>
            <a:ext cx="10911535" cy="234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양자 생성 모델은 양자 데이터</a:t>
            </a:r>
            <a:r>
              <a:rPr lang="en-US" altLang="ko-KR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300" b="0" i="0" dirty="0" err="1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헤밀토니안</a:t>
            </a:r>
            <a:r>
              <a:rPr lang="ko-KR" altLang="en-US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 상태 등을 만드는 데 특화되어 있기에</a:t>
            </a:r>
            <a:r>
              <a:rPr lang="en-US" altLang="ko-KR" sz="1300" b="0" i="0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300" b="1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기존 데이터가 많은 영역</a:t>
            </a:r>
            <a:r>
              <a:rPr lang="en-US" altLang="ko-KR" sz="1300" b="1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300" b="1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모델</a:t>
            </a:r>
            <a:r>
              <a:rPr lang="en-US" altLang="ko-KR" sz="1300" b="1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300" b="1" dirty="0">
                <a:solidFill>
                  <a:srgbClr val="6B6B6B"/>
                </a:solidFill>
                <a:latin typeface="Noto Sans KR"/>
                <a:ea typeface="Noto Sans KR"/>
                <a:cs typeface="Noto Sans KR"/>
              </a:rPr>
              <a:t>컴퓨팅이 잘하는 영역에 대한 성과는 검증 단계</a:t>
            </a:r>
            <a:endParaRPr sz="1300" b="1" i="0" dirty="0">
              <a:solidFill>
                <a:srgbClr val="6B6B6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BB9815EA-499D-4AE2-91F2-704EAEFF8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1026" name="Picture 2" descr="Reduction of the molecular hamiltonian matrix using quantum community  detection | Scientific Reports">
            <a:extLst>
              <a:ext uri="{FF2B5EF4-FFF2-40B4-BE49-F238E27FC236}">
                <a16:creationId xmlns:a16="http://schemas.microsoft.com/office/drawing/2014/main" id="{F945C4F6-44D8-4E8F-AA29-25F99DCC2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985" y="2281600"/>
            <a:ext cx="9160030" cy="3830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src_caption">
            <a:extLst>
              <a:ext uri="{FF2B5EF4-FFF2-40B4-BE49-F238E27FC236}">
                <a16:creationId xmlns:a16="http://schemas.microsoft.com/office/drawing/2014/main" id="{3525B380-FC1A-4A2D-B6E1-C4DB88F01388}"/>
              </a:ext>
            </a:extLst>
          </p:cNvPr>
          <p:cNvSpPr txBox="1"/>
          <p:nvPr/>
        </p:nvSpPr>
        <p:spPr>
          <a:xfrm>
            <a:off x="6062472" y="6428232"/>
            <a:ext cx="5486400" cy="2286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/>
            <a:r>
              <a:rPr sz="850" dirty="0" err="1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그림</a:t>
            </a:r>
            <a:r>
              <a:rPr sz="850" dirty="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50" dirty="0" err="1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출처</a:t>
            </a:r>
            <a:r>
              <a:rPr sz="850" dirty="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: </a:t>
            </a:r>
            <a:r>
              <a:rPr lang="en-US" sz="850" dirty="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https://www.nature.com/articles/s41598-021-83561-x </a:t>
            </a:r>
            <a:r>
              <a:rPr sz="850" dirty="0">
                <a:solidFill>
                  <a:srgbClr val="8A8A8A"/>
                </a:solidFill>
                <a:latin typeface="Noto Sans KR"/>
                <a:ea typeface="Noto Sans KR"/>
                <a:cs typeface="Noto Sans KR"/>
              </a:rPr>
              <a:t>(CC BY 4.0)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9C55BF7-CF6D-4103-A9B9-0AC3856EF32E}"/>
              </a:ext>
            </a:extLst>
          </p:cNvPr>
          <p:cNvSpPr/>
          <p:nvPr/>
        </p:nvSpPr>
        <p:spPr>
          <a:xfrm>
            <a:off x="3091543" y="2706914"/>
            <a:ext cx="1117600" cy="11321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65244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9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14255" y="777240"/>
            <a:ext cx="1371600" cy="1371600"/>
          </a:xfrm>
          <a:prstGeom prst="ellipse">
            <a:avLst/>
          </a:prstGeom>
          <a:noFill/>
          <a:ln w="19050">
            <a:solidFill>
              <a:srgbClr val="007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val 2"/>
          <p:cNvSpPr/>
          <p:nvPr/>
        </p:nvSpPr>
        <p:spPr>
          <a:xfrm>
            <a:off x="10225735" y="1188720"/>
            <a:ext cx="548640" cy="548640"/>
          </a:xfrm>
          <a:prstGeom prst="ellipse">
            <a:avLst/>
          </a:prstGeom>
          <a:solidFill>
            <a:srgbClr val="007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2729107"/>
            <a:ext cx="10332720" cy="5768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800" b="1" i="0" u="none" strike="noStrike" kern="1200" cap="none" spc="0" normalizeH="0" baseline="0" noProof="0">
                <a:ln>
                  <a:noFill/>
                </a:ln>
                <a:solidFill>
                  <a:srgbClr val="DFC49D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</a:rPr>
              <a:t>감사합니다</a:t>
            </a:r>
            <a:r>
              <a:rPr kumimoji="0" lang="en-US" altLang="ko-KR" sz="3800" b="1" i="0" u="none" strike="noStrike" kern="1200" cap="none" spc="0" normalizeH="0" baseline="0" noProof="0" dirty="0">
                <a:ln>
                  <a:noFill/>
                </a:ln>
                <a:solidFill>
                  <a:srgbClr val="DFC49D"/>
                </a:solidFill>
                <a:effectLst/>
                <a:uLnTx/>
                <a:uFillTx/>
                <a:latin typeface="Noto Sans KR"/>
                <a:ea typeface="Noto Sans KR"/>
                <a:cs typeface="Noto Sans KR"/>
              </a:rPr>
              <a:t>.</a:t>
            </a:r>
            <a:endParaRPr kumimoji="0" sz="3800" b="1" i="0" u="none" strike="noStrike" kern="1200" cap="none" spc="0" normalizeH="0" baseline="0" noProof="0" dirty="0">
              <a:ln>
                <a:noFill/>
              </a:ln>
              <a:solidFill>
                <a:srgbClr val="DFC49D"/>
              </a:solidFill>
              <a:effectLst/>
              <a:uLnTx/>
              <a:uFillTx/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4709160"/>
            <a:ext cx="457200" cy="274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D4ECD8AD-BD2F-4FE3-BB98-0D4FECF7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597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1776</TotalTime>
  <Words>3185</Words>
  <Application>Microsoft Office PowerPoint</Application>
  <PresentationFormat>와이드스크린</PresentationFormat>
  <Paragraphs>604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6" baseType="lpstr">
      <vt:lpstr>Noto Sans KR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MZC01-HYUNHOPART</cp:lastModifiedBy>
  <cp:revision>191</cp:revision>
  <dcterms:created xsi:type="dcterms:W3CDTF">2013-01-27T09:14:16Z</dcterms:created>
  <dcterms:modified xsi:type="dcterms:W3CDTF">2026-10-01T05:38:11Z</dcterms:modified>
  <cp:category/>
</cp:coreProperties>
</file>