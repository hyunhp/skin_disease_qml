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8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87" r:id="rId17"/>
    <p:sldId id="289" r:id="rId18"/>
    <p:sldId id="271" r:id="rId19"/>
    <p:sldId id="272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73" r:id="rId29"/>
    <p:sldId id="274" r:id="rId30"/>
    <p:sldId id="27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35" autoAdjust="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2537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5F6D3A-F88F-490B-83D1-37F70B175693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DAAB6-2F86-426D-9FEA-B1BE1207038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155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BA297-597D-44ED-9EBF-ACE95CC243B0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55D4D-6177-4BD2-9DEA-0956CEC3861A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D1781-4EA3-4DBB-A500-A50F99E729F8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424D1-75C1-469B-93C7-852D88DC311D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C6677-2983-4CAE-A208-4FDD9C6C50FA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4DC9-E7BC-40FD-960F-12CCB28A89AE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F2983-8522-4728-8061-907EF8B72DBE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029200" y="6356350"/>
            <a:ext cx="2133600" cy="365125"/>
          </a:xfr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31DF5-3CC9-40C1-BFE3-F6B6DE4FF43E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76737-C57E-4B0A-B071-D17A59F2704A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74A9A-173B-4136-9940-F0192690F946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30DA-4160-4D78-AA84-1A511A8B0BAD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C9948A-0BE1-434C-A2DD-FE19635DE6D3}" type="datetime1">
              <a:rPr lang="en-US" altLang="ko-KR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4313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동아대학교 </a:t>
            </a:r>
            <a:r>
              <a:rPr sz="1150" b="1" i="0" spc="10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대학원</a:t>
            </a:r>
            <a:r>
              <a:rPr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QML </a:t>
            </a:r>
            <a:r>
              <a:rPr sz="1150" b="1" i="0" spc="10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강의</a:t>
            </a:r>
            <a:endParaRPr sz="1150" b="1" i="0" spc="100" dirty="0">
              <a:solidFill>
                <a:srgbClr val="CFC9B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0433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lang="ko-KR" altLang="en-US"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머신러닝</a:t>
            </a:r>
            <a:endParaRPr sz="3800" b="1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의료 영상 데이터 증강하기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HAM10000 QGAN 논문 + MediQ-GAN 아키텍처 - 이론편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메가존클라우드 Quantum Innovation Lab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의료 데이터셋을 활용한 양자 머신러닝 실습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이론 → 데이터 EDA·전처리·회로 구성 → 실습 실행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1일차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11/13(금)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이론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소개 </a:t>
            </a: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+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QGAN·MediQ-GAN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68698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7298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2일차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11/20(금)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Colab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환경 + EDA/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세그멘테이션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) </a:t>
            </a: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+ 회로</a:t>
            </a:r>
            <a:r>
              <a: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인코딩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기초</a:t>
            </a: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7316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5916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3일차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11/27(금)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생성/비교 + 견학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ko-KR" alt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 생성·증강 비교 + MediQ-GAN 데모</a:t>
            </a:r>
            <a:r>
              <a: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(in </a:t>
            </a:r>
            <a:r>
              <a:rPr lang="ko-KR" alt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메가존클라우드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부산</a:t>
            </a:r>
            <a:r>
              <a:rPr lang="en-US" sz="11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)</a:t>
            </a: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023D392D-086D-4574-9F92-A18CBD12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INDEX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Oval 4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1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25880" y="221803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13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Oval 7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325880" y="2834640"/>
            <a:ext cx="101800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QGAN과 고전 GAN의 차이 - patch 방식 아키텍처 설명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3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25880" y="377251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'전체가 양자'(QGAN)와 '일부만 양자'(MediQ-GAN, 듀얼스트림) 아키텍처 차이 구분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FDDB7A9-1F13-4653-AA30-476F1A43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"Human Against Machine with 10000 training images" - 피부병변 진단 AI 연구의 대표 벤치마크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10,015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이미지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피부경검사(dermatoscopic)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698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7298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 클래스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akiec·bcc·bkl·df·mel·nv·vasc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5916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600×450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RGB, 실제 임상 촬영 이미지</a:t>
            </a: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F2EFF22C-05F8-4EC6-88C2-F8403A15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27" name="TextBox 5"/>
          <p:cNvSpPr txBox="1"/>
          <p:nvPr/>
        </p:nvSpPr>
        <p:spPr>
          <a:xfrm>
            <a:off x="4597298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102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이미지·데이터 출처: HAM10000 (Tschandl et al., Scientific Data 5, 180161, 2018) · 비상업적 이용 조건</a:t>
            </a:r>
          </a:p>
        </p:txBody>
      </p:sp>
      <p:pic>
        <p:nvPicPr>
          <p:cNvPr id="1029" name="ham_thumb_akiec" descr="akie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3360"/>
            <a:ext cx="1133856" cy="850392"/>
          </a:xfrm>
          <a:prstGeom prst="rect">
            <a:avLst/>
          </a:prstGeom>
        </p:spPr>
      </p:pic>
      <p:sp>
        <p:nvSpPr>
          <p:cNvPr id="1030" name="ham_label_akiec"/>
          <p:cNvSpPr txBox="1"/>
          <p:nvPr/>
        </p:nvSpPr>
        <p:spPr>
          <a:xfrm>
            <a:off x="594360" y="4892040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 · 광선각화증</a:t>
            </a:r>
          </a:p>
        </p:txBody>
      </p:sp>
      <p:pic>
        <p:nvPicPr>
          <p:cNvPr id="1031" name="ham_thumb_bcc" descr="bc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664" y="4023360"/>
            <a:ext cx="1133856" cy="850392"/>
          </a:xfrm>
          <a:prstGeom prst="rect">
            <a:avLst/>
          </a:prstGeom>
        </p:spPr>
      </p:pic>
      <p:sp>
        <p:nvSpPr>
          <p:cNvPr id="1032" name="ham_label_bcc"/>
          <p:cNvSpPr txBox="1"/>
          <p:nvPr/>
        </p:nvSpPr>
        <p:spPr>
          <a:xfrm>
            <a:off x="1837944" y="4892040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bcc · 기저세포암</a:t>
            </a:r>
          </a:p>
        </p:txBody>
      </p:sp>
      <p:pic>
        <p:nvPicPr>
          <p:cNvPr id="1033" name="ham_thumb_bkl" descr="bk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7248" y="4023360"/>
            <a:ext cx="1133856" cy="850392"/>
          </a:xfrm>
          <a:prstGeom prst="rect">
            <a:avLst/>
          </a:prstGeom>
        </p:spPr>
      </p:pic>
      <p:sp>
        <p:nvSpPr>
          <p:cNvPr id="1034" name="ham_label_bkl"/>
          <p:cNvSpPr txBox="1"/>
          <p:nvPr/>
        </p:nvSpPr>
        <p:spPr>
          <a:xfrm>
            <a:off x="3081528" y="4892040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bkl · 양성각화증</a:t>
            </a:r>
          </a:p>
        </p:txBody>
      </p:sp>
      <p:pic>
        <p:nvPicPr>
          <p:cNvPr id="1035" name="ham_thumb_df" descr="df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0832" y="4023360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36" name="ham_label_df"/>
          <p:cNvSpPr txBox="1"/>
          <p:nvPr/>
        </p:nvSpPr>
        <p:spPr>
          <a:xfrm>
            <a:off x="4325112" y="4892040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df · 피부섬유종</a:t>
            </a:r>
          </a:p>
        </p:txBody>
      </p:sp>
      <p:pic>
        <p:nvPicPr>
          <p:cNvPr id="1037" name="ham_thumb_mel" descr="me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1872" y="5138928"/>
            <a:ext cx="1133856" cy="850392"/>
          </a:xfrm>
          <a:prstGeom prst="rect">
            <a:avLst/>
          </a:prstGeom>
        </p:spPr>
      </p:pic>
      <p:sp>
        <p:nvSpPr>
          <p:cNvPr id="1038" name="ham_label_mel"/>
          <p:cNvSpPr txBox="1"/>
          <p:nvPr/>
        </p:nvSpPr>
        <p:spPr>
          <a:xfrm>
            <a:off x="1216152" y="6007608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mel · 흑색종</a:t>
            </a:r>
          </a:p>
        </p:txBody>
      </p:sp>
      <p:pic>
        <p:nvPicPr>
          <p:cNvPr id="1039" name="ham_thumb_nv" descr="nv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05456" y="5138928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40" name="ham_label_nv"/>
          <p:cNvSpPr txBox="1"/>
          <p:nvPr/>
        </p:nvSpPr>
        <p:spPr>
          <a:xfrm>
            <a:off x="2459736" y="6007608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nv · 모반</a:t>
            </a:r>
          </a:p>
        </p:txBody>
      </p:sp>
      <p:pic>
        <p:nvPicPr>
          <p:cNvPr id="1041" name="ham_thumb_vasc" descr="vasc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9040" y="5138928"/>
            <a:ext cx="1133856" cy="850392"/>
          </a:xfrm>
          <a:prstGeom prst="rect">
            <a:avLst/>
          </a:prstGeom>
        </p:spPr>
      </p:pic>
      <p:sp>
        <p:nvSpPr>
          <p:cNvPr id="1042" name="ham_label_vasc"/>
          <p:cNvSpPr txBox="1"/>
          <p:nvPr/>
        </p:nvSpPr>
        <p:spPr>
          <a:xfrm>
            <a:off x="3703320" y="6007608"/>
            <a:ext cx="12252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vasc · 혈관병변</a:t>
            </a:r>
          </a:p>
        </p:txBody>
      </p:sp>
      <p:graphicFrame>
        <p:nvGraphicFramePr>
          <p:cNvPr id="1043" name="ham_table"/>
          <p:cNvGraphicFramePr>
            <a:graphicFrameLocks noGrp="1"/>
          </p:cNvGraphicFramePr>
          <p:nvPr/>
        </p:nvGraphicFramePr>
        <p:xfrm>
          <a:off x="6053328" y="4023360"/>
          <a:ext cx="5495544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6392"/>
                <a:gridCol w="658368"/>
                <a:gridCol w="868680"/>
                <a:gridCol w="83210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병변 유형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수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 (Actinic keratoses)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akiec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 (Basal cell carcinoma)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bcc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 (Benign keratosis-like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 (Dermatofibroma)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df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(Melanoma)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 (Melanocytic nevi)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nv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66.9%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 (Vascular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vasc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분석 결과 </a:t>
            </a:r>
            <a:r>
              <a:rPr lang="en-US" altLang="ko-KR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불균형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불균형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데이터 처리 방법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9436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214884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79" y="2139696"/>
            <a:ext cx="43434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2139696"/>
            <a:ext cx="370332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79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91002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Under Sampling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언더샘플링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54679" y="291002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 클래스에 맞춰</a:t>
            </a:r>
            <a:r>
              <a:rPr lang="en-US" altLang="ko-KR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</a:t>
            </a: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다수</a:t>
            </a:r>
            <a:r>
              <a:rPr 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줄</a:t>
            </a:r>
            <a:r>
              <a:rPr lang="ko-KR" alt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임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26680" y="272491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정보 손실 - 6,700장 넘게 버려야 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39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438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Over Sampling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오버샘플링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54679" y="350438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복제해서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늘림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26680" y="331927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복제본이라 새로운 정보가 없음 - 과적합 위험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98741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Augmentation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기하학적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54679" y="3913632"/>
            <a:ext cx="434340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회전·반전·크롭 등으로 변형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913632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병변의 실제 형태·질감 다양성은 만들지 못함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80560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507992"/>
            <a:ext cx="214884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생성모델(GAN/QGAN)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4693101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분포에서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새로운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그럴듯한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샘플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693101"/>
            <a:ext cx="3703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품질 검증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66944"/>
            <a:ext cx="10911535" cy="804672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5307835"/>
            <a:ext cx="10362895" cy="7228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초점</a:t>
            </a:r>
          </a:p>
          <a:p>
            <a:pPr algn="l">
              <a:lnSpc>
                <a:spcPct val="100000"/>
              </a:lnSpc>
            </a:pPr>
            <a:endParaRPr lang="ko-KR" altLang="en-US" sz="1050" b="1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보다 좋다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가 결론은 아님</a:t>
            </a: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실제 동작 방식과 조건을 논문 데이터로 확인</a:t>
            </a:r>
          </a:p>
        </p:txBody>
      </p:sp>
      <p:sp>
        <p:nvSpPr>
          <p:cNvPr id="30" name="슬라이드 번호 개체 틀 29">
            <a:extLst>
              <a:ext uri="{FF2B5EF4-FFF2-40B4-BE49-F238E27FC236}">
                <a16:creationId xmlns:a16="http://schemas.microsoft.com/office/drawing/2014/main" id="{7A66266B-7C7C-4207-9BE1-0696C292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출처: HAM10000 메타데이터 (Tschandl et al., Scientific Data 5, 180161, 2018)</a:t>
            </a:r>
          </a:p>
        </p:txBody>
      </p:sp>
      <p:graphicFrame>
        <p:nvGraphicFramePr>
          <p:cNvPr id="32" name="ham_table"/>
          <p:cNvGraphicFramePr>
            <a:graphicFrameLocks noGrp="1"/>
          </p:cNvGraphicFramePr>
          <p:nvPr/>
        </p:nvGraphicFramePr>
        <p:xfrm>
          <a:off x="9189720" y="384048"/>
          <a:ext cx="2331720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2768"/>
                <a:gridCol w="758952"/>
              </a:tblGrid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클래스</a:t>
                      </a: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수</a:t>
                      </a: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 (akiec)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 (bcc)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 (bkl)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 (df)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 (nv)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 (vasc)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3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① QGAN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232" y="1602432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Quantum GAN 기반 피부병변 이미지 증강 - patch method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2800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제</a:t>
            </a:r>
            <a:r>
              <a:rPr lang="ko-KR" altLang="en-US" sz="1200" b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0" y="260742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Data Augmentation in Cancer Image Classification Problem with Quantum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9668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기여점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0" y="347610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7+1큐빗 · 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16개 · patch 방식으로 </a:t>
            </a:r>
            <a:r>
              <a:rPr lang="ko-KR" alt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피부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이미지를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생성해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소수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(DF)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42291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114800"/>
            <a:ext cx="835121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 이미지로 CNN 분류기를 학습시켜, 증강 전/후 AUC-ROC·정확도를 비교(고전 GAN과도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3404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내용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0" y="521346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Generator"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사례 - model-level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기본 개념 - 고전 GAN과 무엇이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(Generator)·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판별자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(Discriminator)가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경쟁하며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학습하는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구조는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동일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(예: CNN/MLP)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통과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가중치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399184"/>
            <a:ext cx="4678527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변분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큐빗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회전으로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인코딩 → 측정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게이트의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비대칭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084064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36805"/>
            <a:ext cx="10362895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교체</a:t>
            </a:r>
            <a:endParaRPr sz="11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EAB96532-7B2B-4ACA-9BE6-F3D3FB88D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patch 기반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91612"/>
            <a:ext cx="10908792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구조를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도식으로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재구성</a:t>
            </a:r>
          </a:p>
        </p:txBody>
      </p: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4CFB5336-F6CB-4886-8903-A1F85E90B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3" name="fig10_1"/>
          <p:cNvSpPr/>
          <p:nvPr/>
        </p:nvSpPr>
        <p:spPr>
          <a:xfrm>
            <a:off x="2634112" y="2057400"/>
            <a:ext cx="6920727" cy="4025188"/>
          </a:xfrm>
          <a:prstGeom prst="roundRect">
            <a:avLst/>
          </a:prstGeom>
          <a:solidFill>
            <a:srgbClr val="FFFFFF"/>
          </a:solidFill>
          <a:ln w="13525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4" name="fig10_2"/>
          <p:cNvSpPr/>
          <p:nvPr/>
        </p:nvSpPr>
        <p:spPr>
          <a:xfrm>
            <a:off x="5906200" y="2213213"/>
            <a:ext cx="3453871" cy="311627"/>
          </a:xfrm>
          <a:prstGeom prst="leftArrow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학습 피드백: 판별 결과로 θ(회전각) 업데이트</a:t>
            </a:r>
          </a:p>
        </p:txBody>
      </p:sp>
      <p:sp>
        <p:nvSpPr>
          <p:cNvPr id="35" name="fig10_3"/>
          <p:cNvSpPr/>
          <p:nvPr/>
        </p:nvSpPr>
        <p:spPr>
          <a:xfrm>
            <a:off x="2789925" y="3096158"/>
            <a:ext cx="597286" cy="597286"/>
          </a:xfrm>
          <a:prstGeom prst="ellipse">
            <a:avLst/>
          </a:prstGeom>
          <a:solidFill>
            <a:srgbClr val="EDE7F5"/>
          </a:solidFill>
          <a:ln w="1352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5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z</a:t>
            </a:r>
          </a:p>
        </p:txBody>
      </p:sp>
      <p:sp>
        <p:nvSpPr>
          <p:cNvPr id="36" name="fig10_4"/>
          <p:cNvSpPr/>
          <p:nvPr/>
        </p:nvSpPr>
        <p:spPr>
          <a:xfrm>
            <a:off x="2634112" y="3745382"/>
            <a:ext cx="908913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잠재</a:t>
            </a:r>
          </a:p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노이즈</a:t>
            </a:r>
          </a:p>
        </p:txBody>
      </p:sp>
      <p:sp>
        <p:nvSpPr>
          <p:cNvPr id="37" name="fig10_5"/>
          <p:cNvSpPr/>
          <p:nvPr/>
        </p:nvSpPr>
        <p:spPr>
          <a:xfrm>
            <a:off x="3452134" y="3264956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8" name="fig10_6"/>
          <p:cNvSpPr/>
          <p:nvPr/>
        </p:nvSpPr>
        <p:spPr>
          <a:xfrm>
            <a:off x="3763761" y="2654686"/>
            <a:ext cx="2077516" cy="2103485"/>
          </a:xfrm>
          <a:prstGeom prst="roundRect">
            <a:avLst/>
          </a:prstGeom>
          <a:solidFill>
            <a:srgbClr val="F6E3E6"/>
          </a:solidFill>
          <a:ln w="13525">
            <a:solidFill>
              <a:srgbClr val="D8A7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9" name="fig10_7"/>
          <p:cNvSpPr/>
          <p:nvPr/>
        </p:nvSpPr>
        <p:spPr>
          <a:xfrm>
            <a:off x="3763761" y="2693639"/>
            <a:ext cx="207751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 (patch 방식)</a:t>
            </a:r>
          </a:p>
        </p:txBody>
      </p:sp>
      <p:sp>
        <p:nvSpPr>
          <p:cNvPr id="40" name="fig10_8"/>
          <p:cNvSpPr/>
          <p:nvPr/>
        </p:nvSpPr>
        <p:spPr>
          <a:xfrm>
            <a:off x="3880622" y="3044220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G₁ (PQC)</a:t>
            </a:r>
          </a:p>
        </p:txBody>
      </p:sp>
      <p:sp>
        <p:nvSpPr>
          <p:cNvPr id="41" name="fig10_9"/>
          <p:cNvSpPr/>
          <p:nvPr/>
        </p:nvSpPr>
        <p:spPr>
          <a:xfrm>
            <a:off x="4945349" y="3148096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2" name="fig10_10"/>
          <p:cNvSpPr/>
          <p:nvPr/>
        </p:nvSpPr>
        <p:spPr>
          <a:xfrm>
            <a:off x="5179070" y="3122127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3" name="fig10_11"/>
          <p:cNvSpPr/>
          <p:nvPr/>
        </p:nvSpPr>
        <p:spPr>
          <a:xfrm>
            <a:off x="3880622" y="3498677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G₂ (PQC)</a:t>
            </a:r>
          </a:p>
        </p:txBody>
      </p:sp>
      <p:sp>
        <p:nvSpPr>
          <p:cNvPr id="44" name="fig10_12"/>
          <p:cNvSpPr/>
          <p:nvPr/>
        </p:nvSpPr>
        <p:spPr>
          <a:xfrm>
            <a:off x="4945349" y="3602553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5" name="fig10_13"/>
          <p:cNvSpPr/>
          <p:nvPr/>
        </p:nvSpPr>
        <p:spPr>
          <a:xfrm>
            <a:off x="5179070" y="3576584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6" name="fig10_14"/>
          <p:cNvSpPr/>
          <p:nvPr/>
        </p:nvSpPr>
        <p:spPr>
          <a:xfrm>
            <a:off x="3880622" y="4199839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G_N (PQC)</a:t>
            </a:r>
          </a:p>
        </p:txBody>
      </p:sp>
      <p:sp>
        <p:nvSpPr>
          <p:cNvPr id="47" name="fig10_15"/>
          <p:cNvSpPr/>
          <p:nvPr/>
        </p:nvSpPr>
        <p:spPr>
          <a:xfrm>
            <a:off x="4945349" y="4303715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8" name="fig10_16"/>
          <p:cNvSpPr/>
          <p:nvPr/>
        </p:nvSpPr>
        <p:spPr>
          <a:xfrm>
            <a:off x="5179070" y="4277746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49" name="fig10_17"/>
          <p:cNvSpPr/>
          <p:nvPr/>
        </p:nvSpPr>
        <p:spPr>
          <a:xfrm>
            <a:off x="3880622" y="3875227"/>
            <a:ext cx="1012789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3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50" name="fig10_18"/>
          <p:cNvSpPr/>
          <p:nvPr/>
        </p:nvSpPr>
        <p:spPr>
          <a:xfrm>
            <a:off x="5101163" y="3875227"/>
            <a:ext cx="71414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patch</a:t>
            </a:r>
          </a:p>
        </p:txBody>
      </p:sp>
      <p:sp>
        <p:nvSpPr>
          <p:cNvPr id="51" name="fig10_19"/>
          <p:cNvSpPr/>
          <p:nvPr/>
        </p:nvSpPr>
        <p:spPr>
          <a:xfrm>
            <a:off x="5906200" y="3589568"/>
            <a:ext cx="285658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52" name="fig10_20"/>
          <p:cNvSpPr/>
          <p:nvPr/>
        </p:nvSpPr>
        <p:spPr>
          <a:xfrm>
            <a:off x="6256781" y="3329879"/>
            <a:ext cx="779068" cy="779068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53" name="fig10_21"/>
          <p:cNvSpPr/>
          <p:nvPr/>
        </p:nvSpPr>
        <p:spPr>
          <a:xfrm>
            <a:off x="6490502" y="3524646"/>
            <a:ext cx="311627" cy="389534"/>
          </a:xfrm>
          <a:prstGeom prst="ellipse">
            <a:avLst/>
          </a:prstGeom>
          <a:solidFill>
            <a:srgbClr val="CFC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54" name="fig10_22"/>
          <p:cNvSpPr/>
          <p:nvPr/>
        </p:nvSpPr>
        <p:spPr>
          <a:xfrm>
            <a:off x="6113952" y="4147901"/>
            <a:ext cx="1064727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 이미지</a:t>
            </a:r>
          </a:p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 결합)</a:t>
            </a:r>
          </a:p>
        </p:txBody>
      </p:sp>
      <p:sp>
        <p:nvSpPr>
          <p:cNvPr id="55" name="fig10_23"/>
          <p:cNvSpPr/>
          <p:nvPr/>
        </p:nvSpPr>
        <p:spPr>
          <a:xfrm>
            <a:off x="7087788" y="3589568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56" name="fig10_24"/>
          <p:cNvSpPr/>
          <p:nvPr/>
        </p:nvSpPr>
        <p:spPr>
          <a:xfrm>
            <a:off x="7399416" y="3174065"/>
            <a:ext cx="1233525" cy="1090696"/>
          </a:xfrm>
          <a:prstGeom prst="roundRect">
            <a:avLst/>
          </a:prstGeom>
          <a:solidFill>
            <a:srgbClr val="FFFFFF"/>
          </a:solidFill>
          <a:ln w="22542">
            <a:solidFill>
              <a:srgbClr val="1E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50" b="1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Discriminator</a:t>
            </a:r>
          </a:p>
          <a:p>
            <a:pPr algn="ctr"/>
            <a:r>
              <a:rPr sz="1050" b="1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(고전 FC</a:t>
            </a:r>
          </a:p>
          <a:p>
            <a:pPr algn="ctr"/>
            <a:r>
              <a:rPr sz="1050" b="1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신경망)</a:t>
            </a:r>
          </a:p>
        </p:txBody>
      </p:sp>
      <p:sp>
        <p:nvSpPr>
          <p:cNvPr id="57" name="fig10_25"/>
          <p:cNvSpPr/>
          <p:nvPr/>
        </p:nvSpPr>
        <p:spPr>
          <a:xfrm>
            <a:off x="8671895" y="3589568"/>
            <a:ext cx="207751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58" name="fig10_26"/>
          <p:cNvSpPr/>
          <p:nvPr/>
        </p:nvSpPr>
        <p:spPr>
          <a:xfrm>
            <a:off x="8905615" y="3355848"/>
            <a:ext cx="571317" cy="727130"/>
          </a:xfrm>
          <a:prstGeom prst="ellipse">
            <a:avLst/>
          </a:prstGeom>
          <a:solidFill>
            <a:srgbClr val="FFFFFF"/>
          </a:solidFill>
          <a:ln w="13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진짜</a:t>
            </a:r>
          </a:p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/가짜</a:t>
            </a:r>
          </a:p>
        </p:txBody>
      </p:sp>
      <p:sp>
        <p:nvSpPr>
          <p:cNvPr id="59" name="fig10_27"/>
          <p:cNvSpPr/>
          <p:nvPr/>
        </p:nvSpPr>
        <p:spPr>
          <a:xfrm>
            <a:off x="3763761" y="5121737"/>
            <a:ext cx="4869180" cy="51937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5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 (HAM10000 DF, 세그멘테이션 후)</a:t>
            </a:r>
          </a:p>
        </p:txBody>
      </p:sp>
      <p:sp>
        <p:nvSpPr>
          <p:cNvPr id="60" name="fig10_28"/>
          <p:cNvSpPr/>
          <p:nvPr/>
        </p:nvSpPr>
        <p:spPr>
          <a:xfrm>
            <a:off x="7866857" y="4342668"/>
            <a:ext cx="259689" cy="727130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61" name="fig10_29"/>
          <p:cNvSpPr/>
          <p:nvPr/>
        </p:nvSpPr>
        <p:spPr>
          <a:xfrm>
            <a:off x="8152516" y="4498482"/>
            <a:ext cx="1233525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real 샘플</a:t>
            </a:r>
          </a:p>
        </p:txBody>
      </p:sp>
      <p:sp>
        <p:nvSpPr>
          <p:cNvPr id="32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Fig. 10 구조를 도식으로 재구성: Andra et al., Quantum Machine Intelligence 7, 90 (2025)</a:t>
            </a:r>
          </a:p>
        </p:txBody>
      </p:sp>
    </p:spTree>
    <p:extLst>
      <p:ext uri="{BB962C8B-B14F-4D97-AF65-F5344CB8AC3E}">
        <p14:creationId xmlns:p14="http://schemas.microsoft.com/office/powerpoint/2010/main" val="3029255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Patch 방식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큐빗 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세트로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전체를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만들기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어려워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여러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개의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작은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회로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조각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(patch)을 나눠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1371600" cy="10058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506236"/>
            <a:ext cx="1371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PQC → patch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0058" y="2286000"/>
            <a:ext cx="1371600" cy="10058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20058" y="2506236"/>
            <a:ext cx="1371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0058" y="2788920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PQC → 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36" y="2286000"/>
            <a:ext cx="1371600" cy="10058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00036" y="2506236"/>
            <a:ext cx="1371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0036" y="2788920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PQC → 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80015" y="2286000"/>
            <a:ext cx="1371600" cy="10058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180015" y="2506236"/>
            <a:ext cx="1371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0015" y="2788920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PQC → patch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76808"/>
            <a:ext cx="1091153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 </a:t>
            </a:r>
            <a:r>
              <a:rPr lang="ko-KR" altLang="en-US" sz="1050" b="0" i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1050" b="0" i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: 16개 </a:t>
            </a:r>
            <a:r>
              <a:rPr lang="en-US" sz="1050" b="0" i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50" b="0" i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58687" y="4023360"/>
            <a:ext cx="274320" cy="457200"/>
          </a:xfrm>
          <a:prstGeom prst="downArrow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926080" y="4617720"/>
            <a:ext cx="6339535" cy="822960"/>
          </a:xfrm>
          <a:prstGeom prst="roundRect">
            <a:avLst>
              <a:gd name="adj" fmla="val 9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26080" y="4782312"/>
            <a:ext cx="6339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patch 1  +  patch 2  +  patch 3  +  patch 4  →  이어붙여 최종 이미지 벡터</a:t>
            </a:r>
          </a:p>
        </p:txBody>
      </p: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08AA32A2-85ED-4EDE-92D2-2106D0485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회로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= 3단계로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이루어진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하나의 변분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73152" cy="77724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① 노이즈 인코딩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무작위 각도를 RY 게이트로 각 큐빗에 회전시켜 입력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17520"/>
            <a:ext cx="73152" cy="77724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② 변분 레이어 (반복)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5235"/>
            <a:ext cx="10637215" cy="2098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 가능한 RY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인접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큐빗 CZ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얽힘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각도가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학습되는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가중치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endParaRPr sz="12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73152" cy="777240"/>
          </a:xfrm>
          <a:prstGeom prst="rect">
            <a:avLst/>
          </a:prstGeom>
          <a:solidFill>
            <a:srgbClr val="9C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15968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 큐빗의 확률분포(qml.probs)를 읽어 patch로 사용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83480"/>
            <a:ext cx="10881360" cy="256032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0345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020056"/>
            <a:ext cx="79095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239512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6694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266944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7 + 보조(ancilla) 1 = 총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95544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0463"/>
            <a:ext cx="251460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522976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16개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51576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777240" y="5779008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9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깊이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 depth)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007608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603504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학습률 / epoch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6035040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0.1 / 2,000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14F97062-AC7F-4D91-8952-496A0A3D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B3F5BD-7B5E-46FA-84E2-735037CE8760}"/>
              </a:ext>
            </a:extLst>
          </p:cNvPr>
          <p:cNvSpPr txBox="1"/>
          <p:nvPr/>
        </p:nvSpPr>
        <p:spPr>
          <a:xfrm>
            <a:off x="3520440" y="5779008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</a:t>
            </a:r>
            <a:endParaRPr sz="9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 + 평가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프로토콜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"QGAN이 잘 만들었는지"는 생성 이미지 직접 확인 대신 별도 CNN 분류기 성능으로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(Table 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평가용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CNN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21729CC7-4D84-44D1-BE95-7F066969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24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내용 출처: Andra et al., Quantum Machine Intelligence 7, 90 (2025), Table 1·2·4</a:t>
            </a:r>
          </a:p>
        </p:txBody>
      </p:sp>
      <p:graphicFrame>
        <p:nvGraphicFramePr>
          <p:cNvPr id="25" name="andra_table"/>
          <p:cNvGraphicFramePr>
            <a:graphicFrameLocks noGrp="1"/>
          </p:cNvGraphicFramePr>
          <p:nvPr/>
        </p:nvGraphicFramePr>
        <p:xfrm>
          <a:off x="914400" y="2788920"/>
          <a:ext cx="468172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7860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4 · Discriminator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Layer 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(완전연결)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출력층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깊이 (생성자)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5×10⁻³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Epoch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6" name="andra_table"/>
          <p:cNvGraphicFramePr>
            <a:graphicFrameLocks noGrp="1"/>
          </p:cNvGraphicFramePr>
          <p:nvPr/>
        </p:nvGraphicFramePr>
        <p:xfrm>
          <a:off x="6601968" y="2724912"/>
          <a:ext cx="4681728" cy="13121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78608"/>
              </a:tblGrid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1 · CNN 학습 설정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15×10⁻⁴ (=1.5×10⁻³)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Optimizer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레이어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파라미터 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460k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andra_table"/>
          <p:cNvGraphicFramePr>
            <a:graphicFrameLocks noGrp="1"/>
          </p:cNvGraphicFramePr>
          <p:nvPr/>
        </p:nvGraphicFramePr>
        <p:xfrm>
          <a:off x="6601968" y="4142232"/>
          <a:ext cx="4681728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78608"/>
              </a:tblGrid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2 · Conv 레이어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Kernel 크기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Stride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레이어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Max Pooling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2×2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① - DF vs NV 분류 성능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6: QGAN 증강 후 AUC-ROC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089529"/>
            <a:ext cx="3657600" cy="175679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1680" y="2769489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0.953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 전(원본만)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2526030"/>
            <a:ext cx="3657600" cy="232029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22059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0.970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후(QGAN 추가)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A532C628-1203-47D2-8E5B-1C6B5ABB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109087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※ 차이를 보이기 위해 막대는 0.90 기준선부터 표시함 (0 기준이면 두 막대 높이 차이는 약 2%)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② -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효과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세그멘테이션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이미지에서만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효과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있음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5257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전처리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31136"/>
            <a:ext cx="5166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 증강 효과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6207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원본/리사이즈 이미지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6207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2014"/>
                </a:solidFill>
                <a:latin typeface="Noto Sans KR"/>
                <a:ea typeface="Noto Sans KR"/>
                <a:cs typeface="Noto Sans KR"/>
              </a:rPr>
              <a:t>증강 효과 없음 - 오히려 성능 저하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세그멘테이션(K-means+FCM) 전처리 이미지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0215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효과 있음 - 성능 개선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120640" cy="118872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58114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80824"/>
            <a:ext cx="4663440" cy="216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실제로는 배경 노이즈를 제거한(세그멘테이션) 입력에서만 생성 품질이 분류 성능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개선으로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이어짐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46F001B1-6FCE-4887-A9DC-A30AC565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0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파이프라인을 도식으로 재구성: Andra et al., Quantum Machine Intelligence 7, 90 (2025)</a:t>
            </a:r>
          </a:p>
        </p:txBody>
      </p:sp>
      <p:sp>
        <p:nvSpPr>
          <p:cNvPr id="21" name="pipe13_1"/>
          <p:cNvSpPr/>
          <p:nvPr/>
        </p:nvSpPr>
        <p:spPr>
          <a:xfrm>
            <a:off x="6112764" y="4389120"/>
            <a:ext cx="1129284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이미지(raw)</a:t>
            </a:r>
          </a:p>
        </p:txBody>
      </p:sp>
      <p:sp>
        <p:nvSpPr>
          <p:cNvPr id="22" name="pipe13_2"/>
          <p:cNvSpPr/>
          <p:nvPr/>
        </p:nvSpPr>
        <p:spPr>
          <a:xfrm>
            <a:off x="6231636" y="4662525"/>
            <a:ext cx="891540" cy="594360"/>
          </a:xfrm>
          <a:prstGeom prst="roundRect">
            <a:avLst/>
          </a:prstGeom>
          <a:solidFill>
            <a:srgbClr val="F1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23" name="pipe13_3"/>
          <p:cNvSpPr/>
          <p:nvPr/>
        </p:nvSpPr>
        <p:spPr>
          <a:xfrm>
            <a:off x="6528816" y="4805172"/>
            <a:ext cx="309067" cy="285292"/>
          </a:xfrm>
          <a:prstGeom prst="ellipse">
            <a:avLst/>
          </a:prstGeom>
          <a:solidFill>
            <a:srgbClr val="8C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24" name="pipe13_4"/>
          <p:cNvSpPr/>
          <p:nvPr/>
        </p:nvSpPr>
        <p:spPr>
          <a:xfrm>
            <a:off x="7194499" y="4888382"/>
            <a:ext cx="1283817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25" name="pipe13_5"/>
          <p:cNvSpPr/>
          <p:nvPr/>
        </p:nvSpPr>
        <p:spPr>
          <a:xfrm>
            <a:off x="7242048" y="4650638"/>
            <a:ext cx="1212494" cy="2139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원본 그대로</a:t>
            </a:r>
          </a:p>
        </p:txBody>
      </p:sp>
      <p:sp>
        <p:nvSpPr>
          <p:cNvPr id="26" name="pipe13_6"/>
          <p:cNvSpPr/>
          <p:nvPr/>
        </p:nvSpPr>
        <p:spPr>
          <a:xfrm>
            <a:off x="8549640" y="4579315"/>
            <a:ext cx="1188720" cy="855878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Quantum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GAN</a:t>
            </a:r>
          </a:p>
        </p:txBody>
      </p:sp>
      <p:sp>
        <p:nvSpPr>
          <p:cNvPr id="27" name="pipe13_7"/>
          <p:cNvSpPr/>
          <p:nvPr/>
        </p:nvSpPr>
        <p:spPr>
          <a:xfrm>
            <a:off x="9785908" y="4686300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28" name="pipe13_8"/>
          <p:cNvSpPr/>
          <p:nvPr/>
        </p:nvSpPr>
        <p:spPr>
          <a:xfrm>
            <a:off x="9785908" y="5185562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29" name="pipe13_9"/>
          <p:cNvSpPr/>
          <p:nvPr/>
        </p:nvSpPr>
        <p:spPr>
          <a:xfrm>
            <a:off x="10118750" y="4579315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이미지</a:t>
            </a:r>
          </a:p>
        </p:txBody>
      </p:sp>
      <p:sp>
        <p:nvSpPr>
          <p:cNvPr id="30" name="pipe13_10"/>
          <p:cNvSpPr/>
          <p:nvPr/>
        </p:nvSpPr>
        <p:spPr>
          <a:xfrm>
            <a:off x="10118750" y="5078577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세그멘테이션</a:t>
            </a:r>
          </a:p>
        </p:txBody>
      </p:sp>
      <p:sp>
        <p:nvSpPr>
          <p:cNvPr id="31" name="pipe13_11"/>
          <p:cNvSpPr/>
          <p:nvPr/>
        </p:nvSpPr>
        <p:spPr>
          <a:xfrm>
            <a:off x="6576364" y="5304434"/>
            <a:ext cx="213969" cy="380390"/>
          </a:xfrm>
          <a:prstGeom prst="down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2" name="pipe13_12"/>
          <p:cNvSpPr/>
          <p:nvPr/>
        </p:nvSpPr>
        <p:spPr>
          <a:xfrm>
            <a:off x="6112764" y="5732373"/>
            <a:ext cx="1723644" cy="47548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K-means + Fuzzy C-Means</a:t>
            </a:r>
          </a:p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클러스터링</a:t>
            </a:r>
          </a:p>
        </p:txBody>
      </p:sp>
      <p:sp>
        <p:nvSpPr>
          <p:cNvPr id="33" name="pipe13_13"/>
          <p:cNvSpPr/>
          <p:nvPr/>
        </p:nvSpPr>
        <p:spPr>
          <a:xfrm>
            <a:off x="7895844" y="5886907"/>
            <a:ext cx="475488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4" name="pipe13_14"/>
          <p:cNvSpPr/>
          <p:nvPr/>
        </p:nvSpPr>
        <p:spPr>
          <a:xfrm>
            <a:off x="8573414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5" name="pipe13_15"/>
          <p:cNvSpPr/>
          <p:nvPr/>
        </p:nvSpPr>
        <p:spPr>
          <a:xfrm>
            <a:off x="8710117" y="5815584"/>
            <a:ext cx="154533" cy="3090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6" name="pipe13_16"/>
          <p:cNvSpPr/>
          <p:nvPr/>
        </p:nvSpPr>
        <p:spPr>
          <a:xfrm>
            <a:off x="9048902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7" name="pipe13_17"/>
          <p:cNvSpPr/>
          <p:nvPr/>
        </p:nvSpPr>
        <p:spPr>
          <a:xfrm>
            <a:off x="9144000" y="5863132"/>
            <a:ext cx="237744" cy="213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  <p:sp>
        <p:nvSpPr>
          <p:cNvPr id="38" name="pipe13_18"/>
          <p:cNvSpPr/>
          <p:nvPr/>
        </p:nvSpPr>
        <p:spPr>
          <a:xfrm>
            <a:off x="9560052" y="5851245"/>
            <a:ext cx="1069848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세그멘테이션 마스크</a:t>
            </a:r>
          </a:p>
        </p:txBody>
      </p:sp>
      <p:sp>
        <p:nvSpPr>
          <p:cNvPr id="39" name="pipe13_19"/>
          <p:cNvSpPr/>
          <p:nvPr/>
        </p:nvSpPr>
        <p:spPr>
          <a:xfrm>
            <a:off x="9025128" y="5470855"/>
            <a:ext cx="213969" cy="261518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③ - 고전 GAN과의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11: 조건에 따라 승자 교체 - "양자가 항상 이긴다"는 아님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2971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2231136"/>
            <a:ext cx="4069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정확도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231136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6207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원본(raw) 이미지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306619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 (</a:t>
            </a:r>
            <a:r>
              <a:rPr sz="11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0.98)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86207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열세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215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세그멘테이션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150" b="1" i="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977640" y="370627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(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0.96 vs 0.95)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50215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AUC는 0.97로 동률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08328"/>
            <a:ext cx="1036289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1050" b="1" i="0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4595032"/>
            <a:ext cx="10362895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"고전 대비 무조건적 속도·성능 우위"가 성공 기준이 아니라,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(1) 문제→양자 파이프라인의 실제 성립 여부, (2) 어떤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조건에서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고전과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동등·우위인지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(crossover 조건) 평가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569153E-3FA8-4A4A-81BF-B654814CD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 ② MediQ-GAN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21078"/>
            <a:ext cx="10911535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듀얼스트림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 아키텍처 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양자화한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생성</a:t>
            </a:r>
            <a:r>
              <a:rPr 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논문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377440"/>
            <a:ext cx="835121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 (arXiv:2506.21015)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기여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5675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둘로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나눠 병렬 처리 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융합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(skip-connection) -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의료영상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3종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356910"/>
            <a:ext cx="8351215" cy="475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DCGAN·WGAN-GP·StyleGAN2-ADA 등 고전 SOTA 및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MosaiQ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(양자)와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클래스별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FID·LPIPS로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비교, </a:t>
            </a:r>
            <a:endParaRPr lang="en-US"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I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BM 하드웨어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실행까지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 강의에서의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3963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양자"인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대표 사례 - layer-level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CBD2A32B-6676-494B-B5E3-9E10F6DB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듀얼스트림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고전 스트림과 양자 스트림을 함께 학습해 합치는 구조를 도식으로 재구성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868680" cy="196596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2331720"/>
            <a:ext cx="813815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z(노이즈)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⊕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프로토타입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0876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150876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65960" y="2331720"/>
            <a:ext cx="21488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20824" y="233172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스트림</a:t>
            </a:r>
          </a:p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(CNN / MLP)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3429000"/>
            <a:ext cx="21488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20824" y="342900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스트림</a:t>
            </a:r>
          </a:p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(VQC, 5×16큐빗)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0624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420624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63440" y="2331720"/>
            <a:ext cx="1600200" cy="1965960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09159" y="2331720"/>
            <a:ext cx="1508760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채널 결합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(concat)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16+16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=32채널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5507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812279" y="2880360"/>
            <a:ext cx="12344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48855" y="2880360"/>
            <a:ext cx="11612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디코더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3815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59" y="2880360"/>
            <a:ext cx="141732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31935" y="2880360"/>
            <a:ext cx="134416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이미지</a:t>
            </a:r>
          </a:p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(고해상도)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411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561319" y="2880360"/>
            <a:ext cx="12344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97895" y="3233908"/>
            <a:ext cx="1161288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Discriminator</a:t>
            </a:r>
            <a:endParaRPr sz="105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0561319" y="4160520"/>
            <a:ext cx="1234440" cy="65150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88751" y="4160520"/>
            <a:ext cx="1179576" cy="6515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</a:t>
            </a:r>
          </a:p>
        </p:txBody>
      </p:sp>
      <p:sp>
        <p:nvSpPr>
          <p:cNvPr id="28" name="Up Arrow 27"/>
          <p:cNvSpPr/>
          <p:nvPr/>
        </p:nvSpPr>
        <p:spPr>
          <a:xfrm>
            <a:off x="10995660" y="3776472"/>
            <a:ext cx="365760" cy="347472"/>
          </a:xfrm>
          <a:prstGeom prst="up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91672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- 16 site 중 5개만 실제 양자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나머지 11칸은 classical 1×1 conv의 편향값만 받음 (공식 GitHub 코드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2075687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 4×4 (16 site)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2860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688336" y="2331720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34056" y="2353039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site0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688336" y="2675534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34056" y="2696853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site4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2(16큐빗,L=8)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688336" y="3019348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34056" y="3040667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site8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3(16큐빗,L=8)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688336" y="3363163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34056" y="3384482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site11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688336" y="3706977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34056" y="3728296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site15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5129784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2120" y="2075687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출력 4×4 (5칸만 값 존재)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3152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7717536" y="2331720"/>
            <a:ext cx="1920240" cy="1673352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790688" y="2949105"/>
            <a:ext cx="1773936" cy="438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1×1 conv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(완전 classical,</a:t>
            </a:r>
            <a:r>
              <a:rPr lang="en-US"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학습됨</a:t>
            </a:r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)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5채널→16채널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9747503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10149839" y="2331720"/>
            <a:ext cx="1493520" cy="1673352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0222991" y="3083757"/>
            <a:ext cx="1347216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F</a:t>
            </a:r>
            <a:r>
              <a:rPr sz="1100" b="1" i="0" baseline="-2500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q</a:t>
            </a:r>
            <a:r>
              <a:rPr lang="en-US" sz="1100" b="1" i="0" baseline="-25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∈</a:t>
            </a:r>
            <a:r>
              <a:rPr lang="en-US"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R^</a:t>
            </a:r>
            <a:r>
              <a:rPr sz="1100" b="1" i="0" baseline="30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(16×4×4)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4462272"/>
            <a:ext cx="11091672" cy="914400"/>
          </a:xfrm>
          <a:prstGeom prst="round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2960" y="4535424"/>
            <a:ext cx="10515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site 선택: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linspace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(0,15,5)round → [0, 4, 8, 11, 15] (row×4+col).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그 </a:t>
            </a:r>
            <a:r>
              <a:rPr lang="en-US"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</a:t>
            </a:r>
            <a:r>
              <a:rPr lang="en-US"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4×4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맵에서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0으로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남음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algn="l"/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1×1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conv는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칸별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독립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처리(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이웃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안 봄) -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값이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있는 5칸만 진짜 양자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스칼라를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16채널로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투영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편향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(bias)뿐.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이후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8×8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업샘플에서만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보간으로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살짝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i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섞임</a:t>
            </a:r>
            <a:r>
              <a:rPr sz="1000" b="0" i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1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4CE80AE-E4EF-46C1-9177-3F38DECAF262}"/>
              </a:ext>
            </a:extLst>
          </p:cNvPr>
          <p:cNvGrpSpPr/>
          <p:nvPr/>
        </p:nvGrpSpPr>
        <p:grpSpPr>
          <a:xfrm>
            <a:off x="3574048" y="4434840"/>
            <a:ext cx="5043600" cy="1874520"/>
            <a:chOff x="3215192" y="4210843"/>
            <a:chExt cx="5761309" cy="2141266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B77E0A6-834D-41EE-8765-CA5213CFE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6412CBD-73F9-47DB-BE83-3ACF0336E3B4}"/>
                </a:ext>
              </a:extLst>
            </p:cNvPr>
            <p:cNvSpPr/>
            <p:nvPr/>
          </p:nvSpPr>
          <p:spPr>
            <a:xfrm>
              <a:off x="6602984" y="4381718"/>
              <a:ext cx="597119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998450A-C97A-474F-84A6-864159CC32F8}"/>
                </a:ext>
              </a:extLst>
            </p:cNvPr>
            <p:cNvSpPr/>
            <p:nvPr/>
          </p:nvSpPr>
          <p:spPr>
            <a:xfrm>
              <a:off x="7352503" y="4381718"/>
              <a:ext cx="760983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분류체계 - "어디까지가 양자인가"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생성모델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이라도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전체/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일부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여부로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근본적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구분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모델 레벨 하이브리드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HAM10000 QGAN, MosaiQ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처음부터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PCA 등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양자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구성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24447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905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8767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레이어 레벨 하이브리드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MediQ-GAN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병렬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분기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skip-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connection으로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concat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디코딩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레이어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안에서도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양자·고전이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공존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6BA614E7-110E-451F-B726-D0EEFB1C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듀얼스트림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입력을 절반씩 나눠 고전 인코더와 양자회로(VQC)가 병렬 처리 후 하나로 합침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스트림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classical encoder / conv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53047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524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53047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스트림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 × 16큐빗 VQC (8층 깊이)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02203" y="3429000"/>
            <a:ext cx="274320" cy="36576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Down Arrow 11"/>
          <p:cNvSpPr/>
          <p:nvPr/>
        </p:nvSpPr>
        <p:spPr>
          <a:xfrm>
            <a:off x="8915171" y="3429000"/>
            <a:ext cx="274320" cy="365760"/>
          </a:xfrm>
          <a:prstGeom prst="downArrow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59"/>
            <a:ext cx="1091153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skip-connection 융합 (concat)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58687" y="4754880"/>
            <a:ext cx="274320" cy="365760"/>
          </a:xfrm>
          <a:prstGeom prst="downArrow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5257800"/>
            <a:ext cx="6339535" cy="594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5330952"/>
            <a:ext cx="6339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고전 디코더 → 생성 이미지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인코딩: angle encoding(Rx→Ry) · 학습레이어: Ry+CNOT 반복 · 측정: X-basis readout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F0B3A9D5-3519-4377-9DB2-35A3E7065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2223941-1ED2-40BB-A9BD-AF2C292EB5DD}"/>
              </a:ext>
            </a:extLst>
          </p:cNvPr>
          <p:cNvGrpSpPr/>
          <p:nvPr/>
        </p:nvGrpSpPr>
        <p:grpSpPr>
          <a:xfrm>
            <a:off x="6433553" y="189053"/>
            <a:ext cx="5237554" cy="1946605"/>
            <a:chOff x="3215192" y="4210843"/>
            <a:chExt cx="5761309" cy="2141266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9F18A8B7-CA8E-43D5-A2A4-59EBA8FEB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958993D-932D-4CAD-9733-44D12A713670}"/>
                </a:ext>
              </a:extLst>
            </p:cNvPr>
            <p:cNvSpPr/>
            <p:nvPr/>
          </p:nvSpPr>
          <p:spPr>
            <a:xfrm>
              <a:off x="6602984" y="4381718"/>
              <a:ext cx="597119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5269EF8-018B-4397-9A03-586D39EBE807}"/>
                </a:ext>
              </a:extLst>
            </p:cNvPr>
            <p:cNvSpPr/>
            <p:nvPr/>
          </p:nvSpPr>
          <p:spPr>
            <a:xfrm>
              <a:off x="7352503" y="4381718"/>
              <a:ext cx="760983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sp>
        <p:nvSpPr>
          <p:cNvPr id="26" name="code_note"/>
          <p:cNvSpPr txBox="1"/>
          <p:nvPr/>
        </p:nvSpPr>
        <p:spPr>
          <a:xfrm>
            <a:off x="640080" y="6428232"/>
            <a:ext cx="50292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※ 그림은 논문 기준(Rx→Ry·CNOT), 공식 코드는 RY→RX·CZ - 3일차 데모는 코드 기준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·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VQA·QAOA와의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파라미터화된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회로 + 고전 최적화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 공유, 인코딩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대상과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목적은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상이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2B41455-1BDF-4C31-AA4B-A1A1E5E3C001}"/>
              </a:ext>
            </a:extLst>
          </p:cNvPr>
          <p:cNvGrpSpPr/>
          <p:nvPr/>
        </p:nvGrpSpPr>
        <p:grpSpPr>
          <a:xfrm>
            <a:off x="640080" y="5247805"/>
            <a:ext cx="10911535" cy="1050000"/>
            <a:chOff x="640080" y="5733120"/>
            <a:chExt cx="10911535" cy="1050000"/>
          </a:xfrm>
        </p:grpSpPr>
        <p:sp>
          <p:nvSpPr>
            <p:cNvPr id="17" name="Rounded Rectangle 16"/>
            <p:cNvSpPr/>
            <p:nvPr/>
          </p:nvSpPr>
          <p:spPr>
            <a:xfrm>
              <a:off x="640080" y="5733120"/>
              <a:ext cx="10911535" cy="1050000"/>
            </a:xfrm>
            <a:prstGeom prst="roundRect">
              <a:avLst/>
            </a:prstGeom>
            <a:solidFill>
              <a:srgbClr val="EDE7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5870280"/>
              <a:ext cx="10362895" cy="2743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1" i="0">
                  <a:solidFill>
                    <a:srgbClr val="5B3E8C"/>
                  </a:solidFill>
                  <a:latin typeface="Noto Sans KR"/>
                  <a:ea typeface="Noto Sans KR"/>
                  <a:cs typeface="Noto Sans KR"/>
                </a:rPr>
                <a:t>공통점 vs 차이점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6164447"/>
              <a:ext cx="10362895" cy="46166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공통점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회로 → 측정 → 고전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optimizer가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파라미터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(hybrid loop)</a:t>
              </a:r>
              <a:endPara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차이점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인코딩 대상(데이터 vs 문제)과 학습 목표</a:t>
              </a:r>
            </a:p>
          </p:txBody>
        </p:sp>
      </p:grp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B7369B8-CDF0-433E-AF9E-F57FD482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4C08528-3A1E-4D58-8DFF-39B30F290BC0}"/>
              </a:ext>
            </a:extLst>
          </p:cNvPr>
          <p:cNvGrpSpPr/>
          <p:nvPr/>
        </p:nvGrpSpPr>
        <p:grpSpPr>
          <a:xfrm>
            <a:off x="640080" y="1939062"/>
            <a:ext cx="10881360" cy="3250199"/>
            <a:chOff x="640080" y="2103120"/>
            <a:chExt cx="10881360" cy="3575219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10881360" cy="530000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2130551"/>
              <a:ext cx="224028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개념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91840" y="2130551"/>
              <a:ext cx="763524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정의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633120"/>
              <a:ext cx="10881360" cy="9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77240" y="286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Quantum Algorithm)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291840" y="295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양자회로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+ 고전 최적화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루프를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사용하는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알고리즘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상위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범주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533120"/>
              <a:ext cx="10881360" cy="1000000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77240" y="381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VQC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 Quantum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Classifier/Circuit)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91840" y="390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분류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지도학습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목적의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구체적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구현 - 데이터 인코딩 + 학습 가능한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ansatz로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구성 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MediQ-GAN의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양자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아키텍처 방식</a:t>
              </a:r>
              <a:r>
                <a:rPr lang="en-US" altLang="ko-KR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40080" y="4533120"/>
              <a:ext cx="10881360" cy="10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7240" y="4817675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QAOA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(Quantum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Approximate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Optimization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Algorithm)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91840" y="4796131"/>
              <a:ext cx="7635240" cy="4739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조합최적화 문제(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MaxCut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등)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등 목적</a:t>
              </a:r>
              <a:endParaRPr lang="en-US" altLang="ko-KR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- cost layer(γ)와 mixer layer(β)를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번갈아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적용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sp>
        <p:nvSpPr>
          <p:cNvPr id="23" name="qaoa_1"/>
          <p:cNvSpPr/>
          <p:nvPr/>
        </p:nvSpPr>
        <p:spPr>
          <a:xfrm>
            <a:off x="7360920" y="4334256"/>
            <a:ext cx="2651760" cy="713232"/>
          </a:xfrm>
          <a:prstGeom prst="roundRect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24" name="qaoa_2"/>
          <p:cNvSpPr/>
          <p:nvPr/>
        </p:nvSpPr>
        <p:spPr>
          <a:xfrm>
            <a:off x="10049256" y="4626864"/>
            <a:ext cx="329184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l"/>
            <a:r>
              <a:rPr sz="8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× p</a:t>
            </a:r>
          </a:p>
        </p:txBody>
      </p:sp>
      <p:sp>
        <p:nvSpPr>
          <p:cNvPr id="25" name="qaoa_3"/>
          <p:cNvSpPr/>
          <p:nvPr/>
        </p:nvSpPr>
        <p:spPr>
          <a:xfrm>
            <a:off x="6629400" y="4361688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q0</a:t>
            </a:r>
          </a:p>
        </p:txBody>
      </p:sp>
      <p:sp>
        <p:nvSpPr>
          <p:cNvPr id="26" name="qaoa_4"/>
          <p:cNvSpPr/>
          <p:nvPr/>
        </p:nvSpPr>
        <p:spPr>
          <a:xfrm>
            <a:off x="6903720" y="4420210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27" name="qaoa_5"/>
          <p:cNvSpPr/>
          <p:nvPr/>
        </p:nvSpPr>
        <p:spPr>
          <a:xfrm>
            <a:off x="6629400" y="4535424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q1</a:t>
            </a:r>
          </a:p>
        </p:txBody>
      </p:sp>
      <p:sp>
        <p:nvSpPr>
          <p:cNvPr id="28" name="qaoa_6"/>
          <p:cNvSpPr/>
          <p:nvPr/>
        </p:nvSpPr>
        <p:spPr>
          <a:xfrm>
            <a:off x="6903720" y="4593946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29" name="qaoa_7"/>
          <p:cNvSpPr/>
          <p:nvPr/>
        </p:nvSpPr>
        <p:spPr>
          <a:xfrm>
            <a:off x="6629400" y="4709160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q2</a:t>
            </a:r>
          </a:p>
        </p:txBody>
      </p:sp>
      <p:sp>
        <p:nvSpPr>
          <p:cNvPr id="30" name="qaoa_8"/>
          <p:cNvSpPr/>
          <p:nvPr/>
        </p:nvSpPr>
        <p:spPr>
          <a:xfrm>
            <a:off x="6903720" y="4767682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31" name="qaoa_9"/>
          <p:cNvSpPr/>
          <p:nvPr/>
        </p:nvSpPr>
        <p:spPr>
          <a:xfrm>
            <a:off x="6629400" y="4882896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q3</a:t>
            </a:r>
          </a:p>
        </p:txBody>
      </p:sp>
      <p:sp>
        <p:nvSpPr>
          <p:cNvPr id="32" name="qaoa_10"/>
          <p:cNvSpPr/>
          <p:nvPr/>
        </p:nvSpPr>
        <p:spPr>
          <a:xfrm>
            <a:off x="6903720" y="4941418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33" name="qaoa_11"/>
          <p:cNvSpPr/>
          <p:nvPr/>
        </p:nvSpPr>
        <p:spPr>
          <a:xfrm>
            <a:off x="6903720" y="4206240"/>
            <a:ext cx="41148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초기화</a:t>
            </a:r>
          </a:p>
        </p:txBody>
      </p:sp>
      <p:sp>
        <p:nvSpPr>
          <p:cNvPr id="34" name="qaoa_12"/>
          <p:cNvSpPr/>
          <p:nvPr/>
        </p:nvSpPr>
        <p:spPr>
          <a:xfrm>
            <a:off x="7406640" y="4206240"/>
            <a:ext cx="173736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비용 층(γ) - 간선마다 ZZ 상호작용</a:t>
            </a:r>
          </a:p>
        </p:txBody>
      </p:sp>
      <p:sp>
        <p:nvSpPr>
          <p:cNvPr id="35" name="qaoa_13"/>
          <p:cNvSpPr/>
          <p:nvPr/>
        </p:nvSpPr>
        <p:spPr>
          <a:xfrm>
            <a:off x="9052560" y="4206240"/>
            <a:ext cx="566928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믹서 층(β)</a:t>
            </a:r>
          </a:p>
        </p:txBody>
      </p:sp>
      <p:sp>
        <p:nvSpPr>
          <p:cNvPr id="36" name="qaoa_14"/>
          <p:cNvSpPr/>
          <p:nvPr/>
        </p:nvSpPr>
        <p:spPr>
          <a:xfrm>
            <a:off x="10378440" y="4206240"/>
            <a:ext cx="50292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측정</a:t>
            </a:r>
          </a:p>
        </p:txBody>
      </p:sp>
      <p:sp>
        <p:nvSpPr>
          <p:cNvPr id="37" name="qaoa_15"/>
          <p:cNvSpPr/>
          <p:nvPr/>
        </p:nvSpPr>
        <p:spPr>
          <a:xfrm>
            <a:off x="7004304" y="4357116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8" name="qaoa_16"/>
          <p:cNvSpPr/>
          <p:nvPr/>
        </p:nvSpPr>
        <p:spPr>
          <a:xfrm>
            <a:off x="7004304" y="4530852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9" name="qaoa_17"/>
          <p:cNvSpPr/>
          <p:nvPr/>
        </p:nvSpPr>
        <p:spPr>
          <a:xfrm>
            <a:off x="7004304" y="4704588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0" name="qaoa_18"/>
          <p:cNvSpPr/>
          <p:nvPr/>
        </p:nvSpPr>
        <p:spPr>
          <a:xfrm>
            <a:off x="7004304" y="4878324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1" name="qaoa_19"/>
          <p:cNvSpPr/>
          <p:nvPr/>
        </p:nvSpPr>
        <p:spPr>
          <a:xfrm>
            <a:off x="7629754" y="4425696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2" name="qaoa_20"/>
          <p:cNvSpPr/>
          <p:nvPr/>
        </p:nvSpPr>
        <p:spPr>
          <a:xfrm>
            <a:off x="760095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3" name="qaoa_21"/>
          <p:cNvSpPr/>
          <p:nvPr/>
        </p:nvSpPr>
        <p:spPr>
          <a:xfrm>
            <a:off x="760095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4" name="qaoa_22"/>
          <p:cNvSpPr/>
          <p:nvPr/>
        </p:nvSpPr>
        <p:spPr>
          <a:xfrm>
            <a:off x="7680960" y="4457700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5" name="qaoa_23"/>
          <p:cNvSpPr/>
          <p:nvPr/>
        </p:nvSpPr>
        <p:spPr>
          <a:xfrm>
            <a:off x="7629754" y="4773168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6" name="qaoa_24"/>
          <p:cNvSpPr/>
          <p:nvPr/>
        </p:nvSpPr>
        <p:spPr>
          <a:xfrm>
            <a:off x="760095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7" name="qaoa_25"/>
          <p:cNvSpPr/>
          <p:nvPr/>
        </p:nvSpPr>
        <p:spPr>
          <a:xfrm>
            <a:off x="760095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48" name="qaoa_26"/>
          <p:cNvSpPr/>
          <p:nvPr/>
        </p:nvSpPr>
        <p:spPr>
          <a:xfrm>
            <a:off x="7680960" y="4805172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9" name="qaoa_27"/>
          <p:cNvSpPr/>
          <p:nvPr/>
        </p:nvSpPr>
        <p:spPr>
          <a:xfrm>
            <a:off x="8178394" y="4599432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50" name="qaoa_28"/>
          <p:cNvSpPr/>
          <p:nvPr/>
        </p:nvSpPr>
        <p:spPr>
          <a:xfrm>
            <a:off x="814959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51" name="qaoa_29"/>
          <p:cNvSpPr/>
          <p:nvPr/>
        </p:nvSpPr>
        <p:spPr>
          <a:xfrm>
            <a:off x="814959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52" name="qaoa_30"/>
          <p:cNvSpPr/>
          <p:nvPr/>
        </p:nvSpPr>
        <p:spPr>
          <a:xfrm>
            <a:off x="822960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3" name="qaoa_31"/>
          <p:cNvSpPr/>
          <p:nvPr/>
        </p:nvSpPr>
        <p:spPr>
          <a:xfrm>
            <a:off x="8727034" y="4425696"/>
            <a:ext cx="10973" cy="521208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54" name="qaoa_32"/>
          <p:cNvSpPr/>
          <p:nvPr/>
        </p:nvSpPr>
        <p:spPr>
          <a:xfrm>
            <a:off x="869823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55" name="qaoa_33"/>
          <p:cNvSpPr/>
          <p:nvPr/>
        </p:nvSpPr>
        <p:spPr>
          <a:xfrm>
            <a:off x="869823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</a:p>
        </p:txBody>
      </p:sp>
      <p:sp>
        <p:nvSpPr>
          <p:cNvPr id="56" name="qaoa_34"/>
          <p:cNvSpPr/>
          <p:nvPr/>
        </p:nvSpPr>
        <p:spPr>
          <a:xfrm>
            <a:off x="877824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7" name="qaoa_35"/>
          <p:cNvSpPr/>
          <p:nvPr/>
        </p:nvSpPr>
        <p:spPr>
          <a:xfrm>
            <a:off x="9235440" y="4357116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8" name="qaoa_36"/>
          <p:cNvSpPr/>
          <p:nvPr/>
        </p:nvSpPr>
        <p:spPr>
          <a:xfrm>
            <a:off x="9235440" y="4530852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9" name="qaoa_37"/>
          <p:cNvSpPr/>
          <p:nvPr/>
        </p:nvSpPr>
        <p:spPr>
          <a:xfrm>
            <a:off x="9235440" y="4704588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0" name="qaoa_38"/>
          <p:cNvSpPr/>
          <p:nvPr/>
        </p:nvSpPr>
        <p:spPr>
          <a:xfrm>
            <a:off x="9235440" y="4878324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1" name="qaoa_39"/>
          <p:cNvSpPr/>
          <p:nvPr/>
        </p:nvSpPr>
        <p:spPr>
          <a:xfrm>
            <a:off x="10469880" y="4357116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2" name="qaoa_40"/>
          <p:cNvSpPr/>
          <p:nvPr/>
        </p:nvSpPr>
        <p:spPr>
          <a:xfrm>
            <a:off x="10469880" y="4530852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3" name="qaoa_41"/>
          <p:cNvSpPr/>
          <p:nvPr/>
        </p:nvSpPr>
        <p:spPr>
          <a:xfrm>
            <a:off x="10469880" y="4704588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4" name="qaoa_42"/>
          <p:cNvSpPr/>
          <p:nvPr/>
        </p:nvSpPr>
        <p:spPr>
          <a:xfrm>
            <a:off x="10469880" y="4878324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안의 두 종류 파라미터 - 인코딩 vs 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데이터를 넣는 게이트와 학습으로 값이 바뀌는 게이트, 역할 차이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69EA3F1-AE92-46D7-A153-76A5EAF7F09C}"/>
              </a:ext>
            </a:extLst>
          </p:cNvPr>
          <p:cNvGrpSpPr/>
          <p:nvPr/>
        </p:nvGrpSpPr>
        <p:grpSpPr>
          <a:xfrm>
            <a:off x="640081" y="2103120"/>
            <a:ext cx="5455920" cy="2594296"/>
            <a:chOff x="640080" y="2103120"/>
            <a:chExt cx="6769463" cy="2594296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6750743" cy="479405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25173" y="2127932"/>
              <a:ext cx="1389859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구분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85219" y="2127932"/>
              <a:ext cx="4736866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위치 / 값의 성격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582525"/>
              <a:ext cx="6750743" cy="6784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25173" y="2607337"/>
              <a:ext cx="1389859" cy="62877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인코딩 파라미터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85219" y="2706282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앞단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데이터 인코딩 게이트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입력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데이터 x </a:t>
              </a:r>
              <a:endPara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(대부분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고정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학습 대상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260928"/>
              <a:ext cx="6750743" cy="814084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25173" y="3285740"/>
              <a:ext cx="1389859" cy="764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 파라미터 θ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85219" y="3452525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인코딩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이후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variational ansatz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각도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CNO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T, 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entangling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사이사이에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위치,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학습으로</a:t>
              </a:r>
              <a:r>
                <a:rPr lang="en-US" sz="110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업데이트됨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0080" y="4266529"/>
              <a:ext cx="6769463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레이어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=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회전게이트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(θ, 파라미터 O) + CNOT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체인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(파라미터 X,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얽힘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담당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) </a:t>
              </a:r>
              <a:endPara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endParaRPr>
            </a:p>
            <a:p>
              <a:pPr algn="l"/>
              <a:r>
                <a:rPr 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16</a:t>
              </a:r>
              <a:r>
                <a:rPr lang="ko-KR" alt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큐빗 ×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8층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→ Sub Generator당 파라미터 128개 (5개 합계 640개)</a:t>
              </a:r>
              <a:r>
                <a:rPr 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/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/>
              </a:r>
              <a:r>
                <a:rPr 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/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/>
              </a:r>
            </a:p>
          </p:txBody>
        </p:sp>
      </p:grp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96B42643-6771-4676-92E6-FD4DECFB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F1440AA-2CE1-463F-AE4C-498786800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5" y="2103120"/>
            <a:ext cx="5626679" cy="2991770"/>
          </a:xfrm>
          <a:prstGeom prst="rect">
            <a:avLst/>
          </a:prstGeom>
        </p:spPr>
      </p:pic>
      <p:sp>
        <p:nvSpPr>
          <p:cNvPr id="2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sp>
        <p:nvSpPr>
          <p:cNvPr id="21" name="code_note"/>
          <p:cNvSpPr txBox="1"/>
          <p:nvPr/>
        </p:nvSpPr>
        <p:spPr>
          <a:xfrm>
            <a:off x="640080" y="6428232"/>
            <a:ext cx="5029200" cy="2286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※ 그림은 논문 기준(Rx→Ry·CNOT), 공식 코드는 RY→RX·CZ - 3일차 데모는 코드 기준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VQC의 출력값 - bitstring이 아니라 연속값(기댓값)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단일 측정은 0/1, 모델이 실제로 쓰는 값은 여러 번 측정을 평균낸 기댓값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335759"/>
            <a:ext cx="10911535" cy="3847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m(z; Θ) = (⟨X₁⟩, ..., ⟨X</a:t>
            </a:r>
            <a:r>
              <a:rPr sz="1900" b="1" baseline="-25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⟩)  ∈  [-1, 1]</a:t>
            </a:r>
            <a:r>
              <a:rPr sz="1900" b="1" baseline="30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3120"/>
            <a:ext cx="10881360" cy="53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180551"/>
            <a:ext cx="224028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180551"/>
            <a:ext cx="763524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83120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10551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단일 shot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10551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이산적 0/1 bitstring - 확률적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33120"/>
            <a:ext cx="10881360" cy="9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60551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모델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60551"/>
            <a:ext cx="763524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⟨Xᵢ⟩ 연속값(continuous) - classical decoder에 바로 투입 가능, gradient 계산도 가능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3312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26055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수치 안정화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260551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h(m) = σ(LeakyReLU(LayerNorm(m))) 적용 후 classical stream과 fusion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C7277908-B472-4E01-BC96-DECF0C8EB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채택 방식 - Exact State Vector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코드(mediq-gan.py) 결과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911535" cy="135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10454335" cy="1075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dev = qml.device("lightning.qubit", wires=args.n_qubits)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@qml.qnode(dev, interface="torch", diff_method="adjoint")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def circuit(...):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...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return [qml.expval(qml.PauliX(i)) for i in range(args.n_qubits)]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00000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627431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627431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00000"/>
            <a:ext cx="1088136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127431"/>
            <a:ext cx="224028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shots 미지정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127431"/>
            <a:ext cx="763524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PennyLane 기본값 shots=None → 분석적(exact) 기댓값 계산, 반복 측정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50000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67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diff_method="adjoint"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0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접근이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있어야만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가능한 gradient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계산법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데모도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공식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레포와</a:t>
            </a:r>
            <a:r>
              <a:rPr 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동일하게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adjoint 사용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0000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42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규모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55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n큐빗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2ⁿ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복소벡터로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완전 표현(16qubit→65,536차원,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노트북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 가능)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게이트 적용=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유니터리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행렬곱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(확률적 요소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없음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3F6DD49-49FB-47CA-8754-08136482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agnostic</a:t>
            </a:r>
            <a:r>
              <a:rPr lang="en-US" altLang="ko-KR"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그대로 인용 시 오해하기 쉬운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87008"/>
            <a:ext cx="10911535" cy="950000"/>
          </a:xfrm>
          <a:prstGeom prst="roundRect">
            <a:avLst/>
          </a:prstGeom>
          <a:solidFill>
            <a:srgbClr val="F2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24168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인용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68336"/>
            <a:ext cx="103628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“Our approach is quantum-inspired and </a:t>
            </a:r>
            <a:r>
              <a:rPr sz="12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hardware-agnostic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the correctness does not depend on quantum execution, and</a:t>
            </a:r>
          </a:p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quantum devices serve only to accelerate computation.”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37008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1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6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오해 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6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하드웨어를 아예 안 썼다는 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64439"/>
            <a:ext cx="224028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 뜻 (O)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164439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모델의 타당성이 특정 실행 환경(시뮬레이터 vs 실제 큐빗)에 좌우되지 않도록 설계했다는 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8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학습(training)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9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시뮬레이터로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진행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3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6203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NISQ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5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완료된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IBM Marrakesh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실기에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올려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inference만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검증 (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성능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소폭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저하되었으나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가능한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77D998D5-B17D-4375-8779-0FCE5712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기반으로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학습한다면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Parameter-shift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Exact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statevector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방식이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아니라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gradient를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구할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때 쓰는 규칙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0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11535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∂⟨Xᵢ⟩/∂θⱼ = [⟨Xᵢ⟩(θⱼ+π/2) − ⟨Xᵢ⟩(θⱼ−π/2)]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2494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99925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99925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2494"/>
            <a:ext cx="1088136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9925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07050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거슬러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올라가는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게 아니라,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θⱼ를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처음부터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2번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실행해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얻은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결과값의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단순 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뺄셈</a:t>
            </a:r>
            <a:endParaRPr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372494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9925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순전파(forward) 시점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99925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shift된 회로는 전혀 실행되지 않음 - 원래 θ값으로 1번만 실행, 그 출력이 다음 classical 레이어로 전달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2494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149925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역전파(backward)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149925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+π/2, −π/2 두 회로가 파라미터 하나마다 개별적으로 실행됨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29751"/>
            <a:ext cx="10911535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전체 chain rule: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=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 (classical backprop)  ×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(parameter-shift,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뺄셈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기반)</a:t>
            </a: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933DCC47-9CF9-4E2E-8757-04A974793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비용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폭발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왜 지금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학습이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비현실적인가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 수만큼 회로를 반복 실행해야 하는 구조적 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6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66537"/>
            <a:ext cx="10911535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총 회로 실행 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= 1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순전파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) + 2P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(파라미터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별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+shift, −shift)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파라미터 수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회로 실행 횟수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83120"/>
            <a:ext cx="10881360" cy="4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2315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640 (5개×N16×L8)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4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+ 1,280 = 1,281회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9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+ 20,000 = 20,001회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3119"/>
            <a:ext cx="10911535" cy="1269851"/>
          </a:xfrm>
          <a:prstGeom prst="roundRect">
            <a:avLst/>
          </a:prstGeom>
          <a:solidFill>
            <a:srgbClr val="FB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643995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측정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횟수까지</a:t>
            </a:r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곱하면</a:t>
            </a:r>
            <a:endParaRPr sz="1050" b="1" i="0" dirty="0">
              <a:solidFill>
                <a:srgbClr val="9C500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957144"/>
            <a:ext cx="10362895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측정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회로 실행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× shots.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P=10,000, shots=1,024 → 20,001×1,024 ≈ 약 2,048만 회.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배치 32·학습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스텝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10,000까지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포함하면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20,001×1,024×32×10,000 ≈ 6.5×10¹²(약 6.5조 회)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CC8FB0C-EAA3-4BFB-8D9E-25A23A24B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결론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단계에서의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연산 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비용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개선이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QML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연구의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현재 아이디어 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판단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83120"/>
            <a:ext cx="10881360" cy="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02314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parameter-shift</a:t>
            </a:r>
            <a:r>
              <a:rPr 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구현</a:t>
            </a:r>
            <a:endParaRPr sz="1100" b="1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0" y="2610551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비현실적 - 계산상 명확함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8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31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 전체의 가치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유효함 - 아래 방향의 연구가 활발히 진행 중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594607C-7846-40A1-8988-C723FAC6C330}"/>
              </a:ext>
            </a:extLst>
          </p:cNvPr>
          <p:cNvGrpSpPr/>
          <p:nvPr/>
        </p:nvGrpSpPr>
        <p:grpSpPr>
          <a:xfrm>
            <a:off x="640080" y="4005498"/>
            <a:ext cx="11213784" cy="1355144"/>
            <a:chOff x="640080" y="3942976"/>
            <a:chExt cx="11213784" cy="1355144"/>
          </a:xfrm>
        </p:grpSpPr>
        <p:sp>
          <p:nvSpPr>
            <p:cNvPr id="14" name="Rectangle 13"/>
            <p:cNvSpPr/>
            <p:nvPr/>
          </p:nvSpPr>
          <p:spPr>
            <a:xfrm>
              <a:off x="640080" y="3983120"/>
              <a:ext cx="73152" cy="560000"/>
            </a:xfrm>
            <a:prstGeom prst="rect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39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SPSA (Simultaneous Perturbation Stochastic Approximation)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4400" y="42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파라미터 개수와 무관하게 매 스텝 회로 2번만 실행해 gradient 근사(정확도는 다소 하락)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40080" y="4683120"/>
              <a:ext cx="73152" cy="560000"/>
            </a:xfrm>
            <a:prstGeom prst="rect">
              <a:avLst/>
            </a:prstGeom>
            <a:solidFill>
              <a:srgbClr val="0062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46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Classical shadow tomography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49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적은 측정 횟수로 여러 관측량을 동시 추정</a:t>
              </a: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D3C27CDA-6CA3-4DB3-B857-4619CFDA1191}"/>
                </a:ext>
              </a:extLst>
            </p:cNvPr>
            <p:cNvGrpSpPr/>
            <p:nvPr/>
          </p:nvGrpSpPr>
          <p:grpSpPr>
            <a:xfrm>
              <a:off x="5954093" y="3942976"/>
              <a:ext cx="5899771" cy="1273746"/>
              <a:chOff x="640080" y="5376332"/>
              <a:chExt cx="5899771" cy="1273746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640080" y="5383120"/>
                <a:ext cx="73152" cy="560000"/>
              </a:xfrm>
              <a:prstGeom prst="rect">
                <a:avLst/>
              </a:prstGeom>
              <a:solidFill>
                <a:srgbClr val="9C5000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914401" y="53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Quantum Natural Gradient (QNG)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914401" y="56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더 적은 스텝으로 수렴시켜 전체 실행 횟수 절감</a:t>
                </a:r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40080" y="6083120"/>
                <a:ext cx="73152" cy="560000"/>
              </a:xfrm>
              <a:prstGeom prst="rect">
                <a:avLst/>
              </a:prstGeom>
              <a:solidFill>
                <a:srgbClr val="5B3E8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914401" y="60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DLA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(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Dynamical Lie Algebra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) 기반 회로 설계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14401" y="63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barren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plateau를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피하며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필요한 파라미터/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깊이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최소화</a:t>
                </a:r>
                <a:r>
                  <a:rPr lang="en-US"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/>
                </a:r>
                <a:endParaRPr sz="105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endParaRPr>
              </a:p>
            </p:txBody>
          </p:sp>
        </p:grpSp>
      </p:grpSp>
      <p:sp>
        <p:nvSpPr>
          <p:cNvPr id="28" name="슬라이드 번호 개체 틀 27">
            <a:extLst>
              <a:ext uri="{FF2B5EF4-FFF2-40B4-BE49-F238E27FC236}">
                <a16:creationId xmlns:a16="http://schemas.microsoft.com/office/drawing/2014/main" id="{7EAA0E34-7F54-486A-9937-45725BC9D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- 고전 SOTA·MosaiQ와의 비교 + 실기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ISIC 2019·ODIR-5k·RetinaMNIST 3개 의료영상 데이터셋(64×64)에서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6858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2514600" cy="6126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139696"/>
            <a:ext cx="7909560" cy="6126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881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16351"/>
            <a:ext cx="2514600" cy="630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비교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962541"/>
            <a:ext cx="79095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DCGAN · WGAN-GP · StyleGAN2-ADA ·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FastGAN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· Structure-Preserving-GAN ·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DiT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· Stable Diffusion 3(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LoRA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 ·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MosaiQ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(양자)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881360" cy="6858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1"/>
            <a:ext cx="2514600" cy="630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평가 지표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502151"/>
            <a:ext cx="7909560" cy="630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클래스별 FID(Fréchet Inception Distance) · LPIPS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1088136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87952"/>
            <a:ext cx="2514600" cy="630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실제 하드웨어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187952"/>
            <a:ext cx="7909560" cy="630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시뮬레이터뿐 아니라 실제 IBM 양자컴퓨터(ibm_marrakesh)에서도 회로를 실행해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34840"/>
            <a:ext cx="10911535" cy="1371600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581144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왜 이 사례를 함께 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52232"/>
            <a:ext cx="10362895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MediQ-GAN은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전체를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양자화</a:t>
            </a:r>
            <a:r>
              <a:rPr lang="en-US" altLang="ko-KR"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하지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않고도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양자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성분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도입 가능함을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보여주는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사례 - 큐빗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자원이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제한적인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지금,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아키텍처를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유연하게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설계하는</a:t>
            </a:r>
            <a:r>
              <a:rPr lang="en-US" sz="12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예시로서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QGAN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논문과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대비해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함께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다룸</a:t>
            </a:r>
            <a:endParaRPr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BB9815EA-499D-4AE2-91F2-704EAEFF8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논문 비교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오늘 다룬 두 아키텍처 나란히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799" y="2139696"/>
            <a:ext cx="4251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HAM10000 QGAN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39696"/>
            <a:ext cx="39776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1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799" y="2845287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모델 </a:t>
            </a:r>
            <a:r>
              <a:rPr sz="105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레벨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en-US"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전체 양자)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845287"/>
            <a:ext cx="3977639" cy="16158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레이어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 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레벨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(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듀얼스트림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규모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799" y="3393928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7+1큐빗 × </a:t>
            </a:r>
            <a:r>
              <a:rPr 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2783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5 × 16큐빗 VQC(</a:t>
            </a:r>
            <a:r>
              <a:rPr sz="10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스트림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49039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77647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77647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(피부병변, 2클래스 집중)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377647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ISIC2019 · ODIR-5k · RetinaMNIST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97679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799" y="432511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 전/후 CNN 분류 성능(AUC-ROC)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32511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클래스별 FID·LPIPS + 실기(IBM) 검증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FA7D5DAA-0239-4D91-AFD9-A4F5A77E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다음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주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프로젝트 내용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996443"/>
            <a:ext cx="10911535" cy="82296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33603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환경 세팅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133603"/>
            <a:ext cx="74368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Colab에서 pip install + 라이브러리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56563"/>
            <a:ext cx="10911535" cy="82296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93723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EDA + 세그멘테이션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093723"/>
            <a:ext cx="74368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실데이터로 K-means+FCM 세그멘테이션 직접 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16683"/>
            <a:ext cx="10911535" cy="82296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053843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초저해상도 축소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227590"/>
            <a:ext cx="7436815" cy="2011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8×8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(6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큐빗)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인코딩용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축소</a:t>
            </a:r>
            <a:endParaRPr sz="11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876803"/>
            <a:ext cx="10911535" cy="82296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013963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회로 forward 실습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187710"/>
            <a:ext cx="7436815" cy="2011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랜덤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가중치로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직접 실행(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학습은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아직 X)</a:t>
            </a: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4D5F64CE-3D2A-4437-B25A-5A723CA20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1677</TotalTime>
  <Words>2781</Words>
  <Application>Microsoft Office PowerPoint</Application>
  <PresentationFormat>와이드스크린</PresentationFormat>
  <Paragraphs>471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MZC01-HYUNHOPART</cp:lastModifiedBy>
  <cp:revision>156</cp:revision>
  <dcterms:created xsi:type="dcterms:W3CDTF">2013-01-27T09:14:16Z</dcterms:created>
  <dcterms:modified xsi:type="dcterms:W3CDTF">2026-09-18T06:24:24Z</dcterms:modified>
  <cp:category/>
</cp:coreProperties>
</file>